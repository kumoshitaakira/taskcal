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e1b1ad32b7b4ec8" /><Relationship Type="http://schemas.openxmlformats.org/officeDocument/2006/relationships/extended-properties" Target="/docProps/app.xml" Id="Rff0a4f4c2df840b6" /><Relationship Type="http://schemas.openxmlformats.org/officeDocument/2006/relationships/officeDocument" Target="/ppt/presentation.xml" Id="Ra0f3eb0964b34e92" /></Relationships>
</file>

<file path=ppt/presentation.xml><?xml version="1.0" encoding="utf-8"?>
<p:presentation xmlns:p="http://schemas.openxmlformats.org/presentationml/2006/main">
  <p:sldMasterIdLst>
    <p:sldMasterId xmlns:r="http://schemas.openxmlformats.org/officeDocument/2006/relationships" id="2147483648" r:id="Ra2c01525197a482f"/>
  </p:sldMasterIdLst>
  <p:notesMasterIdLst>
    <p:notesMasterId xmlns:r="http://schemas.openxmlformats.org/officeDocument/2006/relationships" r:id="Rb6fc1b137be44ce9"/>
  </p:notesMasterIdLst>
  <p:sldIdLst>
    <p:sldId xmlns:r="http://schemas.openxmlformats.org/officeDocument/2006/relationships" id="256" r:id="R70f8102e183e4df9"/>
    <p:sldId xmlns:r="http://schemas.openxmlformats.org/officeDocument/2006/relationships" id="257" r:id="R58459135ad1e4ccd"/>
    <p:sldId xmlns:r="http://schemas.openxmlformats.org/officeDocument/2006/relationships" id="258" r:id="Rf82ff2180c0b4304"/>
    <p:sldId xmlns:r="http://schemas.openxmlformats.org/officeDocument/2006/relationships" id="259" r:id="Rd0dc869d18ab4a2a"/>
    <p:sldId xmlns:r="http://schemas.openxmlformats.org/officeDocument/2006/relationships" id="260" r:id="R0064767fec9e486c"/>
    <p:sldId xmlns:r="http://schemas.openxmlformats.org/officeDocument/2006/relationships" id="261" r:id="Rda73622c32384757"/>
    <p:sldId xmlns:r="http://schemas.openxmlformats.org/officeDocument/2006/relationships" id="262" r:id="R1d823a1d04de4de4"/>
    <p:sldId xmlns:r="http://schemas.openxmlformats.org/officeDocument/2006/relationships" id="263" r:id="R40f335cb18834aac"/>
    <p:sldId xmlns:r="http://schemas.openxmlformats.org/officeDocument/2006/relationships" id="264" r:id="R48ec6515f9b04efb"/>
    <p:sldId xmlns:r="http://schemas.openxmlformats.org/officeDocument/2006/relationships" id="265" r:id="R5e58faaa831e4dc1"/>
    <p:sldId xmlns:r="http://schemas.openxmlformats.org/officeDocument/2006/relationships" id="266" r:id="R632500da874949ed"/>
    <p:sldId xmlns:r="http://schemas.openxmlformats.org/officeDocument/2006/relationships" id="267" r:id="R101217d660b34dc5"/>
    <p:sldId xmlns:r="http://schemas.openxmlformats.org/officeDocument/2006/relationships" id="268" r:id="R34f53d7103ef4b92"/>
    <p:sldId xmlns:r="http://schemas.openxmlformats.org/officeDocument/2006/relationships" id="269" r:id="R42f46befe6bc48bb"/>
    <p:sldId xmlns:r="http://schemas.openxmlformats.org/officeDocument/2006/relationships" id="270" r:id="R8b082bd2c2a84f9d"/>
    <p:sldId xmlns:r="http://schemas.openxmlformats.org/officeDocument/2006/relationships" id="271" r:id="R3f57ccdb90904844"/>
    <p:sldId xmlns:r="http://schemas.openxmlformats.org/officeDocument/2006/relationships" id="272" r:id="R978572167b214b53"/>
    <p:sldId xmlns:r="http://schemas.openxmlformats.org/officeDocument/2006/relationships" id="273" r:id="Rf0f9684ce6c04545"/>
    <p:sldId xmlns:r="http://schemas.openxmlformats.org/officeDocument/2006/relationships" id="274" r:id="R0c0e2182329547cb"/>
    <p:sldId xmlns:r="http://schemas.openxmlformats.org/officeDocument/2006/relationships" id="275" r:id="R246f9a46ac3646a7"/>
    <p:sldId xmlns:r="http://schemas.openxmlformats.org/officeDocument/2006/relationships" id="276" r:id="Rd47f7ab9543946ce"/>
    <p:sldId xmlns:r="http://schemas.openxmlformats.org/officeDocument/2006/relationships" id="277" r:id="R9f0b787588d646f2"/>
    <p:sldId xmlns:r="http://schemas.openxmlformats.org/officeDocument/2006/relationships" id="278" r:id="Rc793dc9b76824b09"/>
    <p:sldId xmlns:r="http://schemas.openxmlformats.org/officeDocument/2006/relationships" id="279" r:id="R0503fd7cb1144271"/>
    <p:sldId xmlns:r="http://schemas.openxmlformats.org/officeDocument/2006/relationships" id="280" r:id="R2c690416a47a42de"/>
    <p:sldId xmlns:r="http://schemas.openxmlformats.org/officeDocument/2006/relationships" id="281" r:id="R66257536a2f142e2"/>
    <p:sldId xmlns:r="http://schemas.openxmlformats.org/officeDocument/2006/relationships" id="282" r:id="R26bbfde689a04de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fd1d2e156e0492f" /><Relationship Type="http://schemas.openxmlformats.org/officeDocument/2006/relationships/slideMaster" Target="/ppt/slideMasters/slideMaster1.xml" Id="Ra2c01525197a482f" /><Relationship Type="http://schemas.openxmlformats.org/officeDocument/2006/relationships/notesMaster" Target="/ppt/notesMasters/notesMaster1.xml" Id="Rb6fc1b137be44ce9" /><Relationship Type="http://schemas.openxmlformats.org/officeDocument/2006/relationships/presProps" Target="/ppt/presProps.xml" Id="R3764ebe6587146bc" /><Relationship Type="http://schemas.openxmlformats.org/officeDocument/2006/relationships/tableStyles" Target="/ppt/tableStyles.xml" Id="R234383b1c22e4efe" /><Relationship Type="http://schemas.openxmlformats.org/officeDocument/2006/relationships/slide" Target="/ppt/slides/slide1.xml" Id="R70f8102e183e4df9" /><Relationship Type="http://schemas.openxmlformats.org/officeDocument/2006/relationships/slide" Target="/ppt/slides/slide2.xml" Id="R58459135ad1e4ccd" /><Relationship Type="http://schemas.openxmlformats.org/officeDocument/2006/relationships/slide" Target="/ppt/slides/slide3.xml" Id="Rf82ff2180c0b4304" /><Relationship Type="http://schemas.openxmlformats.org/officeDocument/2006/relationships/slide" Target="/ppt/slides/slide4.xml" Id="Rd0dc869d18ab4a2a" /><Relationship Type="http://schemas.openxmlformats.org/officeDocument/2006/relationships/slide" Target="/ppt/slides/slide5.xml" Id="R0064767fec9e486c" /><Relationship Type="http://schemas.openxmlformats.org/officeDocument/2006/relationships/slide" Target="/ppt/slides/slide6.xml" Id="Rda73622c32384757" /><Relationship Type="http://schemas.openxmlformats.org/officeDocument/2006/relationships/slide" Target="/ppt/slides/slide7.xml" Id="R1d823a1d04de4de4" /><Relationship Type="http://schemas.openxmlformats.org/officeDocument/2006/relationships/slide" Target="/ppt/slides/slide8.xml" Id="R40f335cb18834aac" /><Relationship Type="http://schemas.openxmlformats.org/officeDocument/2006/relationships/slide" Target="/ppt/slides/slide9.xml" Id="R48ec6515f9b04efb" /><Relationship Type="http://schemas.openxmlformats.org/officeDocument/2006/relationships/slide" Target="/ppt/slides/slide10.xml" Id="R5e58faaa831e4dc1" /><Relationship Type="http://schemas.openxmlformats.org/officeDocument/2006/relationships/slide" Target="/ppt/slides/slide11.xml" Id="R632500da874949ed" /><Relationship Type="http://schemas.openxmlformats.org/officeDocument/2006/relationships/slide" Target="/ppt/slides/slide12.xml" Id="R101217d660b34dc5" /><Relationship Type="http://schemas.openxmlformats.org/officeDocument/2006/relationships/slide" Target="/ppt/slides/slide13.xml" Id="R34f53d7103ef4b92" /><Relationship Type="http://schemas.openxmlformats.org/officeDocument/2006/relationships/slide" Target="/ppt/slides/slide14.xml" Id="R42f46befe6bc48bb" /><Relationship Type="http://schemas.openxmlformats.org/officeDocument/2006/relationships/slide" Target="/ppt/slides/slide15.xml" Id="R8b082bd2c2a84f9d" /><Relationship Type="http://schemas.openxmlformats.org/officeDocument/2006/relationships/slide" Target="/ppt/slides/slide16.xml" Id="R3f57ccdb90904844" /><Relationship Type="http://schemas.openxmlformats.org/officeDocument/2006/relationships/slide" Target="/ppt/slides/slide17.xml" Id="R978572167b214b53" /><Relationship Type="http://schemas.openxmlformats.org/officeDocument/2006/relationships/slide" Target="/ppt/slides/slide18.xml" Id="Rf0f9684ce6c04545" /><Relationship Type="http://schemas.openxmlformats.org/officeDocument/2006/relationships/slide" Target="/ppt/slides/slide19.xml" Id="R0c0e2182329547cb" /><Relationship Type="http://schemas.openxmlformats.org/officeDocument/2006/relationships/slide" Target="/ppt/slides/slide20.xml" Id="R246f9a46ac3646a7" /><Relationship Type="http://schemas.openxmlformats.org/officeDocument/2006/relationships/slide" Target="/ppt/slides/slide21.xml" Id="Rd47f7ab9543946ce" /><Relationship Type="http://schemas.openxmlformats.org/officeDocument/2006/relationships/slide" Target="/ppt/slides/slide22.xml" Id="R9f0b787588d646f2" /><Relationship Type="http://schemas.openxmlformats.org/officeDocument/2006/relationships/slide" Target="/ppt/slides/slide23.xml" Id="Rc793dc9b76824b09" /><Relationship Type="http://schemas.openxmlformats.org/officeDocument/2006/relationships/slide" Target="/ppt/slides/slide24.xml" Id="R0503fd7cb1144271" /><Relationship Type="http://schemas.openxmlformats.org/officeDocument/2006/relationships/slide" Target="/ppt/slides/slide25.xml" Id="R2c690416a47a42de" /><Relationship Type="http://schemas.openxmlformats.org/officeDocument/2006/relationships/slide" Target="/ppt/slides/slide26.xml" Id="R66257536a2f142e2" /><Relationship Type="http://schemas.openxmlformats.org/officeDocument/2006/relationships/slide" Target="/ppt/slides/slide27.xml" Id="R26bbfde689a04de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6f8d46166ce434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0b7052b02e645b0" /><Relationship Type="http://schemas.openxmlformats.org/officeDocument/2006/relationships/notesMaster" Target="/ppt/notesMasters/notesMaster1.xml" Id="R6e8422f7ac704b68" /></Relationships>
</file>

<file path=ppt/notesSlides/_rels/notesSlide2.xml.rels>&#65279;<?xml version="1.0" encoding="utf-8"?><Relationships xmlns="http://schemas.openxmlformats.org/package/2006/relationships"><Relationship Type="http://schemas.openxmlformats.org/officeDocument/2006/relationships/slide" Target="/ppt/slides/slide2.xml" Id="R3443c7c795024515" /><Relationship Type="http://schemas.openxmlformats.org/officeDocument/2006/relationships/notesMaster" Target="/ppt/notesMasters/notesMaster1.xml" Id="Rb860b7040070401f" /></Relationships>
</file>

<file path=ppt/notesSlides/_rels/notesSlide3.xml.rels>&#65279;<?xml version="1.0" encoding="utf-8"?><Relationships xmlns="http://schemas.openxmlformats.org/package/2006/relationships"><Relationship Type="http://schemas.openxmlformats.org/officeDocument/2006/relationships/slide" Target="/ppt/slides/slide3.xml" Id="R0c9ac9958bdf4bb4" /><Relationship Type="http://schemas.openxmlformats.org/officeDocument/2006/relationships/notesMaster" Target="/ppt/notesMasters/notesMaster1.xml" Id="Rb8ee89190ded477b" /></Relationships>
</file>

<file path=ppt/notesSlides/_rels/notesSlide4.xml.rels>&#65279;<?xml version="1.0" encoding="utf-8"?><Relationships xmlns="http://schemas.openxmlformats.org/package/2006/relationships"><Relationship Type="http://schemas.openxmlformats.org/officeDocument/2006/relationships/slide" Target="/ppt/slides/slide4.xml" Id="R5748e6f74e9a48ed" /><Relationship Type="http://schemas.openxmlformats.org/officeDocument/2006/relationships/notesMaster" Target="/ppt/notesMasters/notesMaster1.xml" Id="R179b498625344880" /></Relationships>
</file>

<file path=ppt/notesSlides/_rels/notesSlide5.xml.rels>&#65279;<?xml version="1.0" encoding="utf-8"?><Relationships xmlns="http://schemas.openxmlformats.org/package/2006/relationships"><Relationship Type="http://schemas.openxmlformats.org/officeDocument/2006/relationships/slide" Target="/ppt/slides/slide5.xml" Id="Rd6c68ec3060c4a38" /><Relationship Type="http://schemas.openxmlformats.org/officeDocument/2006/relationships/notesMaster" Target="/ppt/notesMasters/notesMaster1.xml" Id="Rf6747f6f29224ab1" /></Relationships>
</file>

<file path=ppt/notesSlides/_rels/notesSlide6.xml.rels>&#65279;<?xml version="1.0" encoding="utf-8"?><Relationships xmlns="http://schemas.openxmlformats.org/package/2006/relationships"><Relationship Type="http://schemas.openxmlformats.org/officeDocument/2006/relationships/slide" Target="/ppt/slides/slide6.xml" Id="R19426179301349fa" /><Relationship Type="http://schemas.openxmlformats.org/officeDocument/2006/relationships/notesMaster" Target="/ppt/notesMasters/notesMaster1.xml" Id="R1a3c0b741c574843" /></Relationships>
</file>

<file path=ppt/notesSlides/_rels/notesSlide7.xml.rels>&#65279;<?xml version="1.0" encoding="utf-8"?><Relationships xmlns="http://schemas.openxmlformats.org/package/2006/relationships"><Relationship Type="http://schemas.openxmlformats.org/officeDocument/2006/relationships/slide" Target="/ppt/slides/slide7.xml" Id="Rc189486860dd4f5e" /><Relationship Type="http://schemas.openxmlformats.org/officeDocument/2006/relationships/notesMaster" Target="/ppt/notesMasters/notesMaster1.xml" Id="R366bb8294eb94d4c" /></Relationships>
</file>

<file path=ppt/notesSlides/_rels/notesSlide8.xml.rels>&#65279;<?xml version="1.0" encoding="utf-8"?><Relationships xmlns="http://schemas.openxmlformats.org/package/2006/relationships"><Relationship Type="http://schemas.openxmlformats.org/officeDocument/2006/relationships/slide" Target="/ppt/slides/slide8.xml" Id="R105b5c90072e425e" /><Relationship Type="http://schemas.openxmlformats.org/officeDocument/2006/relationships/notesMaster" Target="/ppt/notesMasters/notesMaster1.xml" Id="Rdf4f39ab10194d3a" /></Relationships>
</file>

<file path=ppt/notesSlides/_rels/notesSlide9.xml.rels>&#65279;<?xml version="1.0" encoding="utf-8"?><Relationships xmlns="http://schemas.openxmlformats.org/package/2006/relationships"><Relationship Type="http://schemas.openxmlformats.org/officeDocument/2006/relationships/slide" Target="/ppt/slides/slide9.xml" Id="R1003bf238b2f46aa" /><Relationship Type="http://schemas.openxmlformats.org/officeDocument/2006/relationships/notesMaster" Target="/ppt/notesMasters/notesMaster1.xml" Id="Rae202648438e4d1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fa195ba87a54eea" /><Relationship Type="http://schemas.openxmlformats.org/officeDocument/2006/relationships/notesMaster" Target="/ppt/notesMasters/notesMaster1.xml" Id="R6a94695813084fd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29d2286af7d45d0" /><Relationship Type="http://schemas.openxmlformats.org/officeDocument/2006/relationships/notesMaster" Target="/ppt/notesMasters/notesMaster1.xml" Id="R3e772afcd80f462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4a797e75d194a2f" /><Relationship Type="http://schemas.openxmlformats.org/officeDocument/2006/relationships/notesMaster" Target="/ppt/notesMasters/notesMaster1.xml" Id="Rb2e7f02e36a54dc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50ed0e3c7ed42f7" /><Relationship Type="http://schemas.openxmlformats.org/officeDocument/2006/relationships/notesMaster" Target="/ppt/notesMasters/notesMaster1.xml" Id="R5b61b2db26d24ae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aa7931aa7754471" /><Relationship Type="http://schemas.openxmlformats.org/officeDocument/2006/relationships/notesMaster" Target="/ppt/notesMasters/notesMaster1.xml" Id="Rbdcf347b610d4fb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3fa5371bd394432" /><Relationship Type="http://schemas.openxmlformats.org/officeDocument/2006/relationships/notesMaster" Target="/ppt/notesMasters/notesMaster1.xml" Id="R4111980ce22d4fc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ca398c4a95d45b3" /><Relationship Type="http://schemas.openxmlformats.org/officeDocument/2006/relationships/notesMaster" Target="/ppt/notesMasters/notesMaster1.xml" Id="Rdee0c86341e744f1"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501d5a7d3524b19" /><Relationship Type="http://schemas.openxmlformats.org/officeDocument/2006/relationships/notesMaster" Target="/ppt/notesMasters/notesMaster1.xml" Id="Rfca2cc87f5e640c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336a224783c44fa" /><Relationship Type="http://schemas.openxmlformats.org/officeDocument/2006/relationships/notesMaster" Target="/ppt/notesMasters/notesMaster1.xml" Id="R13b6b9d58b6148e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0489399e16c448da" /><Relationship Type="http://schemas.openxmlformats.org/officeDocument/2006/relationships/notesMaster" Target="/ppt/notesMasters/notesMaster1.xml" Id="Rdbea0d07b70245b1"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72ddfb4f99734bd2" /><Relationship Type="http://schemas.openxmlformats.org/officeDocument/2006/relationships/notesMaster" Target="/ppt/notesMasters/notesMaster1.xml" Id="R73ffcb9cf74246b4"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e1e00771fd724b3d" /><Relationship Type="http://schemas.openxmlformats.org/officeDocument/2006/relationships/notesMaster" Target="/ppt/notesMasters/notesMaster1.xml" Id="R1991f67eaafa4630"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a4d490293180485b" /><Relationship Type="http://schemas.openxmlformats.org/officeDocument/2006/relationships/notesMaster" Target="/ppt/notesMasters/notesMaster1.xml" Id="R4e4892ed20774746"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7f7b8516d8314fc9" /><Relationship Type="http://schemas.openxmlformats.org/officeDocument/2006/relationships/notesMaster" Target="/ppt/notesMasters/notesMaster1.xml" Id="Re41589a1b11447fb"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5a03ea76c3ba4a8e" /><Relationship Type="http://schemas.openxmlformats.org/officeDocument/2006/relationships/notesMaster" Target="/ppt/notesMasters/notesMaster1.xml" Id="R286f4322e00c425e"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05100c6813f94125" /><Relationship Type="http://schemas.openxmlformats.org/officeDocument/2006/relationships/notesMaster" Target="/ppt/notesMasters/notesMaster1.xml" Id="Ra564ba5a1b5d4cc7"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5fe0c7b58d8e48d1" /><Relationship Type="http://schemas.openxmlformats.org/officeDocument/2006/relationships/notesMaster" Target="/ppt/notesMasters/notesMaster1.xml" Id="Rc34ff75f96af40db"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ca2bc9696bb14d77" /><Relationship Type="http://schemas.openxmlformats.org/officeDocument/2006/relationships/notesMaster" Target="/ppt/notesMasters/notesMaster1.xml" Id="Re3343fbf78e74fc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1. 採用提案</a:t>
            </a:r>
          </a:p>
          <a:p xmlns:a="http://schemas.openxmlformats.org/drawingml/2006/main">
            <a:r>
              <a:t/>
            </a:r>
          </a:p>
          <a:p xmlns:a="http://schemas.openxmlformats.org/drawingml/2006/main">
            <a:r>
              <a:t>**案05「飲食店の突発欠勤に対応する代替スタッフ調整エージェント」を採用する。** 原案の需要予測・食材発注・天候連動は今回の範囲から外す。スタッフからの辞退や部分承諾を受けて再計画し、条件を満たすシフト更新、または理由付きの人への引き継ぎまで実装する。</a:t>
            </a:r>
          </a:p>
          <a:p xmlns:a="http://schemas.openxmlformats.org/drawingml/2006/main">
            <a:r>
              <a:t/>
            </a:r>
          </a:p>
          <a:p xmlns:a="http://schemas.openxmlformats.org/drawingml/2006/main">
            <a:r>
              <a:t>判断の前提は、ユーザーが確認した「開発期間4日間」「飲食店・経理／購買に詳しい人や協力先はいない」の2点。チーム人数、各人の稼働時間、技術経験、利用可能なAPIキー、公式配点、発表時間は未確認。人数を仮定した工数の約束はしない。</a:t>
            </a:r>
          </a:p>
          <a:p xmlns:a="http://schemas.openxmlformats.org/drawingml/2006/main">
            <a:r>
              <a:t/>
            </a:r>
          </a:p>
          <a:p xmlns:a="http://schemas.openxmlformats.org/drawingml/2006/main">
            <a:r>
              <a:t>案05を推す理由は、架空の1店舗・少人数・明示した勤務条件で、第三者が正誤を判定できるデモを構成しやすいため。案02にもCSVとテスト用受信箱で実装できる経路はあるが、発注・納品・請求の関係、分納・未着・請求単位の扱いなど、業務の正解を自分たちで定義する負担が追加される。**これは4日間の完遂可能性についての判断であり、案05の市場性やモデル性能を実証した結論ではない。**</a:t>
            </a:r>
          </a:p>
          <a:p xmlns:a="http://schemas.openxmlformats.org/drawingml/2006/main">
            <a:r>
              <a:t/>
            </a:r>
          </a:p>
          <a:p xmlns:a="http://schemas.openxmlformats.org/drawingml/2006/main">
            <a:r>
              <a:t>案02は、Day 1の中間判断までに「1種類の例外」「矛盾のない正解データ」「返信から再照合までの動作経路」が揃い、案05に固有の障害がある場合の代替候補とする。OrcaRouter接続失敗は両案共通の障害なので、案02への変更では解決しない。</a:t>
            </a:r>
          </a:p>
          <a:p xmlns:a="http://schemas.openxmlformats.org/drawingml/2006/main">
            <a:r>
              <a:t/>
            </a:r>
          </a:p>
          <a:p xmlns:a="http://schemas.openxmlformats.org/drawingml/2006/main">
            <a:r>
              <a:t/>
            </a:r>
          </a:p>
          <a:p xmlns:a="http://schemas.openxmlformats.org/drawingml/2006/main">
            <a:r>
              <a:t/>
            </a:r>
          </a:p>
          <a:p xmlns:a="http://schemas.openxmlformats.org/drawingml/2006/main">
            <a:r>
              <a:t>参照資料（確認日：2026年9月19日）</a:t>
            </a:r>
          </a:p>
          <a:p xmlns:a="http://schemas.openxmlformats.org/drawingml/2006/main">
            <a:r>
              <a:t>元企画書 https://docs.google.com/document/d/1QBzy0iRmDaJL48Z6yTGGEkUaizDED3lCE9ZFU-AFbyM/edit</a:t>
            </a:r>
          </a:p>
          <a:p xmlns:a="http://schemas.openxmlformats.org/drawingml/2006/main">
            <a:r>
              <a:t>共有レビュー https://claude.ai/artifact/UkwVYwgpDgZ2zEwH56UkEb</a:t>
            </a:r>
          </a:p>
          <a:p xmlns:a="http://schemas.openxmlformats.org/drawingml/2006/main">
            <a:r>
              <a:t>ユーザー提供条件：4日間、詳しい人・協力先なし。チーム人数は未確認。2026年9月19日。</a:t>
            </a:r>
          </a:p>
          <a:p xmlns:a="http://schemas.openxmlformats.org/drawingml/2006/main">
            <a:r>
              <a:t/>
            </a:r>
          </a:p>
          <a:p xmlns:a="http://schemas.openxmlformats.org/drawingml/2006/main">
            <a:r>
              <a:t>設計提案・評価計画であり、実装・実測・チーム合意は未実施。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1. 採用提案</a:t>
            </a:r>
          </a:p>
          <a:p xmlns:a="http://schemas.openxmlformats.org/drawingml/2006/main">
            <a:r>
              <a:t/>
            </a:r>
          </a:p>
          <a:p xmlns:a="http://schemas.openxmlformats.org/drawingml/2006/main">
            <a:r>
              <a:t>**案05「飲食店の突発欠勤に対応する代替スタッフ調整エージェント」を採用する。** 原案の需要予測・食材発注・天候連動は今回の範囲から外す。スタッフからの辞退や部分承諾を受けて再計画し、条件を満たすシフト更新、または理由付きの人への引き継ぎまで実装する。</a:t>
            </a:r>
          </a:p>
          <a:p xmlns:a="http://schemas.openxmlformats.org/drawingml/2006/main">
            <a:r>
              <a:t/>
            </a:r>
          </a:p>
          <a:p xmlns:a="http://schemas.openxmlformats.org/drawingml/2006/main">
            <a:r>
              <a:t>判断の前提は、ユーザーが確認した「開発期間4日間」「飲食店・経理／購買に詳しい人や協力先はいない」の2点。チーム人数、各人の稼働時間、技術経験、利用可能なAPIキー、公式配点、発表時間は未確認。人数を仮定した工数の約束はしない。</a:t>
            </a:r>
          </a:p>
          <a:p xmlns:a="http://schemas.openxmlformats.org/drawingml/2006/main">
            <a:r>
              <a:t/>
            </a:r>
          </a:p>
          <a:p xmlns:a="http://schemas.openxmlformats.org/drawingml/2006/main">
            <a:r>
              <a:t>案05を推す理由は、架空の1店舗・少人数・明示した勤務条件で、第三者が正誤を判定できるデモを構成しやすいため。案02にもCSVとテスト用受信箱で実装できる経路はあるが、発注・納品・請求の関係、分納・未着・請求単位の扱いなど、業務の正解を自分たちで定義する負担が追加される。**これは4日間の完遂可能性についての判断であり、案05の市場性やモデル性能を実証した結論ではない。**</a:t>
            </a:r>
          </a:p>
          <a:p xmlns:a="http://schemas.openxmlformats.org/drawingml/2006/main">
            <a:r>
              <a:t/>
            </a:r>
          </a:p>
          <a:p xmlns:a="http://schemas.openxmlformats.org/drawingml/2006/main">
            <a:r>
              <a:t>案02は、Day 1の中間判断までに「1種類の例外」「矛盾のない正解データ」「返信から再照合までの動作経路」が揃い、案05に固有の障害がある場合の代替候補とする。OrcaRouter接続失敗は両案共通の障害なので、案02への変更では解決しない。</a:t>
            </a:r>
          </a:p>
          <a:p xmlns:a="http://schemas.openxmlformats.org/drawingml/2006/main">
            <a:r>
              <a:t/>
            </a:r>
          </a:p>
          <a:p xmlns:a="http://schemas.openxmlformats.org/drawingml/2006/main">
            <a:r>
              <a:t/>
            </a:r>
          </a:p>
          <a:p xmlns:a="http://schemas.openxmlformats.org/drawingml/2006/main">
            <a:r>
              <a:t/>
            </a:r>
          </a:p>
          <a:p xmlns:a="http://schemas.openxmlformats.org/drawingml/2006/main">
            <a:r>
              <a:t>## 2. 判断に使う情報と使わない情報</a:t>
            </a:r>
          </a:p>
          <a:p xmlns:a="http://schemas.openxmlformats.org/drawingml/2006/main">
            <a:r>
              <a:t/>
            </a:r>
          </a:p>
          <a:p xmlns:a="http://schemas.openxmlformats.org/drawingml/2006/main">
            <a:r>
              <a:t>| 区分 | 内容 | 扱い |</a:t>
            </a:r>
          </a:p>
          <a:p xmlns:a="http://schemas.openxmlformats.org/drawingml/2006/main">
            <a:r>
              <a:t>|---|---|---|</a:t>
            </a:r>
          </a:p>
          <a:p xmlns:a="http://schemas.openxmlformats.org/drawingml/2006/main">
            <a:r>
              <a:t>| 確認済みの課題条件 | 業務自律化AIエージェント、OrcaRouter利用、提示された5審査項目 | 採用判断の土台 |</a:t>
            </a:r>
          </a:p>
          <a:p xmlns:a="http://schemas.openxmlformats.org/drawingml/2006/main">
            <a:r>
              <a:t>| 確認済みのチーム条件 | 4日間、現場の専門家・協力先なし | 範囲を小さくする根拠 |</a:t>
            </a:r>
          </a:p>
          <a:p xmlns:a="http://schemas.openxmlformats.org/drawingml/2006/main">
            <a:r>
              <a:t>| 原案の提案 | 05は発注とシフト、02は請求差分からERP更新 | 比較対象。実装範囲は本書で縮小 |</a:t>
            </a:r>
          </a:p>
          <a:p xmlns:a="http://schemas.openxmlformats.org/drawingml/2006/main">
            <a:r>
              <a:t>| 共有レビュー | 7つの指摘、案06の推薦、実測ログの提案 | 合意点・留保・訂正を分けて反映 |</a:t>
            </a:r>
          </a:p>
          <a:p xmlns:a="http://schemas.openxmlformats.org/drawingml/2006/main">
            <a:r>
              <a:t>| 公式資料 | 正式名称、Routing DSL、Request Logs、データ所在の説明 | 公開仕様として参照。アカウント利用可否は別途確認 |</a:t>
            </a:r>
          </a:p>
          <a:p xmlns:a="http://schemas.openxmlformats.org/drawingml/2006/main">
            <a:r>
              <a:t>| 未確認 | チーム人数、稼働時間、公式配点、アカウント機能、モデル価格・予算、発表時間 | Day 1で記録。未確認のまま事実として発表しない |</a:t>
            </a:r>
          </a:p>
          <a:p xmlns:a="http://schemas.openxmlformats.org/drawingml/2006/main">
            <a:r>
              <a:t>| 採用判断から除外 | 年商1億円の逆算、共感性だけの順位付け、ベンダーの性能・削減率を自分たちの成果として使用 | 5審査項目への証拠に置き換える |</a:t>
            </a:r>
          </a:p>
          <a:p xmlns:a="http://schemas.openxmlformats.org/drawingml/2006/main">
            <a:r>
              <a:t/>
            </a:r>
          </a:p>
          <a:p xmlns:a="http://schemas.openxmlformats.org/drawingml/2006/main">
            <a:r>
              <a:t>「1億円以上のサービスを開発してきた」は元プロンプトの人物設定であり、ハッカソン作品に年商1億円を要求した文言ではない。元資料の売上試算を本判断の根拠にしない。一方、コストパフォーマンスの公式な定義は不明なので、推論費だけでなくツール費・所要時間・成功率も示す。</a:t>
            </a:r>
          </a:p>
          <a:p xmlns:a="http://schemas.openxmlformats.org/drawingml/2006/main">
            <a:r>
              <a:t/>
            </a:r>
          </a:p>
          <a:p xmlns:a="http://schemas.openxmlformats.org/drawingml/2006/main">
            <a:r>
              <a:t/>
            </a:r>
          </a:p>
          <a:p xmlns:a="http://schemas.openxmlformats.org/drawingml/2006/main">
            <a:r>
              <a:t/>
            </a:r>
          </a:p>
          <a:p xmlns:a="http://schemas.openxmlformats.org/drawingml/2006/main">
            <a:r>
              <a:t>参照資料（確認日：2026年9月19日）</a:t>
            </a:r>
          </a:p>
          <a:p xmlns:a="http://schemas.openxmlformats.org/drawingml/2006/main">
            <a:r>
              <a:t>ユーザー提供条件：4日間、詳しい人・協力先なし。チーム人数は未確認。2026年9月19日。</a:t>
            </a:r>
          </a:p>
          <a:p xmlns:a="http://schemas.openxmlformats.org/drawingml/2006/main">
            <a:r>
              <a:t/>
            </a:r>
          </a:p>
          <a:p xmlns:a="http://schemas.openxmlformats.org/drawingml/2006/main">
            <a:r>
              <a:t>設計提案・評価計画であり、実装・実測・チーム合意は未実施。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3. 共有レビューの7指摘をどう反映したか</a:t>
            </a:r>
          </a:p>
          <a:p xmlns:a="http://schemas.openxmlformats.org/drawingml/2006/main">
            <a:r>
              <a:t/>
            </a:r>
          </a:p>
          <a:p xmlns:a="http://schemas.openxmlformats.org/drawingml/2006/main">
            <a:r>
              <a:t>| 指摘 | 判断 | 今回の反映 |</a:t>
            </a:r>
          </a:p>
          <a:p xmlns:a="http://schemas.openxmlformats.org/drawingml/2006/main">
            <a:r>
              <a:t>|---|---|---|</a:t>
            </a:r>
          </a:p>
          <a:p xmlns:a="http://schemas.openxmlformats.org/drawingml/2006/main">
            <a:r>
              <a:t>| 1. 年商1億円の逆算は不要 | 採用 | 売上試算を選定・本編から外し、停止条件と評価方法へ置換 |</a:t>
            </a:r>
          </a:p>
          <a:p xmlns:a="http://schemas.openxmlformats.org/drawingml/2006/main">
            <a:r>
              <a:t>| 2. Routerの説明が共通で比較に効かない | おおむね採用 | Router利用は共通要件。案ごとの業務状態、失敗、検証可能性を比較する。ただし安全性・独創性も正式審査項目として残す |</a:t>
            </a:r>
          </a:p>
          <a:p xmlns:a="http://schemas.openxmlformats.org/drawingml/2006/main">
            <a:r>
              <a:t>| 3(a). PII検知の位置が不適切 | 採用 | 送信前のデータ最小化・ID置換をアプリで実施。ゲートウェイへ届く情報を明示 |</a:t>
            </a:r>
          </a:p>
          <a:p xmlns:a="http://schemas.openxmlformats.org/drawingml/2006/main">
            <a:r>
              <a:t>| 3(b). Criticや発注制御の責任が混同 | 一部訂正して採用 | 業務制約と外部更新の検査はアプリの責任。複数モデル呼び出し機能そのものは公式DSLにあるので、一律に「ゲートウェイでは不可能」としない |</a:t>
            </a:r>
          </a:p>
          <a:p xmlns:a="http://schemas.openxmlformats.org/drawingml/2006/main">
            <a:r>
              <a:t>| 4. 範囲縮小で自律性が消える | 採用 | 文書生成・送信で終了せず、返信・失敗後の再計画と終了まで実装する |</a:t>
            </a:r>
          </a:p>
          <a:p xmlns:a="http://schemas.openxmlformats.org/drawingml/2006/main">
            <a:r>
              <a:t>| 5. 案01より案06を評価すべき | 参考として保存 | 今回はユーザー指定の05対02に限定。06の「復旧確認と停止」の考え方を取り入れる |</a:t>
            </a:r>
          </a:p>
          <a:p xmlns:a="http://schemas.openxmlformats.org/drawingml/2006/main">
            <a:r>
              <a:t>| 6. ライブログと実測コストを出す | 採用 | 使用モデル、規則、検証結果、行動、費用、終了状態を提示。ログ単独では安全性の証明にならないためテスト結果を併記 |</a:t>
            </a:r>
          </a:p>
          <a:p xmlns:a="http://schemas.openxmlformats.org/drawingml/2006/main">
            <a:r>
              <a:t>| 7. 名称・文書の体裁 | 名称訂正を採用 | OrcaRouterに統一。文字化け・空行・末尾欠落は閲覧環境の可能性があり、今回取得した原文では末尾を確認できたため内容の欠落と断定しない |</a:t>
            </a:r>
          </a:p>
          <a:p xmlns:a="http://schemas.openxmlformats.org/drawingml/2006/main">
            <a:r>
              <a:t/>
            </a:r>
          </a:p>
          <a:p xmlns:a="http://schemas.openxmlformats.org/drawingml/2006/main">
            <a:r>
              <a:t>### レビューをそのまま採用しない点</a:t>
            </a:r>
          </a:p>
          <a:p xmlns:a="http://schemas.openxmlformats.org/drawingml/2006/main">
            <a:r>
              <a:t/>
            </a:r>
          </a:p>
          <a:p xmlns:a="http://schemas.openxmlformats.org/drawingml/2006/main">
            <a:r>
              <a:t>- 「自律性が審査の1/5」は未確認。5項目あることから同配点とは言えない。</a:t>
            </a:r>
          </a:p>
          <a:p xmlns:a="http://schemas.openxmlformats.org/drawingml/2006/main">
            <a:r>
              <a:t>- 「実装と壇上の自律だけで決めてよい」は狭すぎる。セキュリティ、コスト、堅牢性、独創性も検証対象に残す。</a:t>
            </a:r>
          </a:p>
          <a:p xmlns:a="http://schemas.openxmlformats.org/drawingml/2006/main">
            <a:r>
              <a:t>- 「ルーティングログだけで安全性を証明できる」とはしない。権限検査、拒否動作、重複防止の実測が必要。</a:t>
            </a:r>
          </a:p>
          <a:p xmlns:a="http://schemas.openxmlformats.org/drawingml/2006/main">
            <a:r>
              <a:t>- 「国内リージョンなら推論も国内」は前提にしない。公式Trust Centerは証跡の地域分離と推論処理地域を区別している。[S6]</a:t>
            </a:r>
          </a:p>
          <a:p xmlns:a="http://schemas.openxmlformats.org/drawingml/2006/main">
            <a:r>
              <a:t>- 「エンタープライズ機能だから当日利用できない」と断定しない。提供アカウントで確認する。</a:t>
            </a:r>
          </a:p>
          <a:p xmlns:a="http://schemas.openxmlformats.org/drawingml/2006/main">
            <a:r>
              <a:t>- 複数モデルを使っても、結果の正しさ・安全性を保証できるわけではない。</a:t>
            </a:r>
          </a:p>
          <a:p xmlns:a="http://schemas.openxmlformats.org/drawingml/2006/main">
            <a:r>
              <a:t/>
            </a:r>
          </a:p>
          <a:p xmlns:a="http://schemas.openxmlformats.org/drawingml/2006/main">
            <a:r>
              <a:t/>
            </a:r>
          </a:p>
          <a:p xmlns:a="http://schemas.openxmlformats.org/drawingml/2006/main">
            <a:r>
              <a:t/>
            </a:r>
          </a:p>
          <a:p xmlns:a="http://schemas.openxmlformats.org/drawingml/2006/main">
            <a:r>
              <a:t>参照資料（確認日：2026年9月19日）</a:t>
            </a:r>
          </a:p>
          <a:p xmlns:a="http://schemas.openxmlformats.org/drawingml/2006/main">
            <a:r>
              <a:t>共有レビュー https://claude.ai/artifact/UkwVYwgpDgZ2zEwH56UkEb</a:t>
            </a:r>
          </a:p>
          <a:p xmlns:a="http://schemas.openxmlformats.org/drawingml/2006/main">
            <a:r>
              <a:t/>
            </a:r>
          </a:p>
          <a:p xmlns:a="http://schemas.openxmlformats.org/drawingml/2006/main">
            <a:r>
              <a:t>設計提案・評価計画であり、実装・実測・チーム合意は未実施。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3. 共有レビューの7指摘をどう反映したか</a:t>
            </a:r>
          </a:p>
          <a:p xmlns:a="http://schemas.openxmlformats.org/drawingml/2006/main">
            <a:r>
              <a:t/>
            </a:r>
          </a:p>
          <a:p xmlns:a="http://schemas.openxmlformats.org/drawingml/2006/main">
            <a:r>
              <a:t>| 指摘 | 判断 | 今回の反映 |</a:t>
            </a:r>
          </a:p>
          <a:p xmlns:a="http://schemas.openxmlformats.org/drawingml/2006/main">
            <a:r>
              <a:t>|---|---|---|</a:t>
            </a:r>
          </a:p>
          <a:p xmlns:a="http://schemas.openxmlformats.org/drawingml/2006/main">
            <a:r>
              <a:t>| 1. 年商1億円の逆算は不要 | 採用 | 売上試算を選定・本編から外し、停止条件と評価方法へ置換 |</a:t>
            </a:r>
          </a:p>
          <a:p xmlns:a="http://schemas.openxmlformats.org/drawingml/2006/main">
            <a:r>
              <a:t>| 2. Routerの説明が共通で比較に効かない | おおむね採用 | Router利用は共通要件。案ごとの業務状態、失敗、検証可能性を比較する。ただし安全性・独創性も正式審査項目として残す |</a:t>
            </a:r>
          </a:p>
          <a:p xmlns:a="http://schemas.openxmlformats.org/drawingml/2006/main">
            <a:r>
              <a:t>| 3(a). PII検知の位置が不適切 | 採用 | 送信前のデータ最小化・ID置換をアプリで実施。ゲートウェイへ届く情報を明示 |</a:t>
            </a:r>
          </a:p>
          <a:p xmlns:a="http://schemas.openxmlformats.org/drawingml/2006/main">
            <a:r>
              <a:t>| 3(b). Criticや発注制御の責任が混同 | 一部訂正して採用 | 業務制約と外部更新の検査はアプリの責任。複数モデル呼び出し機能そのものは公式DSLにあるので、一律に「ゲートウェイでは不可能」としない |</a:t>
            </a:r>
          </a:p>
          <a:p xmlns:a="http://schemas.openxmlformats.org/drawingml/2006/main">
            <a:r>
              <a:t>| 4. 範囲縮小で自律性が消える | 採用 | 文書生成・送信で終了せず、返信・失敗後の再計画と終了まで実装する |</a:t>
            </a:r>
          </a:p>
          <a:p xmlns:a="http://schemas.openxmlformats.org/drawingml/2006/main">
            <a:r>
              <a:t>| 5. 案01より案06を評価すべき | 参考として保存 | 今回はユーザー指定の05対02に限定。06の「復旧確認と停止」の考え方を取り入れる |</a:t>
            </a:r>
          </a:p>
          <a:p xmlns:a="http://schemas.openxmlformats.org/drawingml/2006/main">
            <a:r>
              <a:t>| 6. ライブログと実測コストを出す | 採用 | 使用モデル、規則、検証結果、行動、費用、終了状態を提示。ログ単独では安全性の証明にならないためテスト結果を併記 |</a:t>
            </a:r>
          </a:p>
          <a:p xmlns:a="http://schemas.openxmlformats.org/drawingml/2006/main">
            <a:r>
              <a:t>| 7. 名称・文書の体裁 | 名称訂正を採用 | OrcaRouterに統一。文字化け・空行・末尾欠落は閲覧環境の可能性があり、今回取得した原文では末尾を確認できたため内容の欠落と断定しない |</a:t>
            </a:r>
          </a:p>
          <a:p xmlns:a="http://schemas.openxmlformats.org/drawingml/2006/main">
            <a:r>
              <a:t/>
            </a:r>
          </a:p>
          <a:p xmlns:a="http://schemas.openxmlformats.org/drawingml/2006/main">
            <a:r>
              <a:t>### レビューをそのまま採用しない点</a:t>
            </a:r>
          </a:p>
          <a:p xmlns:a="http://schemas.openxmlformats.org/drawingml/2006/main">
            <a:r>
              <a:t/>
            </a:r>
          </a:p>
          <a:p xmlns:a="http://schemas.openxmlformats.org/drawingml/2006/main">
            <a:r>
              <a:t>- 「自律性が審査の1/5」は未確認。5項目あることから同配点とは言えない。</a:t>
            </a:r>
          </a:p>
          <a:p xmlns:a="http://schemas.openxmlformats.org/drawingml/2006/main">
            <a:r>
              <a:t>- 「実装と壇上の自律だけで決めてよい」は狭すぎる。セキュリティ、コスト、堅牢性、独創性も検証対象に残す。</a:t>
            </a:r>
          </a:p>
          <a:p xmlns:a="http://schemas.openxmlformats.org/drawingml/2006/main">
            <a:r>
              <a:t>- 「ルーティングログだけで安全性を証明できる」とはしない。権限検査、拒否動作、重複防止の実測が必要。</a:t>
            </a:r>
          </a:p>
          <a:p xmlns:a="http://schemas.openxmlformats.org/drawingml/2006/main">
            <a:r>
              <a:t>- 「国内リージョンなら推論も国内」は前提にしない。公式Trust Centerは証跡の地域分離と推論処理地域を区別している。[S6]</a:t>
            </a:r>
          </a:p>
          <a:p xmlns:a="http://schemas.openxmlformats.org/drawingml/2006/main">
            <a:r>
              <a:t>- 「エンタープライズ機能だから当日利用できない」と断定しない。提供アカウントで確認する。</a:t>
            </a:r>
          </a:p>
          <a:p xmlns:a="http://schemas.openxmlformats.org/drawingml/2006/main">
            <a:r>
              <a:t>- 複数モデルを使っても、結果の正しさ・安全性を保証できるわけではない。</a:t>
            </a:r>
          </a:p>
          <a:p xmlns:a="http://schemas.openxmlformats.org/drawingml/2006/main">
            <a:r>
              <a:t/>
            </a:r>
          </a:p>
          <a:p xmlns:a="http://schemas.openxmlformats.org/drawingml/2006/main">
            <a:r>
              <a:t/>
            </a:r>
          </a:p>
          <a:p xmlns:a="http://schemas.openxmlformats.org/drawingml/2006/main">
            <a:r>
              <a:t/>
            </a:r>
          </a:p>
          <a:p xmlns:a="http://schemas.openxmlformats.org/drawingml/2006/main">
            <a:r>
              <a:t>## 9. OrcaRouterの活用とDay 1の実機確認</a:t>
            </a:r>
          </a:p>
          <a:p xmlns:a="http://schemas.openxmlformats.org/drawingml/2006/main">
            <a:r>
              <a:t/>
            </a:r>
          </a:p>
          <a:p xmlns:a="http://schemas.openxmlformats.org/drawingml/2006/main">
            <a:r>
              <a:t>正式名称は**OrcaRouter**。元資料のQrcaRouter表記を訂正する。公式Routing DSLには条件分岐や複数モデルを組み合わせる仕組みが記載されているが、提供アカウントでの利用可否・結果・計測項目は未検証。[S3]</a:t>
            </a:r>
          </a:p>
          <a:p xmlns:a="http://schemas.openxmlformats.org/drawingml/2006/main">
            <a:r>
              <a:t/>
            </a:r>
          </a:p>
          <a:p xmlns:a="http://schemas.openxmlformats.org/drawingml/2006/main">
            <a:r>
              <a:t>### 実装する使い分け</a:t>
            </a:r>
          </a:p>
          <a:p xmlns:a="http://schemas.openxmlformats.org/drawingml/2006/main">
            <a:r>
              <a:t/>
            </a:r>
          </a:p>
          <a:p xmlns:a="http://schemas.openxmlformats.org/drawingml/2006/main">
            <a:r>
              <a:t>| 呼び出し | モデル利用の方針 | 検証・切替条件 |</a:t>
            </a:r>
          </a:p>
          <a:p xmlns:a="http://schemas.openxmlformats.org/drawingml/2006/main">
            <a:r>
              <a:t>|---|---|---|</a:t>
            </a:r>
          </a:p>
          <a:p xmlns:a="http://schemas.openxmlformats.org/drawingml/2006/main">
            <a:r>
              <a:t>| 「不可」「19時から可能」等の構造化 | まず軽量モデルを候補にする | 必須項目・型・時間範囲をコードで検査 |</a:t>
            </a:r>
          </a:p>
          <a:p xmlns:a="http://schemas.openxmlformats.org/drawingml/2006/main">
            <a:r>
              <a:t>| 複数条件や矛盾を含む回答 | 高性能モデルを候補にする | 抽出失敗、矛盾、ツール検査失敗など観測可能な理由で昇格 |</a:t>
            </a:r>
          </a:p>
          <a:p xmlns:a="http://schemas.openxmlformats.org/drawingml/2006/main">
            <a:r>
              <a:t>| 合計・時間充足・数量・金額 | 通常のコード | モデル呼び出しなし |</a:t>
            </a:r>
          </a:p>
          <a:p xmlns:a="http://schemas.openxmlformats.org/drawingml/2006/main">
            <a:r>
              <a:t>| 追加のモデル検証 | 検証で改善が確認できた箇所だけ | 費用と遅延を計上。常時二重呼び出しを前提にしない |</a:t>
            </a:r>
          </a:p>
          <a:p xmlns:a="http://schemas.openxmlformats.org/drawingml/2006/main">
            <a:r>
              <a:t/>
            </a:r>
          </a:p>
          <a:p xmlns:a="http://schemas.openxmlformats.org/drawingml/2006/main">
            <a:r>
              <a:t>難易度の自己申告や「自信がある」という文章だけで振り分けない。アプリが判定した状態をルーターへ渡せる場合はその方法を実測し、使えない場合はアプリが許可済みモデルを選び、全推論をOrcaRouter経由で呼ぶ。その場合は「アプリ側選択」と正確に表示し、ネイティブ自動ルーティングと混同しない。利用条件との適合は運営資料で確認する。</a:t>
            </a:r>
          </a:p>
          <a:p xmlns:a="http://schemas.openxmlformats.org/drawingml/2006/main">
            <a:r>
              <a:t/>
            </a:r>
          </a:p>
          <a:p xmlns:a="http://schemas.openxmlformats.org/drawingml/2006/main">
            <a:r>
              <a:t>### 最初の60〜90分で残す記録</a:t>
            </a:r>
          </a:p>
          <a:p xmlns:a="http://schemas.openxmlformats.org/drawingml/2006/main">
            <a:r>
              <a:t/>
            </a:r>
          </a:p>
          <a:p xmlns:a="http://schemas.openxmlformats.org/drawingml/2006/main">
            <a:r>
              <a:t>1. API接続、利用可能モデル、残高・予算・制限を確認する。</a:t>
            </a:r>
          </a:p>
          <a:p xmlns:a="http://schemas.openxmlformats.org/drawingml/2006/main">
            <a:r>
              <a:t>2. 単純入力と条件付き入力を同じルーターへ送り、実際の行き先を確認する。</a:t>
            </a:r>
          </a:p>
          <a:p xmlns:a="http://schemas.openxmlformats.org/drawingml/2006/main">
            <a:r>
              <a:t>3. 自分たちのルール・設定がどの単位で適用されるかを確認する。</a:t>
            </a:r>
          </a:p>
          <a:p xmlns:a="http://schemas.openxmlformats.org/drawingml/2006/main">
            <a:r>
              <a:t>4. 実使用モデル、トークン、遅延、料金、リクエストIDの取得可否を確認する。</a:t>
            </a:r>
          </a:p>
          <a:p xmlns:a="http://schemas.openxmlformats.org/drawingml/2006/main">
            <a:r>
              <a:t>5. モデルの構造化出力・ツール利用形式を確認する。</a:t>
            </a:r>
          </a:p>
          <a:p xmlns:a="http://schemas.openxmlformats.org/drawingml/2006/main">
            <a:r>
              <a:t>6. 対象モデル失敗時の挙動、アプリ側の回数上限・予算制御を確認する。</a:t>
            </a:r>
          </a:p>
          <a:p xmlns:a="http://schemas.openxmlformats.org/drawingml/2006/main">
            <a:r>
              <a:t>7. プロンプト本文・応答がどこに記録されるか、保持設定を確認する。</a:t>
            </a:r>
          </a:p>
          <a:p xmlns:a="http://schemas.openxmlformats.org/drawingml/2006/main">
            <a:r>
              <a:t/>
            </a:r>
          </a:p>
          <a:p xmlns:a="http://schemas.openxmlformats.org/drawingml/2006/main">
            <a:r>
              <a:t>これはチームが今後行う検証であり、本資料の作成時に実行した検証ではない。ルーティング内容・料金の取得に失敗したら推定と明記し、請求額を捏造しない。公開仕様の記載とアカウントの実測を分けて管理する。</a:t>
            </a:r>
          </a:p>
          <a:p xmlns:a="http://schemas.openxmlformats.org/drawingml/2006/main">
            <a:r>
              <a:t/>
            </a:r>
          </a:p>
          <a:p xmlns:a="http://schemas.openxmlformats.org/drawingml/2006/main">
            <a:r>
              <a:t/>
            </a:r>
          </a:p>
          <a:p xmlns:a="http://schemas.openxmlformats.org/drawingml/2006/main">
            <a:r>
              <a:t/>
            </a:r>
          </a:p>
          <a:p xmlns:a="http://schemas.openxmlformats.org/drawingml/2006/main">
            <a:r>
              <a:t>参照資料（確認日：2026年9月19日）</a:t>
            </a:r>
          </a:p>
          <a:p xmlns:a="http://schemas.openxmlformats.org/drawingml/2006/main">
            <a:r>
              <a:t>共有レビュー https://claude.ai/artifact/UkwVYwgpDgZ2zEwH56UkEb</a:t>
            </a:r>
          </a:p>
          <a:p xmlns:a="http://schemas.openxmlformats.org/drawingml/2006/main">
            <a:r>
              <a:t>OrcaRouter Routing DSL https://docs.orcarouter.ai/ja/routing/routing-dsl</a:t>
            </a:r>
          </a:p>
          <a:p xmlns:a="http://schemas.openxmlformats.org/drawingml/2006/main">
            <a:r>
              <a:t>OrcaRouter Trust Center https://www.orcarouter.ai/trust</a:t>
            </a:r>
          </a:p>
          <a:p xmlns:a="http://schemas.openxmlformats.org/drawingml/2006/main">
            <a:r>
              <a:t/>
            </a:r>
          </a:p>
          <a:p xmlns:a="http://schemas.openxmlformats.org/drawingml/2006/main">
            <a:r>
              <a:t>設計提案・評価計画であり、実装・実測・チーム合意は未実施。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4. 5つの審査項目での比較</a:t>
            </a:r>
          </a:p>
          <a:p xmlns:a="http://schemas.openxmlformats.org/drawingml/2006/main">
            <a:r>
              <a:t/>
            </a:r>
          </a:p>
          <a:p xmlns:a="http://schemas.openxmlformats.org/drawingml/2006/main">
            <a:r>
              <a:t>以下は実測スコアではなく、縮小後の設計に対する評価。未確認の配点による合計点は作らない。</a:t>
            </a:r>
          </a:p>
          <a:p xmlns:a="http://schemas.openxmlformats.org/drawingml/2006/main">
            <a:r>
              <a:t/>
            </a:r>
          </a:p>
          <a:p xmlns:a="http://schemas.openxmlformats.org/drawingml/2006/main">
            <a:r>
              <a:t>| 審査項目 | 案05：欠勤調整 | 案02：請求差分解消 | 今回の判断 |</a:t>
            </a:r>
          </a:p>
          <a:p xmlns:a="http://schemas.openxmlformats.org/drawingml/2006/main">
            <a:r>
              <a:t>|---|---|---|---|</a:t>
            </a:r>
          </a:p>
          <a:p xmlns:a="http://schemas.openxmlformats.org/drawingml/2006/main">
            <a:r>
              <a:t>| セキュリティ | 他スタッフの連絡先・欠勤理由を外へ出さず、許可した宛先・シフトだけ更新 | 他社の取引条件・請求情報を分離し、対象伝票だけ更新 | 両案とも設計可能。05は最小データを定義しやすい |</a:t>
            </a:r>
          </a:p>
          <a:p xmlns:a="http://schemas.openxmlformats.org/drawingml/2006/main">
            <a:r>
              <a:t>| コストパフォーマンス | 定型返信の抽出と複雑な部分承諾の処理を分ける | CSV照合はコード、自由文の説明・例外解釈だけモデル | 02のコード中心処理は強み。両案で成功率を保った費用比較が必要 |</a:t>
            </a:r>
          </a:p>
          <a:p xmlns:a="http://schemas.openxmlformats.org/drawingml/2006/main">
            <a:r>
              <a:t>| 信頼性・堅牢性 | 同時承諾、期限切れ返信、無応答、二重更新を検査 | 数量・金額・通貨・単位・証拠不足・改訂版の整合性を検査 | 02は定量検証しやすいが正解データの設計負担が大きい |</a:t>
            </a:r>
          </a:p>
          <a:p xmlns:a="http://schemas.openxmlformats.org/drawingml/2006/main">
            <a:r>
              <a:t>| 自律性 | 辞退・部分承諾を理解し、残り時間を埋めるまで再計画 | 相手の回答・修正伝票を受け、再照合と対象状態更新 | 両案とも成立。05は短いデモで行動変化が見えやすい |</a:t>
            </a:r>
          </a:p>
          <a:p xmlns:a="http://schemas.openxmlformats.org/drawingml/2006/main">
            <a:r>
              <a:t>| アイデア・独創性 | 「欠勤調整」だけでは弱い。部分承諾からの分割調整と停止を具体化 | 「請求照合」だけでは弱い。回答後の再照合・証拠付き解消を具体化 | 新規性は未検証。実装上の工夫を独創性の仮説として示す |</a:t>
            </a:r>
          </a:p>
          <a:p xmlns:a="http://schemas.openxmlformats.org/drawingml/2006/main">
            <a:r>
              <a:t/>
            </a:r>
          </a:p>
          <a:p xmlns:a="http://schemas.openxmlformats.org/drawingml/2006/main">
            <a:r>
              <a:t>共感性は説明の分かりやすさとして使い、独立した審査項目にはしない。既存サービスとの差別化を調査していないため、「世界初」「競合なし」は使わない。</a:t>
            </a:r>
          </a:p>
          <a:p xmlns:a="http://schemas.openxmlformats.org/drawingml/2006/main">
            <a:r>
              <a:t/>
            </a:r>
          </a:p>
          <a:p xmlns:a="http://schemas.openxmlformats.org/drawingml/2006/main">
            <a:r>
              <a:t/>
            </a:r>
          </a:p>
          <a:p xmlns:a="http://schemas.openxmlformats.org/drawingml/2006/main">
            <a:r>
              <a:t/>
            </a:r>
          </a:p>
          <a:p xmlns:a="http://schemas.openxmlformats.org/drawingml/2006/main">
            <a:r>
              <a:t>参照資料（確認日：2026年9月19日）</a:t>
            </a:r>
          </a:p>
          <a:p xmlns:a="http://schemas.openxmlformats.org/drawingml/2006/main">
            <a:r>
              <a:t>元企画書 https://docs.google.com/document/d/1QBzy0iRmDaJL48Z6yTGGEkUaizDED3lCE9ZFU-AFbyM/edit</a:t>
            </a:r>
          </a:p>
          <a:p xmlns:a="http://schemas.openxmlformats.org/drawingml/2006/main">
            <a:r>
              <a:t>ユーザー提供条件：4日間、詳しい人・協力先なし。チーム人数は未確認。2026年9月19日。</a:t>
            </a:r>
          </a:p>
          <a:p xmlns:a="http://schemas.openxmlformats.org/drawingml/2006/main">
            <a:r>
              <a:t/>
            </a:r>
          </a:p>
          <a:p xmlns:a="http://schemas.openxmlformats.org/drawingml/2006/main">
            <a:r>
              <a:t>設計提案・評価計画であり、実装・実測・チーム合意は未実施。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5. 4日間で比較する実装範囲</a:t>
            </a:r>
          </a:p>
          <a:p xmlns:a="http://schemas.openxmlformats.org/drawingml/2006/main">
            <a:r>
              <a:t/>
            </a:r>
          </a:p>
          <a:p xmlns:a="http://schemas.openxmlformats.org/drawingml/2006/main">
            <a:r>
              <a:t>| 項目 | 案05 | 案02 |</a:t>
            </a:r>
          </a:p>
          <a:p xmlns:a="http://schemas.openxmlformats.org/drawingml/2006/main">
            <a:r>
              <a:t>|---|---|---|</a:t>
            </a:r>
          </a:p>
          <a:p xmlns:a="http://schemas.openxmlformats.org/drawingml/2006/main">
            <a:r>
              <a:t>| 利用者 | 架空の1店舗の店長 | 架空の1社の購買・経理担当 |</a:t>
            </a:r>
          </a:p>
          <a:p xmlns:a="http://schemas.openxmlformats.org/drawingml/2006/main">
            <a:r>
              <a:t>| 1件の仕事 | 18〜22時の欠勤を、条件に合うスタッフで埋める | 1件の発注に対する「分納」を原因とする差分を解消 |</a:t>
            </a:r>
          </a:p>
          <a:p xmlns:a="http://schemas.openxmlformats.org/drawingml/2006/main">
            <a:r>
              <a:t>| 入力 | シフト、スキル、勤務可能時間、連絡許可、架空スタッフの返信 | 発注・納品・請求CSV、取引条件、架空取引先の返信・修正版 |</a:t>
            </a:r>
          </a:p>
          <a:p xmlns:a="http://schemas.openxmlformats.org/drawingml/2006/main">
            <a:r>
              <a:t>| 実装する外部相当の境界 | テスト用メッセージ受信箱と永続化したシフト表 | テスト用受信箱と永続化した照合台帳 |</a:t>
            </a:r>
          </a:p>
          <a:p xmlns:a="http://schemas.openxmlformats.org/drawingml/2006/main">
            <a:r>
              <a:t>| 実装する中核 | 状態管理、自然文の解釈、候補再選択、更新検証、停止、費用ログ | 決定的な計算、証拠検索、照会、返信解釈、再照合、状態更新 |</a:t>
            </a:r>
          </a:p>
          <a:p xmlns:a="http://schemas.openxmlformats.org/drawingml/2006/main">
            <a:r>
              <a:t>| 今回外す | 天候、需要予測、発注、給与計算、複数店舗、実従業員への連絡 | OCR、実ERP、送金、仕訳確定、税・為替、複数業務例外 |</a:t>
            </a:r>
          </a:p>
          <a:p xmlns:a="http://schemas.openxmlformats.org/drawingml/2006/main">
            <a:r>
              <a:t>| 自律完了 | 必要時間をすべて埋め、制約検査・更新後の読戻しが成功 | 対象の証拠と数値が一致し、照合台帳の更新・読戻しが成功 |</a:t>
            </a:r>
          </a:p>
          <a:p xmlns:a="http://schemas.openxmlformats.org/drawingml/2006/main">
            <a:r>
              <a:t>| 未完了の終了 | 不足時間と試した候補を店長へ引き継ぎ | 矛盾・証拠不足・期限超過を担当者へ引き継ぎ |</a:t>
            </a:r>
          </a:p>
          <a:p xmlns:a="http://schemas.openxmlformats.org/drawingml/2006/main">
            <a:r>
              <a:t/>
            </a:r>
          </a:p>
          <a:p xmlns:a="http://schemas.openxmlformats.org/drawingml/2006/main">
            <a:r>
              <a:t>モックにするのは外部サービスと架空の相手。モデル判断、ツール実行、状態保存、制約検査、再計画は実装する。固定シナリオの再生を自律判断として見せない。UI上で架空データ・外部接続の模擬・待ち時間の短縮を明示する。</a:t>
            </a:r>
          </a:p>
          <a:p xmlns:a="http://schemas.openxmlformats.org/drawingml/2006/main">
            <a:r>
              <a:t/>
            </a:r>
          </a:p>
          <a:p xmlns:a="http://schemas.openxmlformats.org/drawingml/2006/main">
            <a:r>
              <a:t/>
            </a:r>
          </a:p>
          <a:p xmlns:a="http://schemas.openxmlformats.org/drawingml/2006/main">
            <a:r>
              <a:t/>
            </a:r>
          </a:p>
          <a:p xmlns:a="http://schemas.openxmlformats.org/drawingml/2006/main">
            <a:r>
              <a:t>参照資料（確認日：2026年9月19日）</a:t>
            </a:r>
          </a:p>
          <a:p xmlns:a="http://schemas.openxmlformats.org/drawingml/2006/main">
            <a:r>
              <a:t>元企画書 https://docs.google.com/document/d/1QBzy0iRmDaJL48Z6yTGGEkUaizDED3lCE9ZFU-AFbyM/edit</a:t>
            </a:r>
          </a:p>
          <a:p xmlns:a="http://schemas.openxmlformats.org/drawingml/2006/main">
            <a:r>
              <a:t>ユーザー提供条件：4日間、詳しい人・協力先なし。チーム人数は未確認。2026年9月19日。</a:t>
            </a:r>
          </a:p>
          <a:p xmlns:a="http://schemas.openxmlformats.org/drawingml/2006/main">
            <a:r>
              <a:t/>
            </a:r>
          </a:p>
          <a:p xmlns:a="http://schemas.openxmlformats.org/drawingml/2006/main">
            <a:r>
              <a:t>設計提案・評価計画であり、実装・実測・チーム合意は未実施。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6. 案05の完成像</a:t>
            </a:r>
          </a:p>
          <a:p xmlns:a="http://schemas.openxmlformats.org/drawingml/2006/main">
            <a:r>
              <a:t/>
            </a:r>
          </a:p>
          <a:p xmlns:a="http://schemas.openxmlformats.org/drawingml/2006/main">
            <a:r>
              <a:t>### ジョブストーリー</a:t>
            </a:r>
          </a:p>
          <a:p xmlns:a="http://schemas.openxmlformats.org/drawingml/2006/main">
            <a:r>
              <a:t/>
            </a:r>
          </a:p>
          <a:p xmlns:a="http://schemas.openxmlformats.org/drawingml/2006/main">
            <a:r>
              <a:t>夕方の営業準備中に欠勤が出たとき、店長は手を止めずに代替候補への連絡と調整を進めたい。AIは事前に許可された勤務条件と連絡範囲で動き、埋まったシフト、または未解決の不足だけを店長に返す。</a:t>
            </a:r>
          </a:p>
          <a:p xmlns:a="http://schemas.openxmlformats.org/drawingml/2006/main">
            <a:r>
              <a:t/>
            </a:r>
          </a:p>
          <a:p xmlns:a="http://schemas.openxmlformats.org/drawingml/2006/main">
            <a:r>
              <a:t>### デモに使う架空ケース</a:t>
            </a:r>
          </a:p>
          <a:p xmlns:a="http://schemas.openxmlformats.org/drawingml/2006/main">
            <a:r>
              <a:t/>
            </a:r>
          </a:p>
          <a:p xmlns:a="http://schemas.openxmlformats.org/drawingml/2006/main">
            <a:r>
              <a:t>必要枠は18〜22時のホール担当1人。Aは18〜22時に勤務可能だが辞退。Bは「19時から22時なら入れます」と返答。Cは18〜19時の勤務に承諾する。全員について担当スキル、既存勤務との重複、店側が設定した勤務上限、本人の連絡許可を確認する。</a:t>
            </a:r>
          </a:p>
          <a:p xmlns:a="http://schemas.openxmlformats.org/drawingml/2006/main">
            <a:r>
              <a:t/>
            </a:r>
          </a:p>
          <a:p xmlns:a="http://schemas.openxmlformats.org/drawingml/2006/main">
            <a:r>
              <a:t>AIはBの返答から不足時間18〜19時を認識し、候補Cへ打診する。BとCの両方が確定した時点でシフト表を更新して読戻す。候補の選定に健康情報・家庭事情・年齢等のセンシティブ属性を使わず、必要な勤務条件と本人の意思だけを使う。辞退理由を他人へ伝えない。</a:t>
            </a:r>
          </a:p>
          <a:p xmlns:a="http://schemas.openxmlformats.org/drawingml/2006/main">
            <a:r>
              <a:t/>
            </a:r>
          </a:p>
          <a:p xmlns:a="http://schemas.openxmlformats.org/drawingml/2006/main">
            <a:r>
              <a:t>### 状態と終了</a:t>
            </a:r>
          </a:p>
          <a:p xmlns:a="http://schemas.openxmlformats.org/drawingml/2006/main">
            <a:r>
              <a:t/>
            </a:r>
          </a:p>
          <a:p xmlns:a="http://schemas.openxmlformats.org/drawingml/2006/main">
            <a:r>
              <a:t>| 状態 | 進める条件 | 次の動作 |</a:t>
            </a:r>
          </a:p>
          <a:p xmlns:a="http://schemas.openxmlformats.org/drawingml/2006/main">
            <a:r>
              <a:t>|---|---|---|</a:t>
            </a:r>
          </a:p>
          <a:p xmlns:a="http://schemas.openxmlformats.org/drawingml/2006/main">
            <a:r>
              <a:t>| 受付 | 対象シフト、欠勤時間、必要スキルが揃う | 不足時間を計算 |</a:t>
            </a:r>
          </a:p>
          <a:p xmlns:a="http://schemas.openxmlformats.org/drawingml/2006/main">
            <a:r>
              <a:t>| 計画 | 候補が制約を満たす | 許可された候補へ打診 |</a:t>
            </a:r>
          </a:p>
          <a:p xmlns:a="http://schemas.openxmlformats.org/drawingml/2006/main">
            <a:r>
              <a:t>| 返信待ち | 返答または設定した期限に到達 | 意図・時間を抽出して検査 |</a:t>
            </a:r>
          </a:p>
          <a:p xmlns:a="http://schemas.openxmlformats.org/drawingml/2006/main">
            <a:r>
              <a:t>| 再計画 | 辞退、部分承諾、無応答 | 未充足時間と未打診候補を再評価 |</a:t>
            </a:r>
          </a:p>
          <a:p xmlns:a="http://schemas.openxmlformats.org/drawingml/2006/main">
            <a:r>
              <a:t>| 確定準備 | 必要時間の承諾が揃う | 最新シフトを再読込、競合と権限を検査 |</a:t>
            </a:r>
          </a:p>
          <a:p xmlns:a="http://schemas.openxmlformats.org/drawingml/2006/main">
            <a:r>
              <a:t>| 更新・確認 | 一意の実行IDと対象バージョンが一致 | 一度だけ更新し、読戻しで結果を確認 |</a:t>
            </a:r>
          </a:p>
          <a:p xmlns:a="http://schemas.openxmlformats.org/drawingml/2006/main">
            <a:r>
              <a:t>| 完了 | 全時間の充足と読戻しが成功 | 店長へ結果を報告 |</a:t>
            </a:r>
          </a:p>
          <a:p xmlns:a="http://schemas.openxmlformats.org/drawingml/2006/main">
            <a:r>
              <a:t>| 引き継ぎ | 候補枯渇、矛盾、期限、予算、回数上限、更新結果不明 | 未確定枠、根拠、実行済み操作を提示して停止 |</a:t>
            </a:r>
          </a:p>
          <a:p xmlns:a="http://schemas.openxmlformats.org/drawingml/2006/main">
            <a:r>
              <a:t/>
            </a:r>
          </a:p>
          <a:p xmlns:a="http://schemas.openxmlformats.org/drawingml/2006/main">
            <a:r>
              <a:t>シフトを確定する直前に元のシフトの版を確認する。並行して店長が更新した場合は、そのまま上書きしない。期限後の承諾は自動的に有効な承諾に戻さない。訂正依頼や撤回は新しいイベントとして扱う。</a:t>
            </a:r>
          </a:p>
          <a:p xmlns:a="http://schemas.openxmlformats.org/drawingml/2006/main">
            <a:r>
              <a:t/>
            </a:r>
          </a:p>
          <a:p xmlns:a="http://schemas.openxmlformats.org/drawingml/2006/main">
            <a:r>
              <a:t>### AI、コード、人の分担</a:t>
            </a:r>
          </a:p>
          <a:p xmlns:a="http://schemas.openxmlformats.org/drawingml/2006/main">
            <a:r>
              <a:t/>
            </a:r>
          </a:p>
          <a:p xmlns:a="http://schemas.openxmlformats.org/drawingml/2006/main">
            <a:r>
              <a:t>- AI：自然文の返答から条件を抽出、曖昧さを検出、追加確認や次の行動を選択、簡潔な連絡文を作成。</a:t>
            </a:r>
          </a:p>
          <a:p xmlns:a="http://schemas.openxmlformats.org/drawingml/2006/main">
            <a:r>
              <a:t>- コード：勤務条件、時間の充足、候補順のルール、連絡先、権限、同時更新、一度だけの実行、予算を検査。</a:t>
            </a:r>
          </a:p>
          <a:p xmlns:a="http://schemas.openxmlformats.org/drawingml/2006/main">
            <a:r>
              <a:t>- 人：事前の勤務・連絡ルール設定。範囲外の判断や未解決ケースを受け取る。</a:t>
            </a:r>
          </a:p>
          <a:p xmlns:a="http://schemas.openxmlformats.org/drawingml/2006/main">
            <a:r>
              <a:t/>
            </a:r>
          </a:p>
          <a:p xmlns:a="http://schemas.openxmlformats.org/drawingml/2006/main">
            <a:r>
              <a:t>承認ボタンを毎回押す設計にはしない。事前に許可した操作だけを自律実行する。モデルの判断で許可範囲を広げない。</a:t>
            </a:r>
          </a:p>
          <a:p xmlns:a="http://schemas.openxmlformats.org/drawingml/2006/main">
            <a:r>
              <a:t/>
            </a:r>
          </a:p>
          <a:p xmlns:a="http://schemas.openxmlformats.org/drawingml/2006/main">
            <a:r>
              <a:t/>
            </a:r>
          </a:p>
          <a:p xmlns:a="http://schemas.openxmlformats.org/drawingml/2006/main">
            <a:r>
              <a:t/>
            </a:r>
          </a:p>
          <a:p xmlns:a="http://schemas.openxmlformats.org/drawingml/2006/main">
            <a:r>
              <a:t>参照資料（確認日：2026年9月19日）</a:t>
            </a:r>
          </a:p>
          <a:p xmlns:a="http://schemas.openxmlformats.org/drawingml/2006/main">
            <a:r>
              <a:t>ユーザー提供条件：4日間、詳しい人・協力先なし。チーム人数は未確認。2026年9月19日。</a:t>
            </a:r>
          </a:p>
          <a:p xmlns:a="http://schemas.openxmlformats.org/drawingml/2006/main">
            <a:r>
              <a:t/>
            </a:r>
          </a:p>
          <a:p xmlns:a="http://schemas.openxmlformats.org/drawingml/2006/main">
            <a:r>
              <a:t>設計提案・評価計画であり、実装・実測・チーム合意は未実施。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6. 案05の完成像</a:t>
            </a:r>
          </a:p>
          <a:p xmlns:a="http://schemas.openxmlformats.org/drawingml/2006/main">
            <a:r>
              <a:t/>
            </a:r>
          </a:p>
          <a:p xmlns:a="http://schemas.openxmlformats.org/drawingml/2006/main">
            <a:r>
              <a:t>### ジョブストーリー</a:t>
            </a:r>
          </a:p>
          <a:p xmlns:a="http://schemas.openxmlformats.org/drawingml/2006/main">
            <a:r>
              <a:t/>
            </a:r>
          </a:p>
          <a:p xmlns:a="http://schemas.openxmlformats.org/drawingml/2006/main">
            <a:r>
              <a:t>夕方の営業準備中に欠勤が出たとき、店長は手を止めずに代替候補への連絡と調整を進めたい。AIは事前に許可された勤務条件と連絡範囲で動き、埋まったシフト、または未解決の不足だけを店長に返す。</a:t>
            </a:r>
          </a:p>
          <a:p xmlns:a="http://schemas.openxmlformats.org/drawingml/2006/main">
            <a:r>
              <a:t/>
            </a:r>
          </a:p>
          <a:p xmlns:a="http://schemas.openxmlformats.org/drawingml/2006/main">
            <a:r>
              <a:t>### デモに使う架空ケース</a:t>
            </a:r>
          </a:p>
          <a:p xmlns:a="http://schemas.openxmlformats.org/drawingml/2006/main">
            <a:r>
              <a:t/>
            </a:r>
          </a:p>
          <a:p xmlns:a="http://schemas.openxmlformats.org/drawingml/2006/main">
            <a:r>
              <a:t>必要枠は18〜22時のホール担当1人。Aは18〜22時に勤務可能だが辞退。Bは「19時から22時なら入れます」と返答。Cは18〜19時の勤務に承諾する。全員について担当スキル、既存勤務との重複、店側が設定した勤務上限、本人の連絡許可を確認する。</a:t>
            </a:r>
          </a:p>
          <a:p xmlns:a="http://schemas.openxmlformats.org/drawingml/2006/main">
            <a:r>
              <a:t/>
            </a:r>
          </a:p>
          <a:p xmlns:a="http://schemas.openxmlformats.org/drawingml/2006/main">
            <a:r>
              <a:t>AIはBの返答から不足時間18〜19時を認識し、候補Cへ打診する。BとCの両方が確定した時点でシフト表を更新して読戻す。候補の選定に健康情報・家庭事情・年齢等のセンシティブ属性を使わず、必要な勤務条件と本人の意思だけを使う。辞退理由を他人へ伝えない。</a:t>
            </a:r>
          </a:p>
          <a:p xmlns:a="http://schemas.openxmlformats.org/drawingml/2006/main">
            <a:r>
              <a:t/>
            </a:r>
          </a:p>
          <a:p xmlns:a="http://schemas.openxmlformats.org/drawingml/2006/main">
            <a:r>
              <a:t>### 状態と終了</a:t>
            </a:r>
          </a:p>
          <a:p xmlns:a="http://schemas.openxmlformats.org/drawingml/2006/main">
            <a:r>
              <a:t/>
            </a:r>
          </a:p>
          <a:p xmlns:a="http://schemas.openxmlformats.org/drawingml/2006/main">
            <a:r>
              <a:t>| 状態 | 進める条件 | 次の動作 |</a:t>
            </a:r>
          </a:p>
          <a:p xmlns:a="http://schemas.openxmlformats.org/drawingml/2006/main">
            <a:r>
              <a:t>|---|---|---|</a:t>
            </a:r>
          </a:p>
          <a:p xmlns:a="http://schemas.openxmlformats.org/drawingml/2006/main">
            <a:r>
              <a:t>| 受付 | 対象シフト、欠勤時間、必要スキルが揃う | 不足時間を計算 |</a:t>
            </a:r>
          </a:p>
          <a:p xmlns:a="http://schemas.openxmlformats.org/drawingml/2006/main">
            <a:r>
              <a:t>| 計画 | 候補が制約を満たす | 許可された候補へ打診 |</a:t>
            </a:r>
          </a:p>
          <a:p xmlns:a="http://schemas.openxmlformats.org/drawingml/2006/main">
            <a:r>
              <a:t>| 返信待ち | 返答または設定した期限に到達 | 意図・時間を抽出して検査 |</a:t>
            </a:r>
          </a:p>
          <a:p xmlns:a="http://schemas.openxmlformats.org/drawingml/2006/main">
            <a:r>
              <a:t>| 再計画 | 辞退、部分承諾、無応答 | 未充足時間と未打診候補を再評価 |</a:t>
            </a:r>
          </a:p>
          <a:p xmlns:a="http://schemas.openxmlformats.org/drawingml/2006/main">
            <a:r>
              <a:t>| 確定準備 | 必要時間の承諾が揃う | 最新シフトを再読込、競合と権限を検査 |</a:t>
            </a:r>
          </a:p>
          <a:p xmlns:a="http://schemas.openxmlformats.org/drawingml/2006/main">
            <a:r>
              <a:t>| 更新・確認 | 一意の実行IDと対象バージョンが一致 | 一度だけ更新し、読戻しで結果を確認 |</a:t>
            </a:r>
          </a:p>
          <a:p xmlns:a="http://schemas.openxmlformats.org/drawingml/2006/main">
            <a:r>
              <a:t>| 完了 | 全時間の充足と読戻しが成功 | 店長へ結果を報告 |</a:t>
            </a:r>
          </a:p>
          <a:p xmlns:a="http://schemas.openxmlformats.org/drawingml/2006/main">
            <a:r>
              <a:t>| 引き継ぎ | 候補枯渇、矛盾、期限、予算、回数上限、更新結果不明 | 未確定枠、根拠、実行済み操作を提示して停止 |</a:t>
            </a:r>
          </a:p>
          <a:p xmlns:a="http://schemas.openxmlformats.org/drawingml/2006/main">
            <a:r>
              <a:t/>
            </a:r>
          </a:p>
          <a:p xmlns:a="http://schemas.openxmlformats.org/drawingml/2006/main">
            <a:r>
              <a:t>シフトを確定する直前に元のシフトの版を確認する。並行して店長が更新した場合は、そのまま上書きしない。期限後の承諾は自動的に有効な承諾に戻さない。訂正依頼や撤回は新しいイベントとして扱う。</a:t>
            </a:r>
          </a:p>
          <a:p xmlns:a="http://schemas.openxmlformats.org/drawingml/2006/main">
            <a:r>
              <a:t/>
            </a:r>
          </a:p>
          <a:p xmlns:a="http://schemas.openxmlformats.org/drawingml/2006/main">
            <a:r>
              <a:t>### AI、コード、人の分担</a:t>
            </a:r>
          </a:p>
          <a:p xmlns:a="http://schemas.openxmlformats.org/drawingml/2006/main">
            <a:r>
              <a:t/>
            </a:r>
          </a:p>
          <a:p xmlns:a="http://schemas.openxmlformats.org/drawingml/2006/main">
            <a:r>
              <a:t>- AI：自然文の返答から条件を抽出、曖昧さを検出、追加確認や次の行動を選択、簡潔な連絡文を作成。</a:t>
            </a:r>
          </a:p>
          <a:p xmlns:a="http://schemas.openxmlformats.org/drawingml/2006/main">
            <a:r>
              <a:t>- コード：勤務条件、時間の充足、候補順のルール、連絡先、権限、同時更新、一度だけの実行、予算を検査。</a:t>
            </a:r>
          </a:p>
          <a:p xmlns:a="http://schemas.openxmlformats.org/drawingml/2006/main">
            <a:r>
              <a:t>- 人：事前の勤務・連絡ルール設定。範囲外の判断や未解決ケースを受け取る。</a:t>
            </a:r>
          </a:p>
          <a:p xmlns:a="http://schemas.openxmlformats.org/drawingml/2006/main">
            <a:r>
              <a:t/>
            </a:r>
          </a:p>
          <a:p xmlns:a="http://schemas.openxmlformats.org/drawingml/2006/main">
            <a:r>
              <a:t>承認ボタンを毎回押す設計にはしない。事前に許可した操作だけを自律実行する。モデルの判断で許可範囲を広げない。</a:t>
            </a:r>
          </a:p>
          <a:p xmlns:a="http://schemas.openxmlformats.org/drawingml/2006/main">
            <a:r>
              <a:t/>
            </a:r>
          </a:p>
          <a:p xmlns:a="http://schemas.openxmlformats.org/drawingml/2006/main">
            <a:r>
              <a:t/>
            </a:r>
          </a:p>
          <a:p xmlns:a="http://schemas.openxmlformats.org/drawingml/2006/main">
            <a:r>
              <a:t/>
            </a:r>
          </a:p>
          <a:p xmlns:a="http://schemas.openxmlformats.org/drawingml/2006/main">
            <a:r>
              <a:t>参照資料（確認日：2026年9月19日）</a:t>
            </a:r>
          </a:p>
          <a:p xmlns:a="http://schemas.openxmlformats.org/drawingml/2006/main">
            <a:r>
              <a:t>ユーザー提供条件：4日間、詳しい人・協力先なし。チーム人数は未確認。2026年9月19日。</a:t>
            </a:r>
          </a:p>
          <a:p xmlns:a="http://schemas.openxmlformats.org/drawingml/2006/main">
            <a:r>
              <a:t/>
            </a:r>
          </a:p>
          <a:p xmlns:a="http://schemas.openxmlformats.org/drawingml/2006/main">
            <a:r>
              <a:t>設計提案・評価計画であり、実装・実測・チーム合意は未実施。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6. 案05の完成像</a:t>
            </a:r>
          </a:p>
          <a:p xmlns:a="http://schemas.openxmlformats.org/drawingml/2006/main">
            <a:r>
              <a:t/>
            </a:r>
          </a:p>
          <a:p xmlns:a="http://schemas.openxmlformats.org/drawingml/2006/main">
            <a:r>
              <a:t>### ジョブストーリー</a:t>
            </a:r>
          </a:p>
          <a:p xmlns:a="http://schemas.openxmlformats.org/drawingml/2006/main">
            <a:r>
              <a:t/>
            </a:r>
          </a:p>
          <a:p xmlns:a="http://schemas.openxmlformats.org/drawingml/2006/main">
            <a:r>
              <a:t>夕方の営業準備中に欠勤が出たとき、店長は手を止めずに代替候補への連絡と調整を進めたい。AIは事前に許可された勤務条件と連絡範囲で動き、埋まったシフト、または未解決の不足だけを店長に返す。</a:t>
            </a:r>
          </a:p>
          <a:p xmlns:a="http://schemas.openxmlformats.org/drawingml/2006/main">
            <a:r>
              <a:t/>
            </a:r>
          </a:p>
          <a:p xmlns:a="http://schemas.openxmlformats.org/drawingml/2006/main">
            <a:r>
              <a:t>### デモに使う架空ケース</a:t>
            </a:r>
          </a:p>
          <a:p xmlns:a="http://schemas.openxmlformats.org/drawingml/2006/main">
            <a:r>
              <a:t/>
            </a:r>
          </a:p>
          <a:p xmlns:a="http://schemas.openxmlformats.org/drawingml/2006/main">
            <a:r>
              <a:t>必要枠は18〜22時のホール担当1人。Aは18〜22時に勤務可能だが辞退。Bは「19時から22時なら入れます」と返答。Cは18〜19時の勤務に承諾する。全員について担当スキル、既存勤務との重複、店側が設定した勤務上限、本人の連絡許可を確認する。</a:t>
            </a:r>
          </a:p>
          <a:p xmlns:a="http://schemas.openxmlformats.org/drawingml/2006/main">
            <a:r>
              <a:t/>
            </a:r>
          </a:p>
          <a:p xmlns:a="http://schemas.openxmlformats.org/drawingml/2006/main">
            <a:r>
              <a:t>AIはBの返答から不足時間18〜19時を認識し、候補Cへ打診する。BとCの両方が確定した時点でシフト表を更新して読戻す。候補の選定に健康情報・家庭事情・年齢等のセンシティブ属性を使わず、必要な勤務条件と本人の意思だけを使う。辞退理由を他人へ伝えない。</a:t>
            </a:r>
          </a:p>
          <a:p xmlns:a="http://schemas.openxmlformats.org/drawingml/2006/main">
            <a:r>
              <a:t/>
            </a:r>
          </a:p>
          <a:p xmlns:a="http://schemas.openxmlformats.org/drawingml/2006/main">
            <a:r>
              <a:t>### 状態と終了</a:t>
            </a:r>
          </a:p>
          <a:p xmlns:a="http://schemas.openxmlformats.org/drawingml/2006/main">
            <a:r>
              <a:t/>
            </a:r>
          </a:p>
          <a:p xmlns:a="http://schemas.openxmlformats.org/drawingml/2006/main">
            <a:r>
              <a:t>| 状態 | 進める条件 | 次の動作 |</a:t>
            </a:r>
          </a:p>
          <a:p xmlns:a="http://schemas.openxmlformats.org/drawingml/2006/main">
            <a:r>
              <a:t>|---|---|---|</a:t>
            </a:r>
          </a:p>
          <a:p xmlns:a="http://schemas.openxmlformats.org/drawingml/2006/main">
            <a:r>
              <a:t>| 受付 | 対象シフト、欠勤時間、必要スキルが揃う | 不足時間を計算 |</a:t>
            </a:r>
          </a:p>
          <a:p xmlns:a="http://schemas.openxmlformats.org/drawingml/2006/main">
            <a:r>
              <a:t>| 計画 | 候補が制約を満たす | 許可された候補へ打診 |</a:t>
            </a:r>
          </a:p>
          <a:p xmlns:a="http://schemas.openxmlformats.org/drawingml/2006/main">
            <a:r>
              <a:t>| 返信待ち | 返答または設定した期限に到達 | 意図・時間を抽出して検査 |</a:t>
            </a:r>
          </a:p>
          <a:p xmlns:a="http://schemas.openxmlformats.org/drawingml/2006/main">
            <a:r>
              <a:t>| 再計画 | 辞退、部分承諾、無応答 | 未充足時間と未打診候補を再評価 |</a:t>
            </a:r>
          </a:p>
          <a:p xmlns:a="http://schemas.openxmlformats.org/drawingml/2006/main">
            <a:r>
              <a:t>| 確定準備 | 必要時間の承諾が揃う | 最新シフトを再読込、競合と権限を検査 |</a:t>
            </a:r>
          </a:p>
          <a:p xmlns:a="http://schemas.openxmlformats.org/drawingml/2006/main">
            <a:r>
              <a:t>| 更新・確認 | 一意の実行IDと対象バージョンが一致 | 一度だけ更新し、読戻しで結果を確認 |</a:t>
            </a:r>
          </a:p>
          <a:p xmlns:a="http://schemas.openxmlformats.org/drawingml/2006/main">
            <a:r>
              <a:t>| 完了 | 全時間の充足と読戻しが成功 | 店長へ結果を報告 |</a:t>
            </a:r>
          </a:p>
          <a:p xmlns:a="http://schemas.openxmlformats.org/drawingml/2006/main">
            <a:r>
              <a:t>| 引き継ぎ | 候補枯渇、矛盾、期限、予算、回数上限、更新結果不明 | 未確定枠、根拠、実行済み操作を提示して停止 |</a:t>
            </a:r>
          </a:p>
          <a:p xmlns:a="http://schemas.openxmlformats.org/drawingml/2006/main">
            <a:r>
              <a:t/>
            </a:r>
          </a:p>
          <a:p xmlns:a="http://schemas.openxmlformats.org/drawingml/2006/main">
            <a:r>
              <a:t>シフトを確定する直前に元のシフトの版を確認する。並行して店長が更新した場合は、そのまま上書きしない。期限後の承諾は自動的に有効な承諾に戻さない。訂正依頼や撤回は新しいイベントとして扱う。</a:t>
            </a:r>
          </a:p>
          <a:p xmlns:a="http://schemas.openxmlformats.org/drawingml/2006/main">
            <a:r>
              <a:t/>
            </a:r>
          </a:p>
          <a:p xmlns:a="http://schemas.openxmlformats.org/drawingml/2006/main">
            <a:r>
              <a:t>### AI、コード、人の分担</a:t>
            </a:r>
          </a:p>
          <a:p xmlns:a="http://schemas.openxmlformats.org/drawingml/2006/main">
            <a:r>
              <a:t/>
            </a:r>
          </a:p>
          <a:p xmlns:a="http://schemas.openxmlformats.org/drawingml/2006/main">
            <a:r>
              <a:t>- AI：自然文の返答から条件を抽出、曖昧さを検出、追加確認や次の行動を選択、簡潔な連絡文を作成。</a:t>
            </a:r>
          </a:p>
          <a:p xmlns:a="http://schemas.openxmlformats.org/drawingml/2006/main">
            <a:r>
              <a:t>- コード：勤務条件、時間の充足、候補順のルール、連絡先、権限、同時更新、一度だけの実行、予算を検査。</a:t>
            </a:r>
          </a:p>
          <a:p xmlns:a="http://schemas.openxmlformats.org/drawingml/2006/main">
            <a:r>
              <a:t>- 人：事前の勤務・連絡ルール設定。範囲外の判断や未解決ケースを受け取る。</a:t>
            </a:r>
          </a:p>
          <a:p xmlns:a="http://schemas.openxmlformats.org/drawingml/2006/main">
            <a:r>
              <a:t/>
            </a:r>
          </a:p>
          <a:p xmlns:a="http://schemas.openxmlformats.org/drawingml/2006/main">
            <a:r>
              <a:t>承認ボタンを毎回押す設計にはしない。事前に許可した操作だけを自律実行する。モデルの判断で許可範囲を広げない。</a:t>
            </a:r>
          </a:p>
          <a:p xmlns:a="http://schemas.openxmlformats.org/drawingml/2006/main">
            <a:r>
              <a:t/>
            </a:r>
          </a:p>
          <a:p xmlns:a="http://schemas.openxmlformats.org/drawingml/2006/main">
            <a:r>
              <a:t/>
            </a:r>
          </a:p>
          <a:p xmlns:a="http://schemas.openxmlformats.org/drawingml/2006/main">
            <a:r>
              <a:t/>
            </a:r>
          </a:p>
          <a:p xmlns:a="http://schemas.openxmlformats.org/drawingml/2006/main">
            <a:r>
              <a:t>## 8. 共通アーキテクチャと責任範囲</a:t>
            </a:r>
          </a:p>
          <a:p xmlns:a="http://schemas.openxmlformats.org/drawingml/2006/main">
            <a:r>
              <a:t/>
            </a:r>
          </a:p>
          <a:p xmlns:a="http://schemas.openxmlformats.org/drawingml/2006/main">
            <a:r>
              <a:t>| 部分 | 担当すること | 担当させないこと |</a:t>
            </a:r>
          </a:p>
          <a:p xmlns:a="http://schemas.openxmlformats.org/drawingml/2006/main">
            <a:r>
              <a:t>|---|---|---|</a:t>
            </a:r>
          </a:p>
          <a:p xmlns:a="http://schemas.openxmlformats.org/drawingml/2006/main">
            <a:r>
              <a:t>| 入力・データ前処理 | 架空データ、必要項目への絞り込み、スタッフ／取引先のID化 | 実名や不要な生データの丸ごと送信 |</a:t>
            </a:r>
          </a:p>
          <a:p xmlns:a="http://schemas.openxmlformats.org/drawingml/2006/main">
            <a:r>
              <a:t>| エージェント実行部 | 状態、次の行動、結果観測、再計画、予算・期限・停止 | 無制限のループ、未検証の更新 |</a:t>
            </a:r>
          </a:p>
          <a:p xmlns:a="http://schemas.openxmlformats.org/drawingml/2006/main">
            <a:r>
              <a:t>| OrcaRouter | 利用できるモデルへの接続、確認した振り分け機能、取得可能な推論ログ | 業務の最終的な正しさの保証 |</a:t>
            </a:r>
          </a:p>
          <a:p xmlns:a="http://schemas.openxmlformats.org/drawingml/2006/main">
            <a:r>
              <a:t>| 制約検査・ツール実行部 | 宛先・権限・数値・時間・対象版の検査、一意の実行ID、結果確認 | モデルの文章をそのまま実行権限にすること |</a:t>
            </a:r>
          </a:p>
          <a:p xmlns:a="http://schemas.openxmlformats.org/drawingml/2006/main">
            <a:r>
              <a:t>| 業務状態・履歴 | 実行ID、対象、前後の状態、証拠ID、承認、結果、再開位置 | APIキー、不要な個人情報、モデルの内部思考の保存 |</a:t>
            </a:r>
          </a:p>
          <a:p xmlns:a="http://schemas.openxmlformats.org/drawingml/2006/main">
            <a:r>
              <a:t>| UI | 業務結果と不足、使ったモデル、規則、費用、検証結果の要約 | 根拠のない「完全安全」「必ず正しい」表示 |</a:t>
            </a:r>
          </a:p>
          <a:p xmlns:a="http://schemas.openxmlformats.org/drawingml/2006/main">
            <a:r>
              <a:t/>
            </a:r>
          </a:p>
          <a:p xmlns:a="http://schemas.openxmlformats.org/drawingml/2006/main">
            <a:r>
              <a:t>ツールは小さな許可済み操作に分ける。案05は候補取得・打診・シフト反映、案02は証拠取得・照会・照合台帳反映を基本とする。モデルが生成した宛先や任意SQLを直接実行せず、IDからアプリが許可済み対象へ解決する。APIキーはサーバー側に置く。</a:t>
            </a:r>
          </a:p>
          <a:p xmlns:a="http://schemas.openxmlformats.org/drawingml/2006/main">
            <a:r>
              <a:t/>
            </a:r>
          </a:p>
          <a:p xmlns:a="http://schemas.openxmlformats.org/drawingml/2006/main">
            <a:r>
              <a:t/>
            </a:r>
          </a:p>
          <a:p xmlns:a="http://schemas.openxmlformats.org/drawingml/2006/main">
            <a:r>
              <a:t/>
            </a:r>
          </a:p>
          <a:p xmlns:a="http://schemas.openxmlformats.org/drawingml/2006/main">
            <a:r>
              <a:t>参照資料（確認日：2026年9月19日）</a:t>
            </a:r>
          </a:p>
          <a:p xmlns:a="http://schemas.openxmlformats.org/drawingml/2006/main">
            <a:r>
              <a:t>ユーザー提供条件：4日間、詳しい人・協力先なし。チーム人数は未確認。2026年9月19日。</a:t>
            </a:r>
          </a:p>
          <a:p xmlns:a="http://schemas.openxmlformats.org/drawingml/2006/main">
            <a:r>
              <a:t/>
            </a:r>
          </a:p>
          <a:p xmlns:a="http://schemas.openxmlformats.org/drawingml/2006/main">
            <a:r>
              <a:t>設計提案・評価計画であり、実装・実測・チーム合意は未実施。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7. 案02を採る場合の完成像と採用条件</a:t>
            </a:r>
          </a:p>
          <a:p xmlns:a="http://schemas.openxmlformats.org/drawingml/2006/main">
            <a:r>
              <a:t/>
            </a:r>
          </a:p>
          <a:p xmlns:a="http://schemas.openxmlformats.org/drawingml/2006/main">
            <a:r>
              <a:t>### ジョブストーリーと架空ケース</a:t>
            </a:r>
          </a:p>
          <a:p xmlns:a="http://schemas.openxmlformats.org/drawingml/2006/main">
            <a:r>
              <a:t/>
            </a:r>
          </a:p>
          <a:p xmlns:a="http://schemas.openxmlformats.org/drawingml/2006/main">
            <a:r>
              <a:t>発注数量100個に対して受領済み60個、届いた請求書は100個分という差分を扱う。デモ用の取引条件は「今回の検収済み数量だけ請求」と明記する。これを一般的な商慣行だとは主張しない。</a:t>
            </a:r>
          </a:p>
          <a:p xmlns:a="http://schemas.openxmlformats.org/drawingml/2006/main">
            <a:r>
              <a:t/>
            </a:r>
          </a:p>
          <a:p xmlns:a="http://schemas.openxmlformats.org/drawingml/2006/main">
            <a:r>
              <a:t>税・送料を扱わないテストデータで単価1,000円なら、発注総額100,000円、今回の検収相当額60,000円、差分40,000円。取引先が「残り40個は翌便。今回分を60個に修正」と回答し、修正請求書を出した後、AIが再照合を行う。照合台帳は今回分を「照合済み」、残り40個の発注残を「未納のまま」とする。発注総数を書き換えて帳尻を合わせない。</a:t>
            </a:r>
          </a:p>
          <a:p xmlns:a="http://schemas.openxmlformats.org/drawingml/2006/main">
            <a:r>
              <a:t/>
            </a:r>
          </a:p>
          <a:p xmlns:a="http://schemas.openxmlformats.org/drawingml/2006/main">
            <a:r>
              <a:t>### 自律ループ</a:t>
            </a:r>
          </a:p>
          <a:p xmlns:a="http://schemas.openxmlformats.org/drawingml/2006/main">
            <a:r>
              <a:t/>
            </a:r>
          </a:p>
          <a:p xmlns:a="http://schemas.openxmlformats.org/drawingml/2006/main">
            <a:r>
              <a:t>CSV検査、数量・単価の照合、根拠の取得、許可された取引先への照会、回答と修正版の受付、再照合、限定台帳への反映、読戻しまで実装する。相手が「正しいです」と返信しただけでは解消にしない。参照する証拠のIDと版、当該取引条件、修正後の数値が一致した場合に限る。</a:t>
            </a:r>
          </a:p>
          <a:p xmlns:a="http://schemas.openxmlformats.org/drawingml/2006/main">
            <a:r>
              <a:t/>
            </a:r>
          </a:p>
          <a:p xmlns:a="http://schemas.openxmlformats.org/drawingml/2006/main">
            <a:r>
              <a:t>### 案02の強みと負担</a:t>
            </a:r>
          </a:p>
          <a:p xmlns:a="http://schemas.openxmlformats.org/drawingml/2006/main">
            <a:r>
              <a:t/>
            </a:r>
          </a:p>
          <a:p xmlns:a="http://schemas.openxmlformats.org/drawingml/2006/main">
            <a:r>
              <a:t>- 強み：金額・数量に明確な正解を設けやすく、誤った更新を拒否した証拠を示せる。比較・計算をコードに寄せれば推論費を抑えられる。</a:t>
            </a:r>
          </a:p>
          <a:p xmlns:a="http://schemas.openxmlformats.org/drawingml/2006/main">
            <a:r>
              <a:t>- 負担：何をもって差分解消とするかの業務条件を、専門家なしで誤解なく定義する必要がある。原案の「合意でERP更新」は権限や対象範囲の説明が不足する。</a:t>
            </a:r>
          </a:p>
          <a:p xmlns:a="http://schemas.openxmlformats.org/drawingml/2006/main">
            <a:r>
              <a:t>- 採用への切替条件：Day 1中間までに、正解付きケース、返信・修正版・台帳更新の通し動作、原資料まで辿れる根拠表示を用意できること。05に固有の障害がなければ、完成度を優先して05を続ける。</a:t>
            </a:r>
          </a:p>
          <a:p xmlns:a="http://schemas.openxmlformats.org/drawingml/2006/main">
            <a:r>
              <a:t/>
            </a:r>
          </a:p>
          <a:p xmlns:a="http://schemas.openxmlformats.org/drawingml/2006/main">
            <a:r>
              <a:t/>
            </a:r>
          </a:p>
          <a:p xmlns:a="http://schemas.openxmlformats.org/drawingml/2006/main">
            <a:r>
              <a:t/>
            </a:r>
          </a:p>
          <a:p xmlns:a="http://schemas.openxmlformats.org/drawingml/2006/main">
            <a:r>
              <a:t>参照資料（確認日：2026年9月19日）</a:t>
            </a:r>
          </a:p>
          <a:p xmlns:a="http://schemas.openxmlformats.org/drawingml/2006/main">
            <a:r>
              <a:t>元企画書 https://docs.google.com/document/d/1QBzy0iRmDaJL48Z6yTGGEkUaizDED3lCE9ZFU-AFbyM/edit</a:t>
            </a:r>
          </a:p>
          <a:p xmlns:a="http://schemas.openxmlformats.org/drawingml/2006/main">
            <a:r>
              <a:t/>
            </a:r>
          </a:p>
          <a:p xmlns:a="http://schemas.openxmlformats.org/drawingml/2006/main">
            <a:r>
              <a:t>設計提案・評価計画であり、実装・実測・チーム合意は未実施。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7. 案02を採る場合の完成像と採用条件</a:t>
            </a:r>
          </a:p>
          <a:p xmlns:a="http://schemas.openxmlformats.org/drawingml/2006/main">
            <a:r>
              <a:t/>
            </a:r>
          </a:p>
          <a:p xmlns:a="http://schemas.openxmlformats.org/drawingml/2006/main">
            <a:r>
              <a:t>### ジョブストーリーと架空ケース</a:t>
            </a:r>
          </a:p>
          <a:p xmlns:a="http://schemas.openxmlformats.org/drawingml/2006/main">
            <a:r>
              <a:t/>
            </a:r>
          </a:p>
          <a:p xmlns:a="http://schemas.openxmlformats.org/drawingml/2006/main">
            <a:r>
              <a:t>発注数量100個に対して受領済み60個、届いた請求書は100個分という差分を扱う。デモ用の取引条件は「今回の検収済み数量だけ請求」と明記する。これを一般的な商慣行だとは主張しない。</a:t>
            </a:r>
          </a:p>
          <a:p xmlns:a="http://schemas.openxmlformats.org/drawingml/2006/main">
            <a:r>
              <a:t/>
            </a:r>
          </a:p>
          <a:p xmlns:a="http://schemas.openxmlformats.org/drawingml/2006/main">
            <a:r>
              <a:t>税・送料を扱わないテストデータで単価1,000円なら、発注総額100,000円、今回の検収相当額60,000円、差分40,000円。取引先が「残り40個は翌便。今回分を60個に修正」と回答し、修正請求書を出した後、AIが再照合を行う。照合台帳は今回分を「照合済み」、残り40個の発注残を「未納のまま」とする。発注総数を書き換えて帳尻を合わせない。</a:t>
            </a:r>
          </a:p>
          <a:p xmlns:a="http://schemas.openxmlformats.org/drawingml/2006/main">
            <a:r>
              <a:t/>
            </a:r>
          </a:p>
          <a:p xmlns:a="http://schemas.openxmlformats.org/drawingml/2006/main">
            <a:r>
              <a:t>### 自律ループ</a:t>
            </a:r>
          </a:p>
          <a:p xmlns:a="http://schemas.openxmlformats.org/drawingml/2006/main">
            <a:r>
              <a:t/>
            </a:r>
          </a:p>
          <a:p xmlns:a="http://schemas.openxmlformats.org/drawingml/2006/main">
            <a:r>
              <a:t>CSV検査、数量・単価の照合、根拠の取得、許可された取引先への照会、回答と修正版の受付、再照合、限定台帳への反映、読戻しまで実装する。相手が「正しいです」と返信しただけでは解消にしない。参照する証拠のIDと版、当該取引条件、修正後の数値が一致した場合に限る。</a:t>
            </a:r>
          </a:p>
          <a:p xmlns:a="http://schemas.openxmlformats.org/drawingml/2006/main">
            <a:r>
              <a:t/>
            </a:r>
          </a:p>
          <a:p xmlns:a="http://schemas.openxmlformats.org/drawingml/2006/main">
            <a:r>
              <a:t>### 案02の強みと負担</a:t>
            </a:r>
          </a:p>
          <a:p xmlns:a="http://schemas.openxmlformats.org/drawingml/2006/main">
            <a:r>
              <a:t/>
            </a:r>
          </a:p>
          <a:p xmlns:a="http://schemas.openxmlformats.org/drawingml/2006/main">
            <a:r>
              <a:t>- 強み：金額・数量に明確な正解を設けやすく、誤った更新を拒否した証拠を示せる。比較・計算をコードに寄せれば推論費を抑えられる。</a:t>
            </a:r>
          </a:p>
          <a:p xmlns:a="http://schemas.openxmlformats.org/drawingml/2006/main">
            <a:r>
              <a:t>- 負担：何をもって差分解消とするかの業務条件を、専門家なしで誤解なく定義する必要がある。原案の「合意でERP更新」は権限や対象範囲の説明が不足する。</a:t>
            </a:r>
          </a:p>
          <a:p xmlns:a="http://schemas.openxmlformats.org/drawingml/2006/main">
            <a:r>
              <a:t>- 採用への切替条件：Day 1中間までに、正解付きケース、返信・修正版・台帳更新の通し動作、原資料まで辿れる根拠表示を用意できること。05に固有の障害がなければ、完成度を優先して05を続ける。</a:t>
            </a:r>
          </a:p>
          <a:p xmlns:a="http://schemas.openxmlformats.org/drawingml/2006/main">
            <a:r>
              <a:t/>
            </a:r>
          </a:p>
          <a:p xmlns:a="http://schemas.openxmlformats.org/drawingml/2006/main">
            <a:r>
              <a:t/>
            </a:r>
          </a:p>
          <a:p xmlns:a="http://schemas.openxmlformats.org/drawingml/2006/main">
            <a:r>
              <a:t/>
            </a:r>
          </a:p>
          <a:p xmlns:a="http://schemas.openxmlformats.org/drawingml/2006/main">
            <a:r>
              <a:t>## 15. 採用確定・切替・縮小のルール</a:t>
            </a:r>
          </a:p>
          <a:p xmlns:a="http://schemas.openxmlformats.org/drawingml/2006/main">
            <a:r>
              <a:t/>
            </a:r>
          </a:p>
          <a:p xmlns:a="http://schemas.openxmlformats.org/drawingml/2006/main">
            <a:r>
              <a:t>| 判断時点 | 条件 | 決定 |</a:t>
            </a:r>
          </a:p>
          <a:p xmlns:a="http://schemas.openxmlformats.org/drawingml/2006/main">
            <a:r>
              <a:t>|---|---|---|</a:t>
            </a:r>
          </a:p>
          <a:p xmlns:a="http://schemas.openxmlformats.org/drawingml/2006/main">
            <a:r>
              <a:t>| 初期方針 | 4日間、専門家・協力先なし | 案05の欠勤調整を採用提案 |</a:t>
            </a:r>
          </a:p>
          <a:p xmlns:a="http://schemas.openxmlformats.org/drawingml/2006/main">
            <a:r>
              <a:t>| Day 1中間 | 05の通し動作が成立し、禁止条件を定義できる | 05を固定して進める |</a:t>
            </a:r>
          </a:p>
          <a:p xmlns:a="http://schemas.openxmlformats.org/drawingml/2006/main">
            <a:r>
              <a:t>| Day 1中間 | 05固有の障害があり、02の正解データ・通し動作が既に揃う | 02への切替を1回だけ検討 |</a:t>
            </a:r>
          </a:p>
          <a:p xmlns:a="http://schemas.openxmlformats.org/drawingml/2006/main">
            <a:r>
              <a:t>| Day 1中間 | OrcaRouterの接続・必須機能に問題 | 共通障害を解決。題材変更で解決したことにしない |</a:t>
            </a:r>
          </a:p>
          <a:p xmlns:a="http://schemas.openxmlformats.org/drawingml/2006/main">
            <a:r>
              <a:t>| Day 2終了 | 自律ループが未完成 | 05の候補数・連携・画面を縮小。別案へ全面変更しない |</a:t>
            </a:r>
          </a:p>
          <a:p xmlns:a="http://schemas.openxmlformats.org/drawingml/2006/main">
            <a:r>
              <a:t>| Day 3終了 | 制約違反や誤更新が残る | 対象操作を止め、修正・再検証。安全を未実証のまま断言しない |</a:t>
            </a:r>
          </a:p>
          <a:p xmlns:a="http://schemas.openxmlformats.org/drawingml/2006/main">
            <a:r>
              <a:t/>
            </a:r>
          </a:p>
          <a:p xmlns:a="http://schemas.openxmlformats.org/drawingml/2006/main">
            <a:r>
              <a:t>Day 1終了までに決める項目：チーム人数・担当・稼働時間、必要な接続情報、モデルと利用予算、打診期限、呼び出し上限、実装とモックの境界、デモ時間、評価ケース、公式の配点・利用条件。</a:t>
            </a:r>
          </a:p>
          <a:p xmlns:a="http://schemas.openxmlformats.org/drawingml/2006/main">
            <a:r>
              <a:t/>
            </a:r>
          </a:p>
          <a:p xmlns:a="http://schemas.openxmlformats.org/drawingml/2006/main">
            <a:r>
              <a:t/>
            </a:r>
          </a:p>
          <a:p xmlns:a="http://schemas.openxmlformats.org/drawingml/2006/main">
            <a:r>
              <a:t/>
            </a:r>
          </a:p>
          <a:p xmlns:a="http://schemas.openxmlformats.org/drawingml/2006/main">
            <a:r>
              <a:t>参照資料（確認日：2026年9月19日）</a:t>
            </a:r>
          </a:p>
          <a:p xmlns:a="http://schemas.openxmlformats.org/drawingml/2006/main">
            <a:r>
              <a:t>元企画書 https://docs.google.com/document/d/1QBzy0iRmDaJL48Z6yTGGEkUaizDED3lCE9ZFU-AFbyM/edit</a:t>
            </a:r>
          </a:p>
          <a:p xmlns:a="http://schemas.openxmlformats.org/drawingml/2006/main">
            <a:r>
              <a:t>ユーザー提供条件：4日間、詳しい人・協力先なし。チーム人数は未確認。2026年9月19日。</a:t>
            </a:r>
          </a:p>
          <a:p xmlns:a="http://schemas.openxmlformats.org/drawingml/2006/main">
            <a:r>
              <a:t/>
            </a:r>
          </a:p>
          <a:p xmlns:a="http://schemas.openxmlformats.org/drawingml/2006/main">
            <a:r>
              <a:t>設計提案・評価計画であり、実装・実測・チーム合意は未実施。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8. 共通アーキテクチャと責任範囲</a:t>
            </a:r>
          </a:p>
          <a:p xmlns:a="http://schemas.openxmlformats.org/drawingml/2006/main">
            <a:r>
              <a:t/>
            </a:r>
          </a:p>
          <a:p xmlns:a="http://schemas.openxmlformats.org/drawingml/2006/main">
            <a:r>
              <a:t>| 部分 | 担当すること | 担当させないこと |</a:t>
            </a:r>
          </a:p>
          <a:p xmlns:a="http://schemas.openxmlformats.org/drawingml/2006/main">
            <a:r>
              <a:t>|---|---|---|</a:t>
            </a:r>
          </a:p>
          <a:p xmlns:a="http://schemas.openxmlformats.org/drawingml/2006/main">
            <a:r>
              <a:t>| 入力・データ前処理 | 架空データ、必要項目への絞り込み、スタッフ／取引先のID化 | 実名や不要な生データの丸ごと送信 |</a:t>
            </a:r>
          </a:p>
          <a:p xmlns:a="http://schemas.openxmlformats.org/drawingml/2006/main">
            <a:r>
              <a:t>| エージェント実行部 | 状態、次の行動、結果観測、再計画、予算・期限・停止 | 無制限のループ、未検証の更新 |</a:t>
            </a:r>
          </a:p>
          <a:p xmlns:a="http://schemas.openxmlformats.org/drawingml/2006/main">
            <a:r>
              <a:t>| OrcaRouter | 利用できるモデルへの接続、確認した振り分け機能、取得可能な推論ログ | 業務の最終的な正しさの保証 |</a:t>
            </a:r>
          </a:p>
          <a:p xmlns:a="http://schemas.openxmlformats.org/drawingml/2006/main">
            <a:r>
              <a:t>| 制約検査・ツール実行部 | 宛先・権限・数値・時間・対象版の検査、一意の実行ID、結果確認 | モデルの文章をそのまま実行権限にすること |</a:t>
            </a:r>
          </a:p>
          <a:p xmlns:a="http://schemas.openxmlformats.org/drawingml/2006/main">
            <a:r>
              <a:t>| 業務状態・履歴 | 実行ID、対象、前後の状態、証拠ID、承認、結果、再開位置 | APIキー、不要な個人情報、モデルの内部思考の保存 |</a:t>
            </a:r>
          </a:p>
          <a:p xmlns:a="http://schemas.openxmlformats.org/drawingml/2006/main">
            <a:r>
              <a:t>| UI | 業務結果と不足、使ったモデル、規則、費用、検証結果の要約 | 根拠のない「完全安全」「必ず正しい」表示 |</a:t>
            </a:r>
          </a:p>
          <a:p xmlns:a="http://schemas.openxmlformats.org/drawingml/2006/main">
            <a:r>
              <a:t/>
            </a:r>
          </a:p>
          <a:p xmlns:a="http://schemas.openxmlformats.org/drawingml/2006/main">
            <a:r>
              <a:t>ツールは小さな許可済み操作に分ける。案05は候補取得・打診・シフト反映、案02は証拠取得・照会・照合台帳反映を基本とする。モデルが生成した宛先や任意SQLを直接実行せず、IDからアプリが許可済み対象へ解決する。APIキーはサーバー側に置く。</a:t>
            </a:r>
          </a:p>
          <a:p xmlns:a="http://schemas.openxmlformats.org/drawingml/2006/main">
            <a:r>
              <a:t/>
            </a:r>
          </a:p>
          <a:p xmlns:a="http://schemas.openxmlformats.org/drawingml/2006/main">
            <a:r>
              <a:t/>
            </a:r>
          </a:p>
          <a:p xmlns:a="http://schemas.openxmlformats.org/drawingml/2006/main">
            <a:r>
              <a:t/>
            </a:r>
          </a:p>
          <a:p xmlns:a="http://schemas.openxmlformats.org/drawingml/2006/main">
            <a:r>
              <a:t>参照資料（確認日：2026年9月19日）</a:t>
            </a:r>
          </a:p>
          <a:p xmlns:a="http://schemas.openxmlformats.org/drawingml/2006/main">
            <a:r>
              <a:t>OrcaRouter Routing DSL https://docs.orcarouter.ai/ja/routing/routing-dsl</a:t>
            </a:r>
          </a:p>
          <a:p xmlns:a="http://schemas.openxmlformats.org/drawingml/2006/main">
            <a:r>
              <a:t>OrcaRouter Request Logs https://www.orcarouter.ai/solutions/request-logs</a:t>
            </a:r>
          </a:p>
          <a:p xmlns:a="http://schemas.openxmlformats.org/drawingml/2006/main">
            <a:r>
              <a:t/>
            </a:r>
          </a:p>
          <a:p xmlns:a="http://schemas.openxmlformats.org/drawingml/2006/main">
            <a:r>
              <a:t>設計提案・評価計画であり、実装・実測・チーム合意は未実施。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9. OrcaRouterの活用とDay 1の実機確認</a:t>
            </a:r>
          </a:p>
          <a:p xmlns:a="http://schemas.openxmlformats.org/drawingml/2006/main">
            <a:r>
              <a:t/>
            </a:r>
          </a:p>
          <a:p xmlns:a="http://schemas.openxmlformats.org/drawingml/2006/main">
            <a:r>
              <a:t>正式名称は**OrcaRouter**。元資料のQrcaRouter表記を訂正する。公式Routing DSLには条件分岐や複数モデルを組み合わせる仕組みが記載されているが、提供アカウントでの利用可否・結果・計測項目は未検証。[S3]</a:t>
            </a:r>
          </a:p>
          <a:p xmlns:a="http://schemas.openxmlformats.org/drawingml/2006/main">
            <a:r>
              <a:t/>
            </a:r>
          </a:p>
          <a:p xmlns:a="http://schemas.openxmlformats.org/drawingml/2006/main">
            <a:r>
              <a:t>### 実装する使い分け</a:t>
            </a:r>
          </a:p>
          <a:p xmlns:a="http://schemas.openxmlformats.org/drawingml/2006/main">
            <a:r>
              <a:t/>
            </a:r>
          </a:p>
          <a:p xmlns:a="http://schemas.openxmlformats.org/drawingml/2006/main">
            <a:r>
              <a:t>| 呼び出し | モデル利用の方針 | 検証・切替条件 |</a:t>
            </a:r>
          </a:p>
          <a:p xmlns:a="http://schemas.openxmlformats.org/drawingml/2006/main">
            <a:r>
              <a:t>|---|---|---|</a:t>
            </a:r>
          </a:p>
          <a:p xmlns:a="http://schemas.openxmlformats.org/drawingml/2006/main">
            <a:r>
              <a:t>| 「不可」「19時から可能」等の構造化 | まず軽量モデルを候補にする | 必須項目・型・時間範囲をコードで検査 |</a:t>
            </a:r>
          </a:p>
          <a:p xmlns:a="http://schemas.openxmlformats.org/drawingml/2006/main">
            <a:r>
              <a:t>| 複数条件や矛盾を含む回答 | 高性能モデルを候補にする | 抽出失敗、矛盾、ツール検査失敗など観測可能な理由で昇格 |</a:t>
            </a:r>
          </a:p>
          <a:p xmlns:a="http://schemas.openxmlformats.org/drawingml/2006/main">
            <a:r>
              <a:t>| 合計・時間充足・数量・金額 | 通常のコード | モデル呼び出しなし |</a:t>
            </a:r>
          </a:p>
          <a:p xmlns:a="http://schemas.openxmlformats.org/drawingml/2006/main">
            <a:r>
              <a:t>| 追加のモデル検証 | 検証で改善が確認できた箇所だけ | 費用と遅延を計上。常時二重呼び出しを前提にしない |</a:t>
            </a:r>
          </a:p>
          <a:p xmlns:a="http://schemas.openxmlformats.org/drawingml/2006/main">
            <a:r>
              <a:t/>
            </a:r>
          </a:p>
          <a:p xmlns:a="http://schemas.openxmlformats.org/drawingml/2006/main">
            <a:r>
              <a:t>難易度の自己申告や「自信がある」という文章だけで振り分けない。アプリが判定した状態をルーターへ渡せる場合はその方法を実測し、使えない場合はアプリが許可済みモデルを選び、全推論をOrcaRouter経由で呼ぶ。その場合は「アプリ側選択」と正確に表示し、ネイティブ自動ルーティングと混同しない。利用条件との適合は運営資料で確認する。</a:t>
            </a:r>
          </a:p>
          <a:p xmlns:a="http://schemas.openxmlformats.org/drawingml/2006/main">
            <a:r>
              <a:t/>
            </a:r>
          </a:p>
          <a:p xmlns:a="http://schemas.openxmlformats.org/drawingml/2006/main">
            <a:r>
              <a:t>### 最初の60〜90分で残す記録</a:t>
            </a:r>
          </a:p>
          <a:p xmlns:a="http://schemas.openxmlformats.org/drawingml/2006/main">
            <a:r>
              <a:t/>
            </a:r>
          </a:p>
          <a:p xmlns:a="http://schemas.openxmlformats.org/drawingml/2006/main">
            <a:r>
              <a:t>1. API接続、利用可能モデル、残高・予算・制限を確認する。</a:t>
            </a:r>
          </a:p>
          <a:p xmlns:a="http://schemas.openxmlformats.org/drawingml/2006/main">
            <a:r>
              <a:t>2. 単純入力と条件付き入力を同じルーターへ送り、実際の行き先を確認する。</a:t>
            </a:r>
          </a:p>
          <a:p xmlns:a="http://schemas.openxmlformats.org/drawingml/2006/main">
            <a:r>
              <a:t>3. 自分たちのルール・設定がどの単位で適用されるかを確認する。</a:t>
            </a:r>
          </a:p>
          <a:p xmlns:a="http://schemas.openxmlformats.org/drawingml/2006/main">
            <a:r>
              <a:t>4. 実使用モデル、トークン、遅延、料金、リクエストIDの取得可否を確認する。</a:t>
            </a:r>
          </a:p>
          <a:p xmlns:a="http://schemas.openxmlformats.org/drawingml/2006/main">
            <a:r>
              <a:t>5. モデルの構造化出力・ツール利用形式を確認する。</a:t>
            </a:r>
          </a:p>
          <a:p xmlns:a="http://schemas.openxmlformats.org/drawingml/2006/main">
            <a:r>
              <a:t>6. 対象モデル失敗時の挙動、アプリ側の回数上限・予算制御を確認する。</a:t>
            </a:r>
          </a:p>
          <a:p xmlns:a="http://schemas.openxmlformats.org/drawingml/2006/main">
            <a:r>
              <a:t>7. プロンプト本文・応答がどこに記録されるか、保持設定を確認する。</a:t>
            </a:r>
          </a:p>
          <a:p xmlns:a="http://schemas.openxmlformats.org/drawingml/2006/main">
            <a:r>
              <a:t/>
            </a:r>
          </a:p>
          <a:p xmlns:a="http://schemas.openxmlformats.org/drawingml/2006/main">
            <a:r>
              <a:t>これはチームが今後行う検証であり、本資料の作成時に実行した検証ではない。ルーティング内容・料金の取得に失敗したら推定と明記し、請求額を捏造しない。公開仕様の記載とアカウントの実測を分けて管理する。</a:t>
            </a:r>
          </a:p>
          <a:p xmlns:a="http://schemas.openxmlformats.org/drawingml/2006/main">
            <a:r>
              <a:t/>
            </a:r>
          </a:p>
          <a:p xmlns:a="http://schemas.openxmlformats.org/drawingml/2006/main">
            <a:r>
              <a:t/>
            </a:r>
          </a:p>
          <a:p xmlns:a="http://schemas.openxmlformats.org/drawingml/2006/main">
            <a:r>
              <a:t/>
            </a:r>
          </a:p>
          <a:p xmlns:a="http://schemas.openxmlformats.org/drawingml/2006/main">
            <a:r>
              <a:t>参照資料（確認日：2026年9月19日）</a:t>
            </a:r>
          </a:p>
          <a:p xmlns:a="http://schemas.openxmlformats.org/drawingml/2006/main">
            <a:r>
              <a:t>OrcaRouter Routing DSL https://docs.orcarouter.ai/ja/routing/routing-dsl</a:t>
            </a:r>
          </a:p>
          <a:p xmlns:a="http://schemas.openxmlformats.org/drawingml/2006/main">
            <a:r>
              <a:t>OrcaRouter Request Logs https://www.orcarouter.ai/solutions/request-logs</a:t>
            </a:r>
          </a:p>
          <a:p xmlns:a="http://schemas.openxmlformats.org/drawingml/2006/main">
            <a:r>
              <a:t>OrcaRouter Session-Aware Routing https://www.orcarouter.ai/blog/orcarouter-session-aware-routing</a:t>
            </a:r>
          </a:p>
          <a:p xmlns:a="http://schemas.openxmlformats.org/drawingml/2006/main">
            <a:r>
              <a:t/>
            </a:r>
          </a:p>
          <a:p xmlns:a="http://schemas.openxmlformats.org/drawingml/2006/main">
            <a:r>
              <a:t>設計提案・評価計画であり、実装・実測・チーム合意は未実施。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9. OrcaRouterの活用とDay 1の実機確認</a:t>
            </a:r>
          </a:p>
          <a:p xmlns:a="http://schemas.openxmlformats.org/drawingml/2006/main">
            <a:r>
              <a:t/>
            </a:r>
          </a:p>
          <a:p xmlns:a="http://schemas.openxmlformats.org/drawingml/2006/main">
            <a:r>
              <a:t>正式名称は**OrcaRouter**。元資料のQrcaRouter表記を訂正する。公式Routing DSLには条件分岐や複数モデルを組み合わせる仕組みが記載されているが、提供アカウントでの利用可否・結果・計測項目は未検証。[S3]</a:t>
            </a:r>
          </a:p>
          <a:p xmlns:a="http://schemas.openxmlformats.org/drawingml/2006/main">
            <a:r>
              <a:t/>
            </a:r>
          </a:p>
          <a:p xmlns:a="http://schemas.openxmlformats.org/drawingml/2006/main">
            <a:r>
              <a:t>### 実装する使い分け</a:t>
            </a:r>
          </a:p>
          <a:p xmlns:a="http://schemas.openxmlformats.org/drawingml/2006/main">
            <a:r>
              <a:t/>
            </a:r>
          </a:p>
          <a:p xmlns:a="http://schemas.openxmlformats.org/drawingml/2006/main">
            <a:r>
              <a:t>| 呼び出し | モデル利用の方針 | 検証・切替条件 |</a:t>
            </a:r>
          </a:p>
          <a:p xmlns:a="http://schemas.openxmlformats.org/drawingml/2006/main">
            <a:r>
              <a:t>|---|---|---|</a:t>
            </a:r>
          </a:p>
          <a:p xmlns:a="http://schemas.openxmlformats.org/drawingml/2006/main">
            <a:r>
              <a:t>| 「不可」「19時から可能」等の構造化 | まず軽量モデルを候補にする | 必須項目・型・時間範囲をコードで検査 |</a:t>
            </a:r>
          </a:p>
          <a:p xmlns:a="http://schemas.openxmlformats.org/drawingml/2006/main">
            <a:r>
              <a:t>| 複数条件や矛盾を含む回答 | 高性能モデルを候補にする | 抽出失敗、矛盾、ツール検査失敗など観測可能な理由で昇格 |</a:t>
            </a:r>
          </a:p>
          <a:p xmlns:a="http://schemas.openxmlformats.org/drawingml/2006/main">
            <a:r>
              <a:t>| 合計・時間充足・数量・金額 | 通常のコード | モデル呼び出しなし |</a:t>
            </a:r>
          </a:p>
          <a:p xmlns:a="http://schemas.openxmlformats.org/drawingml/2006/main">
            <a:r>
              <a:t>| 追加のモデル検証 | 検証で改善が確認できた箇所だけ | 費用と遅延を計上。常時二重呼び出しを前提にしない |</a:t>
            </a:r>
          </a:p>
          <a:p xmlns:a="http://schemas.openxmlformats.org/drawingml/2006/main">
            <a:r>
              <a:t/>
            </a:r>
          </a:p>
          <a:p xmlns:a="http://schemas.openxmlformats.org/drawingml/2006/main">
            <a:r>
              <a:t>難易度の自己申告や「自信がある」という文章だけで振り分けない。アプリが判定した状態をルーターへ渡せる場合はその方法を実測し、使えない場合はアプリが許可済みモデルを選び、全推論をOrcaRouter経由で呼ぶ。その場合は「アプリ側選択」と正確に表示し、ネイティブ自動ルーティングと混同しない。利用条件との適合は運営資料で確認する。</a:t>
            </a:r>
          </a:p>
          <a:p xmlns:a="http://schemas.openxmlformats.org/drawingml/2006/main">
            <a:r>
              <a:t/>
            </a:r>
          </a:p>
          <a:p xmlns:a="http://schemas.openxmlformats.org/drawingml/2006/main">
            <a:r>
              <a:t>### 最初の60〜90分で残す記録</a:t>
            </a:r>
          </a:p>
          <a:p xmlns:a="http://schemas.openxmlformats.org/drawingml/2006/main">
            <a:r>
              <a:t/>
            </a:r>
          </a:p>
          <a:p xmlns:a="http://schemas.openxmlformats.org/drawingml/2006/main">
            <a:r>
              <a:t>1. API接続、利用可能モデル、残高・予算・制限を確認する。</a:t>
            </a:r>
          </a:p>
          <a:p xmlns:a="http://schemas.openxmlformats.org/drawingml/2006/main">
            <a:r>
              <a:t>2. 単純入力と条件付き入力を同じルーターへ送り、実際の行き先を確認する。</a:t>
            </a:r>
          </a:p>
          <a:p xmlns:a="http://schemas.openxmlformats.org/drawingml/2006/main">
            <a:r>
              <a:t>3. 自分たちのルール・設定がどの単位で適用されるかを確認する。</a:t>
            </a:r>
          </a:p>
          <a:p xmlns:a="http://schemas.openxmlformats.org/drawingml/2006/main">
            <a:r>
              <a:t>4. 実使用モデル、トークン、遅延、料金、リクエストIDの取得可否を確認する。</a:t>
            </a:r>
          </a:p>
          <a:p xmlns:a="http://schemas.openxmlformats.org/drawingml/2006/main">
            <a:r>
              <a:t>5. モデルの構造化出力・ツール利用形式を確認する。</a:t>
            </a:r>
          </a:p>
          <a:p xmlns:a="http://schemas.openxmlformats.org/drawingml/2006/main">
            <a:r>
              <a:t>6. 対象モデル失敗時の挙動、アプリ側の回数上限・予算制御を確認する。</a:t>
            </a:r>
          </a:p>
          <a:p xmlns:a="http://schemas.openxmlformats.org/drawingml/2006/main">
            <a:r>
              <a:t>7. プロンプト本文・応答がどこに記録されるか、保持設定を確認する。</a:t>
            </a:r>
          </a:p>
          <a:p xmlns:a="http://schemas.openxmlformats.org/drawingml/2006/main">
            <a:r>
              <a:t/>
            </a:r>
          </a:p>
          <a:p xmlns:a="http://schemas.openxmlformats.org/drawingml/2006/main">
            <a:r>
              <a:t>これはチームが今後行う検証であり、本資料の作成時に実行した検証ではない。ルーティング内容・料金の取得に失敗したら推定と明記し、請求額を捏造しない。公開仕様の記載とアカウントの実測を分けて管理する。</a:t>
            </a:r>
          </a:p>
          <a:p xmlns:a="http://schemas.openxmlformats.org/drawingml/2006/main">
            <a:r>
              <a:t/>
            </a:r>
          </a:p>
          <a:p xmlns:a="http://schemas.openxmlformats.org/drawingml/2006/main">
            <a:r>
              <a:t/>
            </a:r>
          </a:p>
          <a:p xmlns:a="http://schemas.openxmlformats.org/drawingml/2006/main">
            <a:r>
              <a:t/>
            </a:r>
          </a:p>
          <a:p xmlns:a="http://schemas.openxmlformats.org/drawingml/2006/main">
            <a:r>
              <a:t>参照資料（確認日：2026年9月19日）</a:t>
            </a:r>
          </a:p>
          <a:p xmlns:a="http://schemas.openxmlformats.org/drawingml/2006/main">
            <a:r>
              <a:t>OrcaRouter Routing DSL https://docs.orcarouter.ai/ja/routing/routing-dsl</a:t>
            </a:r>
          </a:p>
          <a:p xmlns:a="http://schemas.openxmlformats.org/drawingml/2006/main">
            <a:r>
              <a:t>OrcaRouter Request Logs https://www.orcarouter.ai/solutions/request-logs</a:t>
            </a:r>
          </a:p>
          <a:p xmlns:a="http://schemas.openxmlformats.org/drawingml/2006/main">
            <a:r>
              <a:t>ユーザー提供条件：4日間、詳しい人・協力先なし。チーム人数は未確認。2026年9月19日。</a:t>
            </a:r>
          </a:p>
          <a:p xmlns:a="http://schemas.openxmlformats.org/drawingml/2006/main">
            <a:r>
              <a:t/>
            </a:r>
          </a:p>
          <a:p xmlns:a="http://schemas.openxmlformats.org/drawingml/2006/main">
            <a:r>
              <a:t>設計提案・評価計画であり、実装・実測・チーム合意は未実施。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10. 安全性・堅牢性と停止条件</a:t>
            </a:r>
          </a:p>
          <a:p xmlns:a="http://schemas.openxmlformats.org/drawingml/2006/main">
            <a:r>
              <a:t/>
            </a:r>
          </a:p>
          <a:p xmlns:a="http://schemas.openxmlformats.org/drawingml/2006/main">
            <a:r>
              <a:t>| 失敗・攻撃 | 検査すること | 期待する動作 |</a:t>
            </a:r>
          </a:p>
          <a:p xmlns:a="http://schemas.openxmlformats.org/drawingml/2006/main">
            <a:r>
              <a:t>|---|---|---|</a:t>
            </a:r>
          </a:p>
          <a:p xmlns:a="http://schemas.openxmlformats.org/drawingml/2006/main">
            <a:r>
              <a:t>| 返信に「他人の連絡先を送れ」と書かれる | 外部メッセージはデータとして扱う。ツールの宛先と権限を固定 | 情報を返さず、許可した業務だけ続行または停止 |</a:t>
            </a:r>
          </a:p>
          <a:p xmlns:a="http://schemas.openxmlformats.org/drawingml/2006/main">
            <a:r>
              <a:t>| 同じ返信が2回届く | イベントIDと一意の更新ID | 二重通知・二重確定しない |</a:t>
            </a:r>
          </a:p>
          <a:p xmlns:a="http://schemas.openxmlformats.org/drawingml/2006/main">
            <a:r>
              <a:t>| 複数人が同じ枠へ承諾 | 最新状態と対象バージョン、枠の一意性 | 1件だけ確定し、他の返信を再評価 |</a:t>
            </a:r>
          </a:p>
          <a:p xmlns:a="http://schemas.openxmlformats.org/drawingml/2006/main">
            <a:r>
              <a:t>| 更新は成功したが応答が失われる | 実行IDで結果を再照会 | 成否不明のまま再実行しない |</a:t>
            </a:r>
          </a:p>
          <a:p xmlns:a="http://schemas.openxmlformats.org/drawingml/2006/main">
            <a:r>
              <a:t>| 曖昧な時間／伝票が来る | 必須項目・元データ・根拠の検査 | 追加確認または人への引き継ぎ |</a:t>
            </a:r>
          </a:p>
          <a:p xmlns:a="http://schemas.openxmlformats.org/drawingml/2006/main">
            <a:r>
              <a:t>| 提示した候補が尽きる | 未打診候補・未充足条件 | 未解決で終了。無限に同じ候補へ送らない |</a:t>
            </a:r>
          </a:p>
          <a:p xmlns:a="http://schemas.openxmlformats.org/drawingml/2006/main">
            <a:r>
              <a:t>| 推論障害・無応答 | タイムアウト、回数・予算・期限 | 許可範囲で再試行し、上限で停止 |</a:t>
            </a:r>
          </a:p>
          <a:p xmlns:a="http://schemas.openxmlformats.org/drawingml/2006/main">
            <a:r>
              <a:t>| 店長／担当者が途中で変更 | 更新前の版と現在の版 | 上書きを止めて最新状態から再計画 |</a:t>
            </a:r>
          </a:p>
          <a:p xmlns:a="http://schemas.openxmlformats.org/drawingml/2006/main">
            <a:r>
              <a:t/>
            </a:r>
          </a:p>
          <a:p xmlns:a="http://schemas.openxmlformats.org/drawingml/2006/main">
            <a:r>
              <a:t>**暫定の停止値（チームがDay 1に調整する設計値）**：1案件のモデル呼び出し最大10回、同じツールの再試行最大2回、1候補への同一打診最大1回。各リクエストの出力上限を設定し、次回呼び出し前に残予算との関係を確認する。実際の予算額と返信期限はDay 1に決め、金額や分数を実測済みのように記載しない。</a:t>
            </a:r>
          </a:p>
          <a:p xmlns:a="http://schemas.openxmlformats.org/drawingml/2006/main">
            <a:r>
              <a:t/>
            </a:r>
          </a:p>
          <a:p xmlns:a="http://schemas.openxmlformats.org/drawingml/2006/main">
            <a:r>
              <a:t>「業務完了」「安全な引き継ぎ」「技術エラー終了」は別の終了状態として数える。安全に止まれたことを業務完了率の分子に入れない。上記テストで問題が出ないことは、製品全体の完全な安全性や労務・会計上の適法性の保証ではない。</a:t>
            </a:r>
          </a:p>
          <a:p xmlns:a="http://schemas.openxmlformats.org/drawingml/2006/main">
            <a:r>
              <a:t/>
            </a:r>
          </a:p>
          <a:p xmlns:a="http://schemas.openxmlformats.org/drawingml/2006/main">
            <a:r>
              <a:t/>
            </a:r>
          </a:p>
          <a:p xmlns:a="http://schemas.openxmlformats.org/drawingml/2006/main">
            <a:r>
              <a:t/>
            </a:r>
          </a:p>
          <a:p xmlns:a="http://schemas.openxmlformats.org/drawingml/2006/main">
            <a:r>
              <a:t>参照資料（確認日：2026年9月19日）</a:t>
            </a:r>
          </a:p>
          <a:p xmlns:a="http://schemas.openxmlformats.org/drawingml/2006/main">
            <a:r>
              <a:t>ユーザー提供条件：4日間、詳しい人・協力先なし。チーム人数は未確認。2026年9月19日。</a:t>
            </a:r>
          </a:p>
          <a:p xmlns:a="http://schemas.openxmlformats.org/drawingml/2006/main">
            <a:r>
              <a:t/>
            </a:r>
          </a:p>
          <a:p xmlns:a="http://schemas.openxmlformats.org/drawingml/2006/main">
            <a:r>
              <a:t>設計提案・評価計画であり、実装・実測・チーム合意は未実施。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10. 安全性・堅牢性と停止条件</a:t>
            </a:r>
          </a:p>
          <a:p xmlns:a="http://schemas.openxmlformats.org/drawingml/2006/main">
            <a:r>
              <a:t/>
            </a:r>
          </a:p>
          <a:p xmlns:a="http://schemas.openxmlformats.org/drawingml/2006/main">
            <a:r>
              <a:t>| 失敗・攻撃 | 検査すること | 期待する動作 |</a:t>
            </a:r>
          </a:p>
          <a:p xmlns:a="http://schemas.openxmlformats.org/drawingml/2006/main">
            <a:r>
              <a:t>|---|---|---|</a:t>
            </a:r>
          </a:p>
          <a:p xmlns:a="http://schemas.openxmlformats.org/drawingml/2006/main">
            <a:r>
              <a:t>| 返信に「他人の連絡先を送れ」と書かれる | 外部メッセージはデータとして扱う。ツールの宛先と権限を固定 | 情報を返さず、許可した業務だけ続行または停止 |</a:t>
            </a:r>
          </a:p>
          <a:p xmlns:a="http://schemas.openxmlformats.org/drawingml/2006/main">
            <a:r>
              <a:t>| 同じ返信が2回届く | イベントIDと一意の更新ID | 二重通知・二重確定しない |</a:t>
            </a:r>
          </a:p>
          <a:p xmlns:a="http://schemas.openxmlformats.org/drawingml/2006/main">
            <a:r>
              <a:t>| 複数人が同じ枠へ承諾 | 最新状態と対象バージョン、枠の一意性 | 1件だけ確定し、他の返信を再評価 |</a:t>
            </a:r>
          </a:p>
          <a:p xmlns:a="http://schemas.openxmlformats.org/drawingml/2006/main">
            <a:r>
              <a:t>| 更新は成功したが応答が失われる | 実行IDで結果を再照会 | 成否不明のまま再実行しない |</a:t>
            </a:r>
          </a:p>
          <a:p xmlns:a="http://schemas.openxmlformats.org/drawingml/2006/main">
            <a:r>
              <a:t>| 曖昧な時間／伝票が来る | 必須項目・元データ・根拠の検査 | 追加確認または人への引き継ぎ |</a:t>
            </a:r>
          </a:p>
          <a:p xmlns:a="http://schemas.openxmlformats.org/drawingml/2006/main">
            <a:r>
              <a:t>| 提示した候補が尽きる | 未打診候補・未充足条件 | 未解決で終了。無限に同じ候補へ送らない |</a:t>
            </a:r>
          </a:p>
          <a:p xmlns:a="http://schemas.openxmlformats.org/drawingml/2006/main">
            <a:r>
              <a:t>| 推論障害・無応答 | タイムアウト、回数・予算・期限 | 許可範囲で再試行し、上限で停止 |</a:t>
            </a:r>
          </a:p>
          <a:p xmlns:a="http://schemas.openxmlformats.org/drawingml/2006/main">
            <a:r>
              <a:t>| 店長／担当者が途中で変更 | 更新前の版と現在の版 | 上書きを止めて最新状態から再計画 |</a:t>
            </a:r>
          </a:p>
          <a:p xmlns:a="http://schemas.openxmlformats.org/drawingml/2006/main">
            <a:r>
              <a:t/>
            </a:r>
          </a:p>
          <a:p xmlns:a="http://schemas.openxmlformats.org/drawingml/2006/main">
            <a:r>
              <a:t>**暫定の停止値（チームがDay 1に調整する設計値）**：1案件のモデル呼び出し最大10回、同じツールの再試行最大2回、1候補への同一打診最大1回。各リクエストの出力上限を設定し、次回呼び出し前に残予算との関係を確認する。実際の予算額と返信期限はDay 1に決め、金額や分数を実測済みのように記載しない。</a:t>
            </a:r>
          </a:p>
          <a:p xmlns:a="http://schemas.openxmlformats.org/drawingml/2006/main">
            <a:r>
              <a:t/>
            </a:r>
          </a:p>
          <a:p xmlns:a="http://schemas.openxmlformats.org/drawingml/2006/main">
            <a:r>
              <a:t>「業務完了」「安全な引き継ぎ」「技術エラー終了」は別の終了状態として数える。安全に止まれたことを業務完了率の分子に入れない。上記テストで問題が出ないことは、製品全体の完全な安全性や労務・会計上の適法性の保証ではない。</a:t>
            </a:r>
          </a:p>
          <a:p xmlns:a="http://schemas.openxmlformats.org/drawingml/2006/main">
            <a:r>
              <a:t/>
            </a:r>
          </a:p>
          <a:p xmlns:a="http://schemas.openxmlformats.org/drawingml/2006/main">
            <a:r>
              <a:t/>
            </a:r>
          </a:p>
          <a:p xmlns:a="http://schemas.openxmlformats.org/drawingml/2006/main">
            <a:r>
              <a:t/>
            </a:r>
          </a:p>
          <a:p xmlns:a="http://schemas.openxmlformats.org/drawingml/2006/main">
            <a:r>
              <a:t>参照資料（確認日：2026年9月19日）</a:t>
            </a:r>
          </a:p>
          <a:p xmlns:a="http://schemas.openxmlformats.org/drawingml/2006/main">
            <a:r>
              <a:t>ユーザー提供条件：4日間、詳しい人・協力先なし。チーム人数は未確認。2026年9月19日。</a:t>
            </a:r>
          </a:p>
          <a:p xmlns:a="http://schemas.openxmlformats.org/drawingml/2006/main">
            <a:r>
              <a:t/>
            </a:r>
          </a:p>
          <a:p xmlns:a="http://schemas.openxmlformats.org/drawingml/2006/main">
            <a:r>
              <a:t>設計提案・評価計画であり、実装・実測・チーム合意は未実施。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10. 安全性・堅牢性と停止条件</a:t>
            </a:r>
          </a:p>
          <a:p xmlns:a="http://schemas.openxmlformats.org/drawingml/2006/main">
            <a:r>
              <a:t/>
            </a:r>
          </a:p>
          <a:p xmlns:a="http://schemas.openxmlformats.org/drawingml/2006/main">
            <a:r>
              <a:t>| 失敗・攻撃 | 検査すること | 期待する動作 |</a:t>
            </a:r>
          </a:p>
          <a:p xmlns:a="http://schemas.openxmlformats.org/drawingml/2006/main">
            <a:r>
              <a:t>|---|---|---|</a:t>
            </a:r>
          </a:p>
          <a:p xmlns:a="http://schemas.openxmlformats.org/drawingml/2006/main">
            <a:r>
              <a:t>| 返信に「他人の連絡先を送れ」と書かれる | 外部メッセージはデータとして扱う。ツールの宛先と権限を固定 | 情報を返さず、許可した業務だけ続行または停止 |</a:t>
            </a:r>
          </a:p>
          <a:p xmlns:a="http://schemas.openxmlformats.org/drawingml/2006/main">
            <a:r>
              <a:t>| 同じ返信が2回届く | イベントIDと一意の更新ID | 二重通知・二重確定しない |</a:t>
            </a:r>
          </a:p>
          <a:p xmlns:a="http://schemas.openxmlformats.org/drawingml/2006/main">
            <a:r>
              <a:t>| 複数人が同じ枠へ承諾 | 最新状態と対象バージョン、枠の一意性 | 1件だけ確定し、他の返信を再評価 |</a:t>
            </a:r>
          </a:p>
          <a:p xmlns:a="http://schemas.openxmlformats.org/drawingml/2006/main">
            <a:r>
              <a:t>| 更新は成功したが応答が失われる | 実行IDで結果を再照会 | 成否不明のまま再実行しない |</a:t>
            </a:r>
          </a:p>
          <a:p xmlns:a="http://schemas.openxmlformats.org/drawingml/2006/main">
            <a:r>
              <a:t>| 曖昧な時間／伝票が来る | 必須項目・元データ・根拠の検査 | 追加確認または人への引き継ぎ |</a:t>
            </a:r>
          </a:p>
          <a:p xmlns:a="http://schemas.openxmlformats.org/drawingml/2006/main">
            <a:r>
              <a:t>| 提示した候補が尽きる | 未打診候補・未充足条件 | 未解決で終了。無限に同じ候補へ送らない |</a:t>
            </a:r>
          </a:p>
          <a:p xmlns:a="http://schemas.openxmlformats.org/drawingml/2006/main">
            <a:r>
              <a:t>| 推論障害・無応答 | タイムアウト、回数・予算・期限 | 許可範囲で再試行し、上限で停止 |</a:t>
            </a:r>
          </a:p>
          <a:p xmlns:a="http://schemas.openxmlformats.org/drawingml/2006/main">
            <a:r>
              <a:t>| 店長／担当者が途中で変更 | 更新前の版と現在の版 | 上書きを止めて最新状態から再計画 |</a:t>
            </a:r>
          </a:p>
          <a:p xmlns:a="http://schemas.openxmlformats.org/drawingml/2006/main">
            <a:r>
              <a:t/>
            </a:r>
          </a:p>
          <a:p xmlns:a="http://schemas.openxmlformats.org/drawingml/2006/main">
            <a:r>
              <a:t>**暫定の停止値（チームがDay 1に調整する設計値）**：1案件のモデル呼び出し最大10回、同じツールの再試行最大2回、1候補への同一打診最大1回。各リクエストの出力上限を設定し、次回呼び出し前に残予算との関係を確認する。実際の予算額と返信期限はDay 1に決め、金額や分数を実測済みのように記載しない。</a:t>
            </a:r>
          </a:p>
          <a:p xmlns:a="http://schemas.openxmlformats.org/drawingml/2006/main">
            <a:r>
              <a:t/>
            </a:r>
          </a:p>
          <a:p xmlns:a="http://schemas.openxmlformats.org/drawingml/2006/main">
            <a:r>
              <a:t>「業務完了」「安全な引き継ぎ」「技術エラー終了」は別の終了状態として数える。安全に止まれたことを業務完了率の分子に入れない。上記テストで問題が出ないことは、製品全体の完全な安全性や労務・会計上の適法性の保証ではない。</a:t>
            </a:r>
          </a:p>
          <a:p xmlns:a="http://schemas.openxmlformats.org/drawingml/2006/main">
            <a:r>
              <a:t/>
            </a:r>
          </a:p>
          <a:p xmlns:a="http://schemas.openxmlformats.org/drawingml/2006/main">
            <a:r>
              <a:t/>
            </a:r>
          </a:p>
          <a:p xmlns:a="http://schemas.openxmlformats.org/drawingml/2006/main">
            <a:r>
              <a:t/>
            </a:r>
          </a:p>
          <a:p xmlns:a="http://schemas.openxmlformats.org/drawingml/2006/main">
            <a:r>
              <a:t>参照資料（確認日：2026年9月19日）</a:t>
            </a:r>
          </a:p>
          <a:p xmlns:a="http://schemas.openxmlformats.org/drawingml/2006/main">
            <a:r>
              <a:t>ユーザー提供条件：4日間、詳しい人・協力先なし。チーム人数は未確認。2026年9月19日。</a:t>
            </a:r>
          </a:p>
          <a:p xmlns:a="http://schemas.openxmlformats.org/drawingml/2006/main">
            <a:r>
              <a:t/>
            </a:r>
          </a:p>
          <a:p xmlns:a="http://schemas.openxmlformats.org/drawingml/2006/main">
            <a:r>
              <a:t>設計提案・評価計画であり、実装・実測・チーム合意は未実施。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11. コストと品質の比較実験</a:t>
            </a:r>
          </a:p>
          <a:p xmlns:a="http://schemas.openxmlformats.org/drawingml/2006/main">
            <a:r>
              <a:t/>
            </a:r>
          </a:p>
          <a:p xmlns:a="http://schemas.openxmlformats.org/drawingml/2006/main">
            <a:r>
              <a:t>### 比較する構成</a:t>
            </a:r>
          </a:p>
          <a:p xmlns:a="http://schemas.openxmlformats.org/drawingml/2006/main">
            <a:r>
              <a:t/>
            </a:r>
          </a:p>
          <a:p xmlns:a="http://schemas.openxmlformats.org/drawingml/2006/main">
            <a:r>
              <a:t>- A：対象のモデル呼び出しをすべて高性能モデルで処理。</a:t>
            </a:r>
          </a:p>
          <a:p xmlns:a="http://schemas.openxmlformats.org/drawingml/2006/main">
            <a:r>
              <a:t>- B：対象のモデル呼び出しをすべて軽量モデルで処理。</a:t>
            </a:r>
          </a:p>
          <a:p xmlns:a="http://schemas.openxmlformats.org/drawingml/2006/main">
            <a:r>
              <a:t>- C：軽量モデルを基本に、検査結果や状態に応じて高性能モデルへ切り替える。</a:t>
            </a:r>
          </a:p>
          <a:p xmlns:a="http://schemas.openxmlformats.org/drawingml/2006/main">
            <a:r>
              <a:t>- D：時間があれば固定ルールだけの基準系も追加。自然文の扱いでAIを入れる価値を確認する。</a:t>
            </a:r>
          </a:p>
          <a:p xmlns:a="http://schemas.openxmlformats.org/drawingml/2006/main">
            <a:r>
              <a:t/>
            </a:r>
          </a:p>
          <a:p xmlns:a="http://schemas.openxmlformats.org/drawingml/2006/main">
            <a:r>
              <a:t>ツール、コードによる計算、許可範囲、入力、正解条件、再試行上限は共通にする。Aにも不要な計算のLLM化を追加しない。ルーティングの設定は開発用ケースで調整し、評価用ケースを見て後付けで有利にしない。</a:t>
            </a:r>
          </a:p>
          <a:p xmlns:a="http://schemas.openxmlformats.org/drawingml/2006/main">
            <a:r>
              <a:t/>
            </a:r>
          </a:p>
          <a:p xmlns:a="http://schemas.openxmlformats.org/drawingml/2006/main">
            <a:r>
              <a:t>### 測るもの</a:t>
            </a:r>
          </a:p>
          <a:p xmlns:a="http://schemas.openxmlformats.org/drawingml/2006/main">
            <a:r>
              <a:t/>
            </a:r>
          </a:p>
          <a:p xmlns:a="http://schemas.openxmlformats.org/drawingml/2006/main">
            <a:r>
              <a:t>| 指標 | 定義・注意 |</a:t>
            </a:r>
          </a:p>
          <a:p xmlns:a="http://schemas.openxmlformats.org/drawingml/2006/main">
            <a:r>
              <a:t>|---|---|</a:t>
            </a:r>
          </a:p>
          <a:p xmlns:a="http://schemas.openxmlformats.org/drawingml/2006/main">
            <a:r>
              <a:t>| 業務完了率 | 人の追加指示なしで、期待した最終状態と読戻しを満たした件数／対象件数 |</a:t>
            </a:r>
          </a:p>
          <a:p xmlns:a="http://schemas.openxmlformats.org/drawingml/2006/main">
            <a:r>
              <a:t>| 適切な引き継ぎ率 | 引き継ぐべきケースで正しく止まった割合。完了率とは別掲 |</a:t>
            </a:r>
          </a:p>
          <a:p xmlns:a="http://schemas.openxmlformats.org/drawingml/2006/main">
            <a:r>
              <a:t>| 制約違反 | 権限外操作、個人情報露出、重複更新、誤った確定の件数 |</a:t>
            </a:r>
          </a:p>
          <a:p xmlns:a="http://schemas.openxmlformats.org/drawingml/2006/main">
            <a:r>
              <a:t>| 推論費用 | 全呼び出し、昇格、検証、失敗、再試行を含む。同一通貨で集計 |</a:t>
            </a:r>
          </a:p>
          <a:p xmlns:a="http://schemas.openxmlformats.org/drawingml/2006/main">
            <a:r>
              <a:t>| 運用費用 | 推論費にツール費等を加える。無料枠・固定費は別記 |</a:t>
            </a:r>
          </a:p>
          <a:p xmlns:a="http://schemas.openxmlformats.org/drawingml/2006/main">
            <a:r>
              <a:t>| 完了1件あたり費用 | 評価全体の費用／業務完了件数。完了ゼロなら算出不能 |</a:t>
            </a:r>
          </a:p>
          <a:p xmlns:a="http://schemas.openxmlformats.org/drawingml/2006/main">
            <a:r>
              <a:t>| 待ち時間 | 中央値と最大値。小標本でp95だけを強調しない |</a:t>
            </a:r>
          </a:p>
          <a:p xmlns:a="http://schemas.openxmlformats.org/drawingml/2006/main">
            <a:r>
              <a:t>| 人の介入 | 設定済みルールや架空スタッフの返信と区別し、店長の追加判断を数える |</a:t>
            </a:r>
          </a:p>
          <a:p xmlns:a="http://schemas.openxmlformats.org/drawingml/2006/main">
            <a:r>
              <a:t>| 切替の挙動 | 昇格回数、採用モデル、切替理由、検査の通過・失敗 |</a:t>
            </a:r>
          </a:p>
          <a:p xmlns:a="http://schemas.openxmlformats.org/drawingml/2006/main">
            <a:r>
              <a:t/>
            </a:r>
          </a:p>
          <a:p xmlns:a="http://schemas.openxmlformats.org/drawingml/2006/main">
            <a:r>
              <a:t>削減率は `1 − Cの総推論費 / Aの総推論費`。AとCの成功率・制約違反・対象件数を必ず並記する。費用だけ安くても完了率が落ちれば、その差を報告する。モデル単価、計測日時、設定の版、無料枠やキャッシュの条件を残す。画面上の料金は実測または推定を区別する。[S5]</a:t>
            </a:r>
          </a:p>
          <a:p xmlns:a="http://schemas.openxmlformats.org/drawingml/2006/main">
            <a:r>
              <a:t/>
            </a:r>
          </a:p>
          <a:p xmlns:a="http://schemas.openxmlformats.org/drawingml/2006/main">
            <a:r>
              <a:t/>
            </a:r>
          </a:p>
          <a:p xmlns:a="http://schemas.openxmlformats.org/drawingml/2006/main">
            <a:r>
              <a:t/>
            </a:r>
          </a:p>
          <a:p xmlns:a="http://schemas.openxmlformats.org/drawingml/2006/main">
            <a:r>
              <a:t>参照資料（確認日：2026年9月19日）</a:t>
            </a:r>
          </a:p>
          <a:p xmlns:a="http://schemas.openxmlformats.org/drawingml/2006/main">
            <a:r>
              <a:t>OrcaRouter Request Logs https://www.orcarouter.ai/solutions/request-logs</a:t>
            </a:r>
          </a:p>
          <a:p xmlns:a="http://schemas.openxmlformats.org/drawingml/2006/main">
            <a:r>
              <a:t>ユーザー提供条件：4日間、詳しい人・協力先なし。チーム人数は未確認。2026年9月19日。</a:t>
            </a:r>
          </a:p>
          <a:p xmlns:a="http://schemas.openxmlformats.org/drawingml/2006/main">
            <a:r>
              <a:t/>
            </a:r>
          </a:p>
          <a:p xmlns:a="http://schemas.openxmlformats.org/drawingml/2006/main">
            <a:r>
              <a:t>設計提案・評価計画であり、実装・実測・チーム合意は未実施。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12. 評価ケースと完了基準</a:t>
            </a:r>
          </a:p>
          <a:p xmlns:a="http://schemas.openxmlformats.org/drawingml/2006/main">
            <a:r>
              <a:t/>
            </a:r>
          </a:p>
          <a:p xmlns:a="http://schemas.openxmlformats.org/drawingml/2006/main">
            <a:r>
              <a:t>開発用に別の6ケースを用意し、固定した評価用20ケースをA/B/Cで各1回実行する計画とする。重要な6ケースは採用構成Cで追加2回ずつ確認する。計72試行は提案であり未実施。予算不足なら件数を明示して減らす。</a:t>
            </a:r>
          </a:p>
          <a:p xmlns:a="http://schemas.openxmlformats.org/drawingml/2006/main">
            <a:r>
              <a:t/>
            </a:r>
          </a:p>
          <a:p xmlns:a="http://schemas.openxmlformats.org/drawingml/2006/main">
            <a:r>
              <a:t>| 評価区分 | 件数 | 例 |</a:t>
            </a:r>
          </a:p>
          <a:p xmlns:a="http://schemas.openxmlformats.org/drawingml/2006/main">
            <a:r>
              <a:t>|---|---:|---|</a:t>
            </a:r>
          </a:p>
          <a:p xmlns:a="http://schemas.openxmlformats.org/drawingml/2006/main">
            <a:r>
              <a:t>| 通常の完了 | 4 | 即時承諾、条件を満たす組み合わせ |</a:t>
            </a:r>
          </a:p>
          <a:p xmlns:a="http://schemas.openxmlformats.org/drawingml/2006/main">
            <a:r>
              <a:t>| 辞退・部分承諾 | 4 | 19時から可、前半のみ可、辞退後の再計画 |</a:t>
            </a:r>
          </a:p>
          <a:p xmlns:a="http://schemas.openxmlformats.org/drawingml/2006/main">
            <a:r>
              <a:t>| 曖昧・矛盾 | 3 | 時間未記載、前後の返答が矛盾、追加確認 |</a:t>
            </a:r>
          </a:p>
          <a:p xmlns:a="http://schemas.openxmlformats.org/drawingml/2006/main">
            <a:r>
              <a:t>| 枯渇・期限・無応答 | 3 | 全員不可、連絡上限、期限後承諾 |</a:t>
            </a:r>
          </a:p>
          <a:p xmlns:a="http://schemas.openxmlformats.org/drawingml/2006/main">
            <a:r>
              <a:t>| 重複・障害・競合 | 4 | 重複イベント、同時承諾、更新応答喪失、途中編集 |</a:t>
            </a:r>
          </a:p>
          <a:p xmlns:a="http://schemas.openxmlformats.org/drawingml/2006/main">
            <a:r>
              <a:t>| 権限逸脱を誘う入力 | 2 | 他人の情報の要求、未許可の更新要求 |</a:t>
            </a:r>
          </a:p>
          <a:p xmlns:a="http://schemas.openxmlformats.org/drawingml/2006/main">
            <a:r>
              <a:t>| **合計** | **20** | 各ケースに期待した最終状態・禁止操作を設定 |</a:t>
            </a:r>
          </a:p>
          <a:p xmlns:a="http://schemas.openxmlformats.org/drawingml/2006/main">
            <a:r>
              <a:t/>
            </a:r>
          </a:p>
          <a:p xmlns:a="http://schemas.openxmlformats.org/drawingml/2006/main">
            <a:r>
              <a:t>案02の場合も20件の枠を使い、分納の正常解消、修正版不足、数量矛盾、他社データ要求、伝票改訂、二重更新等へ置き換える。</a:t>
            </a:r>
          </a:p>
          <a:p xmlns:a="http://schemas.openxmlformats.org/drawingml/2006/main">
            <a:r>
              <a:t/>
            </a:r>
          </a:p>
          <a:p xmlns:a="http://schemas.openxmlformats.org/drawingml/2006/main">
            <a:r>
              <a:t>提出可能とする条件は、主要デモが初期化後に繰り返し動くこと、定義した禁止操作がテストで0件であること、完了・引き継ぎ・エラーが区別できること、費用と成功率の比較があること。**現在これらを達成したとは主張しない。** 20ケースの成績を本番利用の保証に拡張しない。</a:t>
            </a:r>
          </a:p>
          <a:p xmlns:a="http://schemas.openxmlformats.org/drawingml/2006/main">
            <a:r>
              <a:t/>
            </a:r>
          </a:p>
          <a:p xmlns:a="http://schemas.openxmlformats.org/drawingml/2006/main">
            <a:r>
              <a:t/>
            </a:r>
          </a:p>
          <a:p xmlns:a="http://schemas.openxmlformats.org/drawingml/2006/main">
            <a:r>
              <a:t/>
            </a:r>
          </a:p>
          <a:p xmlns:a="http://schemas.openxmlformats.org/drawingml/2006/main">
            <a:r>
              <a:t>参照資料（確認日：2026年9月19日）</a:t>
            </a:r>
          </a:p>
          <a:p xmlns:a="http://schemas.openxmlformats.org/drawingml/2006/main">
            <a:r>
              <a:t>ユーザー提供条件：4日間、詳しい人・協力先なし。チーム人数は未確認。2026年9月19日。</a:t>
            </a:r>
          </a:p>
          <a:p xmlns:a="http://schemas.openxmlformats.org/drawingml/2006/main">
            <a:r>
              <a:t/>
            </a:r>
          </a:p>
          <a:p xmlns:a="http://schemas.openxmlformats.org/drawingml/2006/main">
            <a:r>
              <a:t>設計提案・評価計画であり、実装・実測・チーム合意は未実施。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13. デモの構成</a:t>
            </a:r>
          </a:p>
          <a:p xmlns:a="http://schemas.openxmlformats.org/drawingml/2006/main">
            <a:r>
              <a:t/>
            </a:r>
          </a:p>
          <a:p xmlns:a="http://schemas.openxmlformats.org/drawingml/2006/main">
            <a:r>
              <a:t>発表時間が不明なため、以下は約3分の実演案。主催者の時間に合わせて調整する。</a:t>
            </a:r>
          </a:p>
          <a:p xmlns:a="http://schemas.openxmlformats.org/drawingml/2006/main">
            <a:r>
              <a:t/>
            </a:r>
          </a:p>
          <a:p xmlns:a="http://schemas.openxmlformats.org/drawingml/2006/main">
            <a:r>
              <a:t>| 時間 | 見せること | 審査項目への証拠 |</a:t>
            </a:r>
          </a:p>
          <a:p xmlns:a="http://schemas.openxmlformats.org/drawingml/2006/main">
            <a:r>
              <a:t>|---|---|---|</a:t>
            </a:r>
          </a:p>
          <a:p xmlns:a="http://schemas.openxmlformats.org/drawingml/2006/main">
            <a:r>
              <a:t>| 0:00〜0:20 | 欠勤が発生し、店長が調理中という課題と事前の許可範囲 | 業務と目的の明確さ |</a:t>
            </a:r>
          </a:p>
          <a:p xmlns:a="http://schemas.openxmlformats.org/drawingml/2006/main">
            <a:r>
              <a:t>| 0:20〜1:20 | Aの辞退、Bの部分承諾、Cへの再打診 | 結果を観測した自律的な再計画 |</a:t>
            </a:r>
          </a:p>
          <a:p xmlns:a="http://schemas.openxmlformats.org/drawingml/2006/main">
            <a:r>
              <a:t>| 1:20〜1:50 | シフトの反映・読戻し、同じ承諾を再送しても二重更新しない | 堅牢性 |</a:t>
            </a:r>
          </a:p>
          <a:p xmlns:a="http://schemas.openxmlformats.org/drawingml/2006/main">
            <a:r>
              <a:t>| 1:50〜2:20 | 別ケースで個人情報要求や候補枯渇を入力 | 権限検査と理由付き停止 |</a:t>
            </a:r>
          </a:p>
          <a:p xmlns:a="http://schemas.openxmlformats.org/drawingml/2006/main">
            <a:r>
              <a:t>| 2:20〜3:00 | A/B/Cの実測結果とライブのモデル・費用・検査ログ | コストと品質、OrcaRouterの役割 |</a:t>
            </a:r>
          </a:p>
          <a:p xmlns:a="http://schemas.openxmlformats.org/drawingml/2006/main">
            <a:r>
              <a:t/>
            </a:r>
          </a:p>
          <a:p xmlns:a="http://schemas.openxmlformats.org/drawingml/2006/main">
            <a:r>
              <a:t>画面は「不足と確定結果」を主役に、経過とログを併置する。モデルの内部思考を表示する必要はなく、入力の要約、選んだ行動、参照条件、検証結果を示す。待ち時間を短縮する場合は短縮表示を入れる。外部API障害に備えて録画を用意し、録画をライブと呼ばない。</a:t>
            </a:r>
          </a:p>
          <a:p xmlns:a="http://schemas.openxmlformats.org/drawingml/2006/main">
            <a:r>
              <a:t/>
            </a:r>
          </a:p>
          <a:p xmlns:a="http://schemas.openxmlformats.org/drawingml/2006/main">
            <a:r>
              <a:t>案02なら、最初の差分、取引先回答、修正請求書、再照合、発注残40個の保持、二重更新の拒否、費用比較の順で見せる。</a:t>
            </a:r>
          </a:p>
          <a:p xmlns:a="http://schemas.openxmlformats.org/drawingml/2006/main">
            <a:r>
              <a:t/>
            </a:r>
          </a:p>
          <a:p xmlns:a="http://schemas.openxmlformats.org/drawingml/2006/main">
            <a:r>
              <a:t/>
            </a:r>
          </a:p>
          <a:p xmlns:a="http://schemas.openxmlformats.org/drawingml/2006/main">
            <a:r>
              <a:t/>
            </a:r>
          </a:p>
          <a:p xmlns:a="http://schemas.openxmlformats.org/drawingml/2006/main">
            <a:r>
              <a:t>参照資料（確認日：2026年9月19日）</a:t>
            </a:r>
          </a:p>
          <a:p xmlns:a="http://schemas.openxmlformats.org/drawingml/2006/main">
            <a:r>
              <a:t>ユーザー提供条件：4日間、詳しい人・協力先なし。チーム人数は未確認。2026年9月19日。</a:t>
            </a:r>
          </a:p>
          <a:p xmlns:a="http://schemas.openxmlformats.org/drawingml/2006/main">
            <a:r>
              <a:t/>
            </a:r>
          </a:p>
          <a:p xmlns:a="http://schemas.openxmlformats.org/drawingml/2006/main">
            <a:r>
              <a:t>設計提案・評価計画であり、実装・実測・チーム合意は未実施。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14. 4日間の開発計画</a:t>
            </a:r>
          </a:p>
          <a:p xmlns:a="http://schemas.openxmlformats.org/drawingml/2006/main">
            <a:r>
              <a:t/>
            </a:r>
          </a:p>
          <a:p xmlns:a="http://schemas.openxmlformats.org/drawingml/2006/main">
            <a:r>
              <a:t>| 日 | 必須作業 | 終了時点で確認するもの | 遅れたときの削減 |</a:t>
            </a:r>
          </a:p>
          <a:p xmlns:a="http://schemas.openxmlformats.org/drawingml/2006/main">
            <a:r>
              <a:t>|---|---|---|---|</a:t>
            </a:r>
          </a:p>
          <a:p xmlns:a="http://schemas.openxmlformats.org/drawingml/2006/main">
            <a:r>
              <a:t>| Day 1 | 最初の60〜90分で接続・ルーティング・費用確認。ルールと架空データを定義。最小の通し動作を作る | 受付から1件の承諾・更新・読戻しまで動く。中間で題材を固定 | 外部チャット連携をテスト受信箱へ。複数店舗・装飾を外す |</a:t>
            </a:r>
          </a:p>
          <a:p xmlns:a="http://schemas.openxmlformats.org/drawingml/2006/main">
            <a:r>
              <a:t>| Day 2 | 自然文の部分承諾、辞退後再計画、期限、状態保存、二重更新防止、途中再開 | 主要デモと引き継ぎが初期化後に動く | 候補数・同時案件数を減らす。検査・停止は残す |</a:t>
            </a:r>
          </a:p>
          <a:p xmlns:a="http://schemas.openxmlformats.org/drawingml/2006/main">
            <a:r>
              <a:t>| Day 3 | 固定した評価ケースでA/B/Cを比較。失敗修正。費用・結果を可視化 | 実測表と失敗一覧。禁止操作の原因を解消 | 見た目の追加を止め、評価件数の変更は明記 |</a:t>
            </a:r>
          </a:p>
          <a:p xmlns:a="http://schemas.openxmlformats.org/drawingml/2006/main">
            <a:r>
              <a:t>| Day 4 | 機能を固定。再現確認、説明の修正、発表練習、予備録画 | 誰でも初期化してデモできる。料金・結果・制約を説明できる | 機能追加しない。説明と再現性に集中 |</a:t>
            </a:r>
          </a:p>
          <a:p xmlns:a="http://schemas.openxmlformats.org/drawingml/2006/main">
            <a:r>
              <a:t/>
            </a:r>
          </a:p>
          <a:p xmlns:a="http://schemas.openxmlformats.org/drawingml/2006/main">
            <a:r>
              <a:t>役割は人数ではなく担当領域で置く。①進行・デモ・原稿、②エージェントとOrcaRouter、③状態・ツール・検査、④UI・テスト・計測。少人数なら兼務する。チーム人数と稼働時間が分かった時点で担当名と対応範囲を決める。</a:t>
            </a:r>
          </a:p>
          <a:p xmlns:a="http://schemas.openxmlformats.org/drawingml/2006/main">
            <a:r>
              <a:t/>
            </a:r>
          </a:p>
          <a:p xmlns:a="http://schemas.openxmlformats.org/drawingml/2006/main">
            <a:r>
              <a:t>初日に共有する実装契約は、案件ID、イベントID、対象ID、対象の版、状態、許可された操作、残予算、期限、参照証拠ID、結果コード。ログの時刻・通貨・モデル名も揃え、UIとエージェントが別の状態を持たないようにする。</a:t>
            </a:r>
          </a:p>
          <a:p xmlns:a="http://schemas.openxmlformats.org/drawingml/2006/main">
            <a:r>
              <a:t/>
            </a:r>
          </a:p>
          <a:p xmlns:a="http://schemas.openxmlformats.org/drawingml/2006/main">
            <a:r>
              <a:t/>
            </a:r>
          </a:p>
          <a:p xmlns:a="http://schemas.openxmlformats.org/drawingml/2006/main">
            <a:r>
              <a:t/>
            </a:r>
          </a:p>
          <a:p xmlns:a="http://schemas.openxmlformats.org/drawingml/2006/main">
            <a:r>
              <a:t>参照資料（確認日：2026年9月19日）</a:t>
            </a:r>
          </a:p>
          <a:p xmlns:a="http://schemas.openxmlformats.org/drawingml/2006/main">
            <a:r>
              <a:t>ユーザー提供条件：4日間、詳しい人・協力先なし。チーム人数は未確認。2026年9月19日。</a:t>
            </a:r>
          </a:p>
          <a:p xmlns:a="http://schemas.openxmlformats.org/drawingml/2006/main">
            <a:r>
              <a:t/>
            </a:r>
          </a:p>
          <a:p xmlns:a="http://schemas.openxmlformats.org/drawingml/2006/main">
            <a:r>
              <a:t>設計提案・評価計画であり、実装・実測・チーム合意は未実施。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14. 4日間の開発計画</a:t>
            </a:r>
          </a:p>
          <a:p xmlns:a="http://schemas.openxmlformats.org/drawingml/2006/main">
            <a:r>
              <a:t/>
            </a:r>
          </a:p>
          <a:p xmlns:a="http://schemas.openxmlformats.org/drawingml/2006/main">
            <a:r>
              <a:t>| 日 | 必須作業 | 終了時点で確認するもの | 遅れたときの削減 |</a:t>
            </a:r>
          </a:p>
          <a:p xmlns:a="http://schemas.openxmlformats.org/drawingml/2006/main">
            <a:r>
              <a:t>|---|---|---|---|</a:t>
            </a:r>
          </a:p>
          <a:p xmlns:a="http://schemas.openxmlformats.org/drawingml/2006/main">
            <a:r>
              <a:t>| Day 1 | 最初の60〜90分で接続・ルーティング・費用確認。ルールと架空データを定義。最小の通し動作を作る | 受付から1件の承諾・更新・読戻しまで動く。中間で題材を固定 | 外部チャット連携をテスト受信箱へ。複数店舗・装飾を外す |</a:t>
            </a:r>
          </a:p>
          <a:p xmlns:a="http://schemas.openxmlformats.org/drawingml/2006/main">
            <a:r>
              <a:t>| Day 2 | 自然文の部分承諾、辞退後再計画、期限、状態保存、二重更新防止、途中再開 | 主要デモと引き継ぎが初期化後に動く | 候補数・同時案件数を減らす。検査・停止は残す |</a:t>
            </a:r>
          </a:p>
          <a:p xmlns:a="http://schemas.openxmlformats.org/drawingml/2006/main">
            <a:r>
              <a:t>| Day 3 | 固定した評価ケースでA/B/Cを比較。失敗修正。費用・結果を可視化 | 実測表と失敗一覧。禁止操作の原因を解消 | 見た目の追加を止め、評価件数の変更は明記 |</a:t>
            </a:r>
          </a:p>
          <a:p xmlns:a="http://schemas.openxmlformats.org/drawingml/2006/main">
            <a:r>
              <a:t>| Day 4 | 機能を固定。再現確認、説明の修正、発表練習、予備録画 | 誰でも初期化してデモできる。料金・結果・制約を説明できる | 機能追加しない。説明と再現性に集中 |</a:t>
            </a:r>
          </a:p>
          <a:p xmlns:a="http://schemas.openxmlformats.org/drawingml/2006/main">
            <a:r>
              <a:t/>
            </a:r>
          </a:p>
          <a:p xmlns:a="http://schemas.openxmlformats.org/drawingml/2006/main">
            <a:r>
              <a:t>役割は人数ではなく担当領域で置く。①進行・デモ・原稿、②エージェントとOrcaRouter、③状態・ツール・検査、④UI・テスト・計測。少人数なら兼務する。チーム人数と稼働時間が分かった時点で担当名と対応範囲を決める。</a:t>
            </a:r>
          </a:p>
          <a:p xmlns:a="http://schemas.openxmlformats.org/drawingml/2006/main">
            <a:r>
              <a:t/>
            </a:r>
          </a:p>
          <a:p xmlns:a="http://schemas.openxmlformats.org/drawingml/2006/main">
            <a:r>
              <a:t>初日に共有する実装契約は、案件ID、イベントID、対象ID、対象の版、状態、許可された操作、残予算、期限、参照証拠ID、結果コード。ログの時刻・通貨・モデル名も揃え、UIとエージェントが別の状態を持たないようにする。</a:t>
            </a:r>
          </a:p>
          <a:p xmlns:a="http://schemas.openxmlformats.org/drawingml/2006/main">
            <a:r>
              <a:t/>
            </a:r>
          </a:p>
          <a:p xmlns:a="http://schemas.openxmlformats.org/drawingml/2006/main">
            <a:r>
              <a:t/>
            </a:r>
          </a:p>
          <a:p xmlns:a="http://schemas.openxmlformats.org/drawingml/2006/main">
            <a:r>
              <a:t/>
            </a:r>
          </a:p>
          <a:p xmlns:a="http://schemas.openxmlformats.org/drawingml/2006/main">
            <a:r>
              <a:t>参照資料（確認日：2026年9月19日）</a:t>
            </a:r>
          </a:p>
          <a:p xmlns:a="http://schemas.openxmlformats.org/drawingml/2006/main">
            <a:r>
              <a:t>ユーザー提供条件：4日間、詳しい人・協力先なし。チーム人数は未確認。2026年9月19日。</a:t>
            </a:r>
          </a:p>
          <a:p xmlns:a="http://schemas.openxmlformats.org/drawingml/2006/main">
            <a:r>
              <a:t/>
            </a:r>
          </a:p>
          <a:p xmlns:a="http://schemas.openxmlformats.org/drawingml/2006/main">
            <a:r>
              <a:t>設計提案・評価計画であり、実装・実測・チーム合意は未実施。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15. 採用確定・切替・縮小のルール</a:t>
            </a:r>
          </a:p>
          <a:p xmlns:a="http://schemas.openxmlformats.org/drawingml/2006/main">
            <a:r>
              <a:t/>
            </a:r>
          </a:p>
          <a:p xmlns:a="http://schemas.openxmlformats.org/drawingml/2006/main">
            <a:r>
              <a:t>| 判断時点 | 条件 | 決定 |</a:t>
            </a:r>
          </a:p>
          <a:p xmlns:a="http://schemas.openxmlformats.org/drawingml/2006/main">
            <a:r>
              <a:t>|---|---|---|</a:t>
            </a:r>
          </a:p>
          <a:p xmlns:a="http://schemas.openxmlformats.org/drawingml/2006/main">
            <a:r>
              <a:t>| 初期方針 | 4日間、専門家・協力先なし | 案05の欠勤調整を採用提案 |</a:t>
            </a:r>
          </a:p>
          <a:p xmlns:a="http://schemas.openxmlformats.org/drawingml/2006/main">
            <a:r>
              <a:t>| Day 1中間 | 05の通し動作が成立し、禁止条件を定義できる | 05を固定して進める |</a:t>
            </a:r>
          </a:p>
          <a:p xmlns:a="http://schemas.openxmlformats.org/drawingml/2006/main">
            <a:r>
              <a:t>| Day 1中間 | 05固有の障害があり、02の正解データ・通し動作が既に揃う | 02への切替を1回だけ検討 |</a:t>
            </a:r>
          </a:p>
          <a:p xmlns:a="http://schemas.openxmlformats.org/drawingml/2006/main">
            <a:r>
              <a:t>| Day 1中間 | OrcaRouterの接続・必須機能に問題 | 共通障害を解決。題材変更で解決したことにしない |</a:t>
            </a:r>
          </a:p>
          <a:p xmlns:a="http://schemas.openxmlformats.org/drawingml/2006/main">
            <a:r>
              <a:t>| Day 2終了 | 自律ループが未完成 | 05の候補数・連携・画面を縮小。別案へ全面変更しない |</a:t>
            </a:r>
          </a:p>
          <a:p xmlns:a="http://schemas.openxmlformats.org/drawingml/2006/main">
            <a:r>
              <a:t>| Day 3終了 | 制約違反や誤更新が残る | 対象操作を止め、修正・再検証。安全を未実証のまま断言しない |</a:t>
            </a:r>
          </a:p>
          <a:p xmlns:a="http://schemas.openxmlformats.org/drawingml/2006/main">
            <a:r>
              <a:t/>
            </a:r>
          </a:p>
          <a:p xmlns:a="http://schemas.openxmlformats.org/drawingml/2006/main">
            <a:r>
              <a:t>Day 1終了までに決める項目：チーム人数・担当・稼働時間、必要な接続情報、モデルと利用予算、打診期限、呼び出し上限、実装とモックの境界、デモ時間、評価ケース、公式の配点・利用条件。</a:t>
            </a:r>
          </a:p>
          <a:p xmlns:a="http://schemas.openxmlformats.org/drawingml/2006/main">
            <a:r>
              <a:t/>
            </a:r>
          </a:p>
          <a:p xmlns:a="http://schemas.openxmlformats.org/drawingml/2006/main">
            <a:r>
              <a:t/>
            </a:r>
          </a:p>
          <a:p xmlns:a="http://schemas.openxmlformats.org/drawingml/2006/main">
            <a:r>
              <a:t/>
            </a:r>
          </a:p>
          <a:p xmlns:a="http://schemas.openxmlformats.org/drawingml/2006/main">
            <a:r>
              <a:t>## 19. チームの決定記録</a:t>
            </a:r>
          </a:p>
          <a:p xmlns:a="http://schemas.openxmlformats.org/drawingml/2006/main">
            <a:r>
              <a:t/>
            </a:r>
          </a:p>
          <a:p xmlns:a="http://schemas.openxmlformats.org/drawingml/2006/main">
            <a:r>
              <a:t>- 推奨題材：案05、突発欠勤の代替スタッフ調整。</a:t>
            </a:r>
          </a:p>
          <a:p xmlns:a="http://schemas.openxmlformats.org/drawingml/2006/main">
            <a:r>
              <a:t>- 固定する中核：返信の解釈、再計画、制約検査、状態更新・読戻し、停止、実測。</a:t>
            </a:r>
          </a:p>
          <a:p xmlns:a="http://schemas.openxmlformats.org/drawingml/2006/main">
            <a:r>
              <a:t>- 今回の範囲外：天候・発注・実スタッフへの連絡・本番運用。</a:t>
            </a:r>
          </a:p>
          <a:p xmlns:a="http://schemas.openxmlformats.org/drawingml/2006/main">
            <a:r>
              <a:t>- チーム採否：会議で記入。</a:t>
            </a:r>
          </a:p>
          <a:p xmlns:a="http://schemas.openxmlformats.org/drawingml/2006/main">
            <a:r>
              <a:t>- 担当・利用予算・期限：Day 1に記入。</a:t>
            </a:r>
          </a:p>
          <a:p xmlns:a="http://schemas.openxmlformats.org/drawingml/2006/main">
            <a:r>
              <a:t>- 再判断：Day 1中間。以後は範囲縮小と完成度を優先。</a:t>
            </a:r>
          </a:p>
          <a:p xmlns:a="http://schemas.openxmlformats.org/drawingml/2006/main">
            <a:r>
              <a:t/>
            </a:r>
          </a:p>
          <a:p xmlns:a="http://schemas.openxmlformats.org/drawingml/2006/main">
            <a:r>
              <a:t>この決定記録の未記入欄はチームが決める項目であり、資料の作成時点で合意済みと扱わない。</a:t>
            </a:r>
          </a:p>
          <a:p xmlns:a="http://schemas.openxmlformats.org/drawingml/2006/main">
            <a:r>
              <a:t/>
            </a:r>
          </a:p>
          <a:p xmlns:a="http://schemas.openxmlformats.org/drawingml/2006/main">
            <a:r>
              <a:t/>
            </a:r>
          </a:p>
          <a:p xmlns:a="http://schemas.openxmlformats.org/drawingml/2006/main">
            <a:r>
              <a:t>参照資料（確認日：2026年9月19日）</a:t>
            </a:r>
          </a:p>
          <a:p xmlns:a="http://schemas.openxmlformats.org/drawingml/2006/main">
            <a:r>
              <a:t>ユーザー提供条件：4日間、詳しい人・協力先なし。チーム人数は未確認。2026年9月19日。</a:t>
            </a:r>
          </a:p>
          <a:p xmlns:a="http://schemas.openxmlformats.org/drawingml/2006/main">
            <a:r>
              <a:t/>
            </a:r>
          </a:p>
          <a:p xmlns:a="http://schemas.openxmlformats.org/drawingml/2006/main">
            <a:r>
              <a:t>設計提案・評価計画であり、実装・実測・チーム合意は未実施。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16. 想定される質問への回答</a:t>
            </a:r>
          </a:p>
          <a:p xmlns:a="http://schemas.openxmlformats.org/drawingml/2006/main">
            <a:r>
              <a:t/>
            </a:r>
          </a:p>
          <a:p xmlns:a="http://schemas.openxmlformats.org/drawingml/2006/main">
            <a:r>
              <a:t>| 質問 | 回答の骨子 |</a:t>
            </a:r>
          </a:p>
          <a:p xmlns:a="http://schemas.openxmlformats.org/drawingml/2006/main">
            <a:r>
              <a:t>|---|---|</a:t>
            </a:r>
          </a:p>
          <a:p xmlns:a="http://schemas.openxmlformats.org/drawingml/2006/main">
            <a:r>
              <a:t>| なぜ案02ではないのか | 数値検証の強みはある。今回は業務専門家なしの4日間なので、明示した勤務条件で再計画を検証できる05を優先 |</a:t>
            </a:r>
          </a:p>
          <a:p xmlns:a="http://schemas.openxmlformats.org/drawingml/2006/main">
            <a:r>
              <a:t>| 単なる自動送信ではないか | 辞退・部分承諾・失敗から未充足条件を再計算し、次の行動を選ぶ。固定返信だけのデモにはしない |</a:t>
            </a:r>
          </a:p>
          <a:p xmlns:a="http://schemas.openxmlformats.org/drawingml/2006/main">
            <a:r>
              <a:t>| 固定ルールだけで十分ではないか | 制約・計算には固定ルールを使う。AIの価値は自然文の条件理解と追加確認・行動選択。評価で価値が出なければ利用範囲を減らす |</a:t>
            </a:r>
          </a:p>
          <a:p xmlns:a="http://schemas.openxmlformats.org/drawingml/2006/main">
            <a:r>
              <a:t>| OrcaRouterで何が良くなったか | 同一ケースの高性能固定構成と比較し、品質、費用、時間、切替理由を実測して答える |</a:t>
            </a:r>
          </a:p>
          <a:p xmlns:a="http://schemas.openxmlformats.org/drawingml/2006/main">
            <a:r>
              <a:t>| 人への引き継ぎは自律性が低いのでは | 事前に許可した範囲では完了まで実行。範囲外は理由付きで停止。引き継ぎを完了として数えない |</a:t>
            </a:r>
          </a:p>
          <a:p xmlns:a="http://schemas.openxmlformats.org/drawingml/2006/main">
            <a:r>
              <a:t>| モックでは実用性が分からないのでは | 外部接続の模擬と、実装した意思決定・状態更新を明示する。本番導入や需要の検証は未実施 |</a:t>
            </a:r>
          </a:p>
          <a:p xmlns:a="http://schemas.openxmlformats.org/drawingml/2006/main">
            <a:r>
              <a:t>| 実際の現場で有効か | まだ仮説。欠勤頻度、店長の対応時間、連絡許可、既存ツールとの関係を現場で検証する必要がある |</a:t>
            </a:r>
          </a:p>
          <a:p xmlns:a="http://schemas.openxmlformats.org/drawingml/2006/main">
            <a:r>
              <a:t/>
            </a:r>
          </a:p>
          <a:p xmlns:a="http://schemas.openxmlformats.org/drawingml/2006/main">
            <a:r>
              <a:t/>
            </a:r>
          </a:p>
          <a:p xmlns:a="http://schemas.openxmlformats.org/drawingml/2006/main">
            <a:r>
              <a:t/>
            </a:r>
          </a:p>
          <a:p xmlns:a="http://schemas.openxmlformats.org/drawingml/2006/main">
            <a:r>
              <a:t>参照資料（確認日：2026年9月19日）</a:t>
            </a:r>
          </a:p>
          <a:p xmlns:a="http://schemas.openxmlformats.org/drawingml/2006/main">
            <a:r>
              <a:t>ユーザー提供条件：4日間、詳しい人・協力先なし。チーム人数は未確認。2026年9月19日。</a:t>
            </a:r>
          </a:p>
          <a:p xmlns:a="http://schemas.openxmlformats.org/drawingml/2006/main">
            <a:r>
              <a:t/>
            </a:r>
          </a:p>
          <a:p xmlns:a="http://schemas.openxmlformats.org/drawingml/2006/main">
            <a:r>
              <a:t>設計提案・評価計画であり、実装・実測・チーム合意は未実施。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17. ハッカソン後に残る検証</a:t>
            </a:r>
          </a:p>
          <a:p xmlns:a="http://schemas.openxmlformats.org/drawingml/2006/main">
            <a:r>
              <a:t/>
            </a:r>
          </a:p>
          <a:p xmlns:a="http://schemas.openxmlformats.org/drawingml/2006/main">
            <a:r>
              <a:t>案05を採ることは、原案の価格や売上試算を承認することではない。実店舗での欠勤対応頻度、調整時間、スタッフの負担、本人の意思の扱い、労務ルール、既存シフト製品との重複、通知費、導入権限を確認する。発注や需要予測を追加する場合は別の課題として検証する。</a:t>
            </a:r>
          </a:p>
          <a:p xmlns:a="http://schemas.openxmlformats.org/drawingml/2006/main">
            <a:r>
              <a:t/>
            </a:r>
          </a:p>
          <a:p xmlns:a="http://schemas.openxmlformats.org/drawingml/2006/main">
            <a:r>
              <a:t>案02は購買・経理担当者に、例外の頻度、証拠の所在、修正権限、承認、既存ERPとの連携方法を確認してから広げる。価格、費用対効果、顧客獲得、継続利用はいずれも未検証。</a:t>
            </a:r>
          </a:p>
          <a:p xmlns:a="http://schemas.openxmlformats.org/drawingml/2006/main">
            <a:r>
              <a:t/>
            </a:r>
          </a:p>
          <a:p xmlns:a="http://schemas.openxmlformats.org/drawingml/2006/main">
            <a:r>
              <a:t/>
            </a:r>
          </a:p>
          <a:p xmlns:a="http://schemas.openxmlformats.org/drawingml/2006/main">
            <a:r>
              <a:t/>
            </a:r>
          </a:p>
          <a:p xmlns:a="http://schemas.openxmlformats.org/drawingml/2006/main">
            <a:r>
              <a:t>参照資料（確認日：2026年9月19日）</a:t>
            </a:r>
          </a:p>
          <a:p xmlns:a="http://schemas.openxmlformats.org/drawingml/2006/main">
            <a:r>
              <a:t>元企画書 https://docs.google.com/document/d/1QBzy0iRmDaJL48Z6yTGGEkUaizDED3lCE9ZFU-AFbyM/edit</a:t>
            </a:r>
          </a:p>
          <a:p xmlns:a="http://schemas.openxmlformats.org/drawingml/2006/main">
            <a:r>
              <a:t>ユーザー提供条件：4日間、詳しい人・協力先なし。チーム人数は未確認。2026年9月19日。</a:t>
            </a:r>
          </a:p>
          <a:p xmlns:a="http://schemas.openxmlformats.org/drawingml/2006/main">
            <a:r>
              <a:t/>
            </a:r>
          </a:p>
          <a:p xmlns:a="http://schemas.openxmlformats.org/drawingml/2006/main">
            <a:r>
              <a:t>設計提案・評価計画であり、実装・実測・チーム合意は未実施。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19. チームの決定記録</a:t>
            </a:r>
          </a:p>
          <a:p xmlns:a="http://schemas.openxmlformats.org/drawingml/2006/main">
            <a:r>
              <a:t/>
            </a:r>
          </a:p>
          <a:p xmlns:a="http://schemas.openxmlformats.org/drawingml/2006/main">
            <a:r>
              <a:t>- 推奨題材：案05、突発欠勤の代替スタッフ調整。</a:t>
            </a:r>
          </a:p>
          <a:p xmlns:a="http://schemas.openxmlformats.org/drawingml/2006/main">
            <a:r>
              <a:t>- 固定する中核：返信の解釈、再計画、制約検査、状態更新・読戻し、停止、実測。</a:t>
            </a:r>
          </a:p>
          <a:p xmlns:a="http://schemas.openxmlformats.org/drawingml/2006/main">
            <a:r>
              <a:t>- 今回の範囲外：天候・発注・実スタッフへの連絡・本番運用。</a:t>
            </a:r>
          </a:p>
          <a:p xmlns:a="http://schemas.openxmlformats.org/drawingml/2006/main">
            <a:r>
              <a:t>- チーム採否：会議で記入。</a:t>
            </a:r>
          </a:p>
          <a:p xmlns:a="http://schemas.openxmlformats.org/drawingml/2006/main">
            <a:r>
              <a:t>- 担当・利用予算・期限：Day 1に記入。</a:t>
            </a:r>
          </a:p>
          <a:p xmlns:a="http://schemas.openxmlformats.org/drawingml/2006/main">
            <a:r>
              <a:t>- 再判断：Day 1中間。以後は範囲縮小と完成度を優先。</a:t>
            </a:r>
          </a:p>
          <a:p xmlns:a="http://schemas.openxmlformats.org/drawingml/2006/main">
            <a:r>
              <a:t/>
            </a:r>
          </a:p>
          <a:p xmlns:a="http://schemas.openxmlformats.org/drawingml/2006/main">
            <a:r>
              <a:t>この決定記録の未記入欄はチームが決める項目であり、資料の作成時点で合意済みと扱わない。</a:t>
            </a:r>
          </a:p>
          <a:p xmlns:a="http://schemas.openxmlformats.org/drawingml/2006/main">
            <a:r>
              <a:t/>
            </a:r>
          </a:p>
          <a:p xmlns:a="http://schemas.openxmlformats.org/drawingml/2006/main">
            <a:r>
              <a:t/>
            </a:r>
          </a:p>
          <a:p xmlns:a="http://schemas.openxmlformats.org/drawingml/2006/main">
            <a:r>
              <a:t>## 15. 採用確定・切替・縮小のルール</a:t>
            </a:r>
          </a:p>
          <a:p xmlns:a="http://schemas.openxmlformats.org/drawingml/2006/main">
            <a:r>
              <a:t/>
            </a:r>
          </a:p>
          <a:p xmlns:a="http://schemas.openxmlformats.org/drawingml/2006/main">
            <a:r>
              <a:t>| 判断時点 | 条件 | 決定 |</a:t>
            </a:r>
          </a:p>
          <a:p xmlns:a="http://schemas.openxmlformats.org/drawingml/2006/main">
            <a:r>
              <a:t>|---|---|---|</a:t>
            </a:r>
          </a:p>
          <a:p xmlns:a="http://schemas.openxmlformats.org/drawingml/2006/main">
            <a:r>
              <a:t>| 初期方針 | 4日間、専門家・協力先なし | 案05の欠勤調整を採用提案 |</a:t>
            </a:r>
          </a:p>
          <a:p xmlns:a="http://schemas.openxmlformats.org/drawingml/2006/main">
            <a:r>
              <a:t>| Day 1中間 | 05の通し動作が成立し、禁止条件を定義できる | 05を固定して進める |</a:t>
            </a:r>
          </a:p>
          <a:p xmlns:a="http://schemas.openxmlformats.org/drawingml/2006/main">
            <a:r>
              <a:t>| Day 1中間 | 05固有の障害があり、02の正解データ・通し動作が既に揃う | 02への切替を1回だけ検討 |</a:t>
            </a:r>
          </a:p>
          <a:p xmlns:a="http://schemas.openxmlformats.org/drawingml/2006/main">
            <a:r>
              <a:t>| Day 1中間 | OrcaRouterの接続・必須機能に問題 | 共通障害を解決。題材変更で解決したことにしない |</a:t>
            </a:r>
          </a:p>
          <a:p xmlns:a="http://schemas.openxmlformats.org/drawingml/2006/main">
            <a:r>
              <a:t>| Day 2終了 | 自律ループが未完成 | 05の候補数・連携・画面を縮小。別案へ全面変更しない |</a:t>
            </a:r>
          </a:p>
          <a:p xmlns:a="http://schemas.openxmlformats.org/drawingml/2006/main">
            <a:r>
              <a:t>| Day 3終了 | 制約違反や誤更新が残る | 対象操作を止め、修正・再検証。安全を未実証のまま断言しない |</a:t>
            </a:r>
          </a:p>
          <a:p xmlns:a="http://schemas.openxmlformats.org/drawingml/2006/main">
            <a:r>
              <a:t/>
            </a:r>
          </a:p>
          <a:p xmlns:a="http://schemas.openxmlformats.org/drawingml/2006/main">
            <a:r>
              <a:t>Day 1終了までに決める項目：チーム人数・担当・稼働時間、必要な接続情報、モデルと利用予算、打診期限、呼び出し上限、実装とモックの境界、デモ時間、評価ケース、公式の配点・利用条件。</a:t>
            </a:r>
          </a:p>
          <a:p xmlns:a="http://schemas.openxmlformats.org/drawingml/2006/main">
            <a:r>
              <a:t/>
            </a:r>
          </a:p>
          <a:p xmlns:a="http://schemas.openxmlformats.org/drawingml/2006/main">
            <a:r>
              <a:t/>
            </a:r>
          </a:p>
          <a:p xmlns:a="http://schemas.openxmlformats.org/drawingml/2006/main">
            <a:r>
              <a:t/>
            </a:r>
          </a:p>
          <a:p xmlns:a="http://schemas.openxmlformats.org/drawingml/2006/main">
            <a:r>
              <a:t>参照資料（確認日：2026年9月19日）</a:t>
            </a:r>
          </a:p>
          <a:p xmlns:a="http://schemas.openxmlformats.org/drawingml/2006/main">
            <a:r>
              <a:t>ユーザー提供条件：4日間、詳しい人・協力先なし。チーム人数は未確認。2026年9月19日。</a:t>
            </a:r>
          </a:p>
          <a:p xmlns:a="http://schemas.openxmlformats.org/drawingml/2006/main">
            <a:r>
              <a:t/>
            </a:r>
          </a:p>
          <a:p xmlns:a="http://schemas.openxmlformats.org/drawingml/2006/main">
            <a:r>
              <a:t>設計提案・評価計画であり、実装・実測・チーム合意は未実施。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18. 参照資料</a:t>
            </a:r>
          </a:p>
          <a:p xmlns:a="http://schemas.openxmlformats.org/drawingml/2006/main">
            <a:r>
              <a:t/>
            </a:r>
          </a:p>
          <a:p xmlns:a="http://schemas.openxmlformats.org/drawingml/2006/main">
            <a:r>
              <a:t>確認日：2026年9月19日。公開資料の機能説明は提供元の記載であり、このチームの実機検証結果ではない。</a:t>
            </a:r>
          </a:p>
          <a:p xmlns:a="http://schemas.openxmlformats.org/drawingml/2006/main">
            <a:r>
              <a:t/>
            </a:r>
          </a:p>
          <a:p xmlns:a="http://schemas.openxmlformats.org/drawingml/2006/main">
            <a:r>
              <a:t>- **S1 元企画書**：[業務自律化AIエージェント企画案（全10選）](https://docs.google.com/document/d/1QBzy0iRmDaJL48Z6yTGGEkUaizDED3lCE9ZFU-AFbyM/edit)。案05・02、共通構成、評価表を参照。</a:t>
            </a:r>
          </a:p>
          <a:p xmlns:a="http://schemas.openxmlformats.org/drawingml/2006/main">
            <a:r>
              <a:t>- **S2 共有レビュー**：[業務自律化AIエージェント企画案10選のレビュー](https://claude.ai/artifact/UkwVYwgpDgZ2zEwH56UkEb)。ブラウザで7項目の本文を確認。見解として扱い、公式仕様と区別。</a:t>
            </a:r>
          </a:p>
          <a:p xmlns:a="http://schemas.openxmlformats.org/drawingml/2006/main">
            <a:r>
              <a:t>- **S3 公式仕様**：[OrcaRouter Routing DSL](https://docs.orcarouter.ai/ja/routing/routing-dsl)。条件分岐・複数モデル利用の説明を確認。</a:t>
            </a:r>
          </a:p>
          <a:p xmlns:a="http://schemas.openxmlformats.org/drawingml/2006/main">
            <a:r>
              <a:t>- **S4 提供元発表**：[FlashLabsのRouting DSL提供開始](https://prtimes.jp/main/html/rd/p/000000043.000138449.html)。名称と機能の公開発表。性能の宣伝値は本判断に不使用。</a:t>
            </a:r>
          </a:p>
          <a:p xmlns:a="http://schemas.openxmlformats.org/drawingml/2006/main">
            <a:r>
              <a:t>- **S5 ログ**：[OrcaRouter Request Logs](https://www.orcarouter.ai/solutions/request-logs)。計測項目は提供アカウントで確認する。</a:t>
            </a:r>
          </a:p>
          <a:p xmlns:a="http://schemas.openxmlformats.org/drawingml/2006/main">
            <a:r>
              <a:t>- **S6 データ所在**：[OrcaRouter Trust Center](https://www.orcarouter.ai/trust)。証跡の地域と上流推論の地域を区別。</a:t>
            </a:r>
          </a:p>
          <a:p xmlns:a="http://schemas.openxmlformats.org/drawingml/2006/main">
            <a:r>
              <a:t>- **S7 公式の考察**：[Session-Aware Routing and Frontier Escalation](https://www.orcarouter.ai/blog/orcarouter-session-aware-routing)。会話途中のモデル切替の参考。公開ベンチマーク値は自分たちの成果として使用しない。</a:t>
            </a:r>
          </a:p>
          <a:p xmlns:a="http://schemas.openxmlformats.org/drawingml/2006/main">
            <a:r>
              <a:t>- **S8 会話内の情報**：元のハッカソン条件、前回のCodexレビュー、ユーザーの「4日間・詳しい人／協力先なし」。チーム人数・公式配点・実装性能は含まれない。</a:t>
            </a:r>
          </a:p>
          <a:p xmlns:a="http://schemas.openxmlformats.org/drawingml/2006/main">
            <a:r>
              <a:t/>
            </a:r>
          </a:p>
          <a:p xmlns:a="http://schemas.openxmlformats.org/drawingml/2006/main">
            <a:r>
              <a:t/>
            </a:r>
          </a:p>
          <a:p xmlns:a="http://schemas.openxmlformats.org/drawingml/2006/main">
            <a:r>
              <a:t/>
            </a:r>
          </a:p>
          <a:p xmlns:a="http://schemas.openxmlformats.org/drawingml/2006/main">
            <a:r>
              <a:t>参照資料（確認日：2026年9月19日）</a:t>
            </a:r>
          </a:p>
          <a:p xmlns:a="http://schemas.openxmlformats.org/drawingml/2006/main">
            <a:r>
              <a:t>元企画書 https://docs.google.com/document/d/1QBzy0iRmDaJL48Z6yTGGEkUaizDED3lCE9ZFU-AFbyM/edit</a:t>
            </a:r>
          </a:p>
          <a:p xmlns:a="http://schemas.openxmlformats.org/drawingml/2006/main">
            <a:r>
              <a:t>共有レビュー https://claude.ai/artifact/UkwVYwgpDgZ2zEwH56UkEb</a:t>
            </a:r>
          </a:p>
          <a:p xmlns:a="http://schemas.openxmlformats.org/drawingml/2006/main">
            <a:r>
              <a:t>OrcaRouter Routing DSL https://docs.orcarouter.ai/ja/routing/routing-dsl</a:t>
            </a:r>
          </a:p>
          <a:p xmlns:a="http://schemas.openxmlformats.org/drawingml/2006/main">
            <a:r>
              <a:t>FlashLabs Routing DSL発表 https://prtimes.jp/main/html/rd/p/000000043.000138449.html</a:t>
            </a:r>
          </a:p>
          <a:p xmlns:a="http://schemas.openxmlformats.org/drawingml/2006/main">
            <a:r>
              <a:t>OrcaRouter Request Logs https://www.orcarouter.ai/solutions/request-logs</a:t>
            </a:r>
          </a:p>
          <a:p xmlns:a="http://schemas.openxmlformats.org/drawingml/2006/main">
            <a:r>
              <a:t>OrcaRouter Trust Center https://www.orcarouter.ai/trust</a:t>
            </a:r>
          </a:p>
          <a:p xmlns:a="http://schemas.openxmlformats.org/drawingml/2006/main">
            <a:r>
              <a:t>OrcaRouter Session-Aware Routing https://www.orcarouter.ai/blog/orcarouter-session-aware-routing</a:t>
            </a:r>
          </a:p>
          <a:p xmlns:a="http://schemas.openxmlformats.org/drawingml/2006/main">
            <a:r>
              <a:t>ユーザー提供条件：4日間、詳しい人・協力先なし。チーム人数は未確認。2026年9月19日。</a:t>
            </a:r>
          </a:p>
          <a:p xmlns:a="http://schemas.openxmlformats.org/drawingml/2006/main">
            <a:r>
              <a:t/>
            </a:r>
          </a:p>
          <a:p xmlns:a="http://schemas.openxmlformats.org/drawingml/2006/main">
            <a:r>
              <a:t>設計提案・評価計画であり、実装・実測・チーム合意は未実施。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ee09320b7e24c4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65e264d6f374bcd" /><Relationship Type="http://schemas.openxmlformats.org/officeDocument/2006/relationships/slideLayout" Target="/ppt/slideLayouts/slideLayout1.xml" Id="R6fb79999fd0f436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fb79999fd0f436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10a8b7460fa4e73" /><Relationship Type="http://schemas.openxmlformats.org/officeDocument/2006/relationships/notesSlide" Target="/ppt/notesSlides/notesSlide1.xml" Id="R94e52dd580634fb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4d1b89a7db645ab" /><Relationship Type="http://schemas.openxmlformats.org/officeDocument/2006/relationships/notesSlide" Target="/ppt/notesSlides/notesSlide2.xml" Id="R6324a3933d3b4fa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1821176fb6f4014" /><Relationship Type="http://schemas.openxmlformats.org/officeDocument/2006/relationships/notesSlide" Target="/ppt/notesSlides/notesSlide3.xml" Id="Rfffd3e5c9aaa4e5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3ebb1862d9343e1" /><Relationship Type="http://schemas.openxmlformats.org/officeDocument/2006/relationships/notesSlide" Target="/ppt/notesSlides/notesSlide4.xml" Id="Rcfe33a5539f3424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c3775ad3ba44c68" /><Relationship Type="http://schemas.openxmlformats.org/officeDocument/2006/relationships/notesSlide" Target="/ppt/notesSlides/notesSlide5.xml" Id="R72f1eda755b048f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152fb4330ec49fd" /><Relationship Type="http://schemas.openxmlformats.org/officeDocument/2006/relationships/notesSlide" Target="/ppt/notesSlides/notesSlide6.xml" Id="R8927445a5e2a4c4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f2e239b02084c3a" /><Relationship Type="http://schemas.openxmlformats.org/officeDocument/2006/relationships/notesSlide" Target="/ppt/notesSlides/notesSlide7.xml" Id="R5554f9a2d5dd471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0cfc4bfaa4f4723" /><Relationship Type="http://schemas.openxmlformats.org/officeDocument/2006/relationships/notesSlide" Target="/ppt/notesSlides/notesSlide8.xml" Id="R727fa944bbdf4e5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c41314dac61461d" /><Relationship Type="http://schemas.openxmlformats.org/officeDocument/2006/relationships/notesSlide" Target="/ppt/notesSlides/notesSlide9.xml" Id="Re193ef822a11442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5d174ad686e4353" /><Relationship Type="http://schemas.openxmlformats.org/officeDocument/2006/relationships/notesSlide" Target="/ppt/notesSlides/notesSlide10.xml" Id="R1d93575301814a7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5fe704681ec4ae0" /><Relationship Type="http://schemas.openxmlformats.org/officeDocument/2006/relationships/notesSlide" Target="/ppt/notesSlides/notesSlide11.xml" Id="Rfabeb2909f33400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708c4ab8c9094a49" /><Relationship Type="http://schemas.openxmlformats.org/officeDocument/2006/relationships/notesSlide" Target="/ppt/notesSlides/notesSlide12.xml" Id="Rbb6733e98fa7435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fdba99d792d14f07" /><Relationship Type="http://schemas.openxmlformats.org/officeDocument/2006/relationships/notesSlide" Target="/ppt/notesSlides/notesSlide13.xml" Id="R253430a8ddff4cf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ed89c59b335e441c" /><Relationship Type="http://schemas.openxmlformats.org/officeDocument/2006/relationships/notesSlide" Target="/ppt/notesSlides/notesSlide14.xml" Id="Rf5bc382569034ef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df6754ba47694217" /><Relationship Type="http://schemas.openxmlformats.org/officeDocument/2006/relationships/notesSlide" Target="/ppt/notesSlides/notesSlide15.xml" Id="R9d82946de82249e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33d4f68a94344929" /><Relationship Type="http://schemas.openxmlformats.org/officeDocument/2006/relationships/notesSlide" Target="/ppt/notesSlides/notesSlide16.xml" Id="R466c805162c04b7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63577ad0c1c34067" /><Relationship Type="http://schemas.openxmlformats.org/officeDocument/2006/relationships/notesSlide" Target="/ppt/notesSlides/notesSlide17.xml" Id="Rba35de842ab24a06"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e70b4b05e9e0423c" /><Relationship Type="http://schemas.openxmlformats.org/officeDocument/2006/relationships/notesSlide" Target="/ppt/notesSlides/notesSlide18.xml" Id="R04d3ba912e664539"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ba530217910c4e8d" /><Relationship Type="http://schemas.openxmlformats.org/officeDocument/2006/relationships/notesSlide" Target="/ppt/notesSlides/notesSlide19.xml" Id="R09ec784b3f9b4613"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6fb4ba021c0a45b5" /><Relationship Type="http://schemas.openxmlformats.org/officeDocument/2006/relationships/notesSlide" Target="/ppt/notesSlides/notesSlide20.xml" Id="R4fc5228603ce4ff4"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357b66558dda4b60" /><Relationship Type="http://schemas.openxmlformats.org/officeDocument/2006/relationships/notesSlide" Target="/ppt/notesSlides/notesSlide21.xml" Id="Rd1ca11f17b32437d"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7ffbf850ad154668" /><Relationship Type="http://schemas.openxmlformats.org/officeDocument/2006/relationships/notesSlide" Target="/ppt/notesSlides/notesSlide22.xml" Id="R9d4c7063075f45bf"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4ecafb3526644f3a" /><Relationship Type="http://schemas.openxmlformats.org/officeDocument/2006/relationships/notesSlide" Target="/ppt/notesSlides/notesSlide23.xml" Id="R9627930f188048bd"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c792d9f9132d4b44" /><Relationship Type="http://schemas.openxmlformats.org/officeDocument/2006/relationships/notesSlide" Target="/ppt/notesSlides/notesSlide24.xml" Id="R98c217e024f54f61"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5a749c4b6bfc4323" /><Relationship Type="http://schemas.openxmlformats.org/officeDocument/2006/relationships/notesSlide" Target="/ppt/notesSlides/notesSlide25.xml" Id="R8864ce2599d947de"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d2967d961ec14ccd" /><Relationship Type="http://schemas.openxmlformats.org/officeDocument/2006/relationships/notesSlide" Target="/ppt/notesSlides/notesSlide26.xml" Id="Re05c91609b4a4ff3"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920a6ec721b843b4" /><Relationship Type="http://schemas.openxmlformats.org/officeDocument/2006/relationships/notesSlide" Target="/ppt/notesSlides/notesSlide27.xml" Id="R1a60afc0186845e1" /></Relationships>
</file>

<file path=ppt/slides/slide1.xml><?xml version="1.0" encoding="utf-8"?>
<p:sld xmlns:p="http://schemas.openxmlformats.org/presentationml/2006/main">
  <p:cSld>
    <p:bg>
      <p:bgPr>
        <a:solidFill xmlns:a="http://schemas.openxmlformats.org/drawingml/2006/main">
          <a:srgbClr val="132B3A"/>
        </a:solidFill>
      </p:bgPr>
    </p:bg>
    <p:spTree>
      <p:nvGrpSpPr>
        <p:cNvPr id="1" name=""/>
        <p:cNvGrpSpPr/>
        <p:nvPr/>
      </p:nvGrpSpPr>
      <p:grpSpPr>
        <a:xfrm xmlns:a="http://schemas.openxmlformats.org/drawingml/2006/main"/>
      </p:grpSpPr>
      <p:sp>
        <p:nvSpPr>
          <p:cNvPr id="6" name="text-1-0">
            <a:extLst xmlns:a="http://schemas.openxmlformats.org/drawingml/2006/main">
              <a:ext uri="{FF2B5EF4-FFF2-40B4-BE49-F238E27FC236}">
                <a16:creationId xmlns:a16="http://schemas.microsoft.com/office/drawing/2014/main" id="{AD298A86-383E-44BE-94BB-1A913109CB78}"/>
              </a:ext>
            </a:extLst>
          </p:cNvPr>
          <p:cNvSpPr>
            <a:spLocks xmlns:a="http://schemas.openxmlformats.org/drawingml/2006/main" noGrp="1"/>
          </p:cNvSpPr>
          <p:nvPr/>
        </p:nvSpPr>
        <p:spPr>
          <a:xfrm xmlns:a="http://schemas.openxmlformats.org/drawingml/2006/main">
            <a:off x="11077575" y="6391275"/>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BAC8CD"/>
                </a:solidFill>
                <a:latin typeface="Hiragino Sans"/>
                <a:ea typeface="Hiragino Sans"/>
                <a:cs typeface="Hiragino Sans"/>
              </a:defRPr>
            </a:pPr>
            <a:r>
              <a:rPr sz="1275" b="0">
                <a:solidFill>
                  <a:srgbClr val="BAC8CD"/>
                </a:solidFill>
                <a:latin typeface="Hiragino Sans"/>
                <a:ea typeface="Hiragino Sans"/>
                <a:cs typeface="Hiragino Sans"/>
              </a:rPr>
              <a:t>01</a:t>
            </a:r>
          </a:p>
        </p:txBody>
      </p:sp>
      <p:sp>
        <p:nvSpPr>
          <p:cNvPr id="2" name="text-1-1">
            <a:extLst xmlns:a="http://schemas.openxmlformats.org/drawingml/2006/main">
              <a:ext uri="{FF2B5EF4-FFF2-40B4-BE49-F238E27FC236}">
                <a16:creationId xmlns:a16="http://schemas.microsoft.com/office/drawing/2014/main" id="{FEF55D2C-5B92-4F10-A6A2-ADD792CA33C2}"/>
              </a:ext>
            </a:extLst>
          </p:cNvPr>
          <p:cNvSpPr>
            <a:spLocks xmlns:a="http://schemas.openxmlformats.org/drawingml/2006/main" noGrp="1"/>
          </p:cNvSpPr>
          <p:nvPr/>
        </p:nvSpPr>
        <p:spPr>
          <a:xfrm xmlns:a="http://schemas.openxmlformats.org/drawingml/2006/main">
            <a:off x="609600" y="647700"/>
            <a:ext cx="1047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C5D5DC"/>
                </a:solidFill>
                <a:latin typeface="Hiragino Sans"/>
                <a:ea typeface="Hiragino Sans"/>
                <a:cs typeface="Hiragino Sans"/>
              </a:defRPr>
            </a:pPr>
            <a:r>
              <a:rPr sz="2175" b="0">
                <a:solidFill>
                  <a:srgbClr val="C5D5DC"/>
                </a:solidFill>
                <a:latin typeface="Hiragino Sans"/>
                <a:ea typeface="Hiragino Sans"/>
                <a:cs typeface="Hiragino Sans"/>
              </a:rPr>
              <a:t>チーム採用提案</a:t>
            </a:r>
          </a:p>
        </p:txBody>
      </p:sp>
      <p:sp>
        <p:nvSpPr>
          <p:cNvPr id="3" name="text-1-2">
            <a:extLst xmlns:a="http://schemas.openxmlformats.org/drawingml/2006/main">
              <a:ext uri="{FF2B5EF4-FFF2-40B4-BE49-F238E27FC236}">
                <a16:creationId xmlns:a16="http://schemas.microsoft.com/office/drawing/2014/main" id="{8170490D-A82D-419F-BC43-52CFAEC99B81}"/>
              </a:ext>
            </a:extLst>
          </p:cNvPr>
          <p:cNvSpPr>
            <a:spLocks xmlns:a="http://schemas.openxmlformats.org/drawingml/2006/main" noGrp="1"/>
          </p:cNvSpPr>
          <p:nvPr/>
        </p:nvSpPr>
        <p:spPr>
          <a:xfrm xmlns:a="http://schemas.openxmlformats.org/drawingml/2006/main">
            <a:off x="609600" y="1762125"/>
            <a:ext cx="10858500" cy="198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800" b="1">
                <a:solidFill>
                  <a:srgbClr val="FFFFFF"/>
                </a:solidFill>
                <a:latin typeface="Hiragino Sans"/>
                <a:ea typeface="Hiragino Sans"/>
                <a:cs typeface="Hiragino Sans"/>
              </a:defRPr>
            </a:pPr>
            <a:r>
              <a:rPr sz="4800" b="1">
                <a:solidFill>
                  <a:srgbClr val="FFFFFF"/>
                </a:solidFill>
                <a:latin typeface="Hiragino Sans"/>
                <a:ea typeface="Hiragino Sans"/>
                <a:cs typeface="Hiragino Sans"/>
              </a:rPr>
              <a:t>案05：突発欠勤の</a:t>
            </a:r>
          </a:p>
          <a:p xmlns:a="http://schemas.openxmlformats.org/drawingml/2006/main">
            <a:pPr>
              <a:defRPr sz="4800" b="1">
                <a:solidFill>
                  <a:srgbClr val="FFFFFF"/>
                </a:solidFill>
                <a:latin typeface="Hiragino Sans"/>
                <a:ea typeface="Hiragino Sans"/>
                <a:cs typeface="Hiragino Sans"/>
              </a:defRPr>
            </a:pPr>
            <a:r>
              <a:rPr sz="4800" b="1">
                <a:solidFill>
                  <a:srgbClr val="FFFFFF"/>
                </a:solidFill>
                <a:latin typeface="Hiragino Sans"/>
                <a:ea typeface="Hiragino Sans"/>
                <a:cs typeface="Hiragino Sans"/>
              </a:rPr>
              <a:t>代替スタッフ調整</a:t>
            </a:r>
          </a:p>
        </p:txBody>
      </p:sp>
      <p:sp>
        <p:nvSpPr>
          <p:cNvPr id="4" name="text-1-3">
            <a:extLst xmlns:a="http://schemas.openxmlformats.org/drawingml/2006/main">
              <a:ext uri="{FF2B5EF4-FFF2-40B4-BE49-F238E27FC236}">
                <a16:creationId xmlns:a16="http://schemas.microsoft.com/office/drawing/2014/main" id="{5635D494-7B59-49F0-B866-197ACB03FF5E}"/>
              </a:ext>
            </a:extLst>
          </p:cNvPr>
          <p:cNvSpPr>
            <a:spLocks xmlns:a="http://schemas.openxmlformats.org/drawingml/2006/main" noGrp="1"/>
          </p:cNvSpPr>
          <p:nvPr/>
        </p:nvSpPr>
        <p:spPr>
          <a:xfrm xmlns:a="http://schemas.openxmlformats.org/drawingml/2006/main">
            <a:off x="647700" y="4114800"/>
            <a:ext cx="10477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DEE7E9"/>
                </a:solidFill>
                <a:latin typeface="Hiragino Sans"/>
                <a:ea typeface="Hiragino Sans"/>
                <a:cs typeface="Hiragino Sans"/>
              </a:defRPr>
            </a:pPr>
            <a:r>
              <a:rPr sz="2250" b="0">
                <a:solidFill>
                  <a:srgbClr val="DEE7E9"/>
                </a:solidFill>
                <a:latin typeface="Hiragino Sans"/>
                <a:ea typeface="Hiragino Sans"/>
                <a:cs typeface="Hiragino Sans"/>
              </a:rPr>
              <a:t>案02との比較と、4日間の実装・検証計画</a:t>
            </a:r>
          </a:p>
        </p:txBody>
      </p:sp>
      <p:sp>
        <p:nvSpPr>
          <p:cNvPr id="5" name="text-1-4">
            <a:extLst xmlns:a="http://schemas.openxmlformats.org/drawingml/2006/main">
              <a:ext uri="{FF2B5EF4-FFF2-40B4-BE49-F238E27FC236}">
                <a16:creationId xmlns:a16="http://schemas.microsoft.com/office/drawing/2014/main" id="{A1D83D61-6A07-4197-8228-AFB7B26357EC}"/>
              </a:ext>
            </a:extLst>
          </p:cNvPr>
          <p:cNvSpPr>
            <a:spLocks xmlns:a="http://schemas.openxmlformats.org/drawingml/2006/main" noGrp="1"/>
          </p:cNvSpPr>
          <p:nvPr/>
        </p:nvSpPr>
        <p:spPr>
          <a:xfrm xmlns:a="http://schemas.openxmlformats.org/drawingml/2006/main">
            <a:off x="647700" y="5362575"/>
            <a:ext cx="9715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C5D5DC"/>
                </a:solidFill>
                <a:latin typeface="Hiragino Sans"/>
                <a:ea typeface="Hiragino Sans"/>
                <a:cs typeface="Hiragino Sans"/>
              </a:defRPr>
            </a:pPr>
            <a:r>
              <a:rPr sz="1800" b="0">
                <a:solidFill>
                  <a:srgbClr val="C5D5DC"/>
                </a:solidFill>
                <a:latin typeface="Hiragino Sans"/>
                <a:ea typeface="Hiragino Sans"/>
                <a:cs typeface="Hiragino Sans"/>
              </a:rPr>
              <a:t>2026年9月19日</a:t>
            </a:r>
          </a:p>
          <a:p xmlns:a="http://schemas.openxmlformats.org/drawingml/2006/main">
            <a:pPr>
              <a:defRPr sz="1800" b="0">
                <a:solidFill>
                  <a:srgbClr val="C5D5DC"/>
                </a:solidFill>
                <a:latin typeface="Hiragino Sans"/>
                <a:ea typeface="Hiragino Sans"/>
                <a:cs typeface="Hiragino Sans"/>
              </a:defRPr>
            </a:pPr>
            <a:r>
              <a:rPr sz="1800" b="0">
                <a:solidFill>
                  <a:srgbClr val="C5D5DC"/>
                </a:solidFill>
                <a:latin typeface="Hiragino Sans"/>
                <a:ea typeface="Hiragino Sans"/>
                <a:cs typeface="Hiragino Sans"/>
              </a:rPr>
              <a:t>前提：4日間／現場の専門家・協力先なし</a:t>
            </a:r>
          </a:p>
        </p:txBody>
      </p:sp>
    </p:spTree>
    <p:extLst>
      <p:ext uri="{BB962C8B-B14F-4D97-AF65-F5344CB8AC3E}">
        <p14:creationId xmlns:p14="http://schemas.microsoft.com/office/powerpoint/2010/main" val="1091767020"/>
      </p:ext>
    </p:extLst>
  </p:cSld>
</p:sld>
</file>

<file path=ppt/slides/slide2.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10" name="text-2-0">
            <a:extLst xmlns:a="http://schemas.openxmlformats.org/drawingml/2006/main">
              <a:ext uri="{FF2B5EF4-FFF2-40B4-BE49-F238E27FC236}">
                <a16:creationId xmlns:a16="http://schemas.microsoft.com/office/drawing/2014/main" id="{6A08682D-59BC-434D-9A49-E53F79E713E3}"/>
              </a:ext>
            </a:extLst>
          </p:cNvPr>
          <p:cNvSpPr>
            <a:spLocks xmlns:a="http://schemas.openxmlformats.org/drawingml/2006/main" noGrp="1"/>
          </p:cNvSpPr>
          <p:nvPr/>
        </p:nvSpPr>
        <p:spPr>
          <a:xfrm xmlns:a="http://schemas.openxmlformats.org/drawingml/2006/main">
            <a:off x="609600" y="409575"/>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32B3A"/>
                </a:solidFill>
                <a:latin typeface="Hiragino Sans"/>
                <a:ea typeface="Hiragino Sans"/>
                <a:cs typeface="Hiragino Sans"/>
              </a:defRPr>
            </a:pPr>
            <a:r>
              <a:rPr sz="3300" b="1">
                <a:solidFill>
                  <a:srgbClr val="132B3A"/>
                </a:solidFill>
                <a:latin typeface="Hiragino Sans"/>
                <a:ea typeface="Hiragino Sans"/>
                <a:cs typeface="Hiragino Sans"/>
              </a:rPr>
              <a:t>今回の条件では、案05を狭く作る</a:t>
            </a:r>
          </a:p>
        </p:txBody>
      </p:sp>
      <p:sp>
        <p:nvSpPr>
          <p:cNvPr id="2" name="text-2-1">
            <a:extLst xmlns:a="http://schemas.openxmlformats.org/drawingml/2006/main">
              <a:ext uri="{FF2B5EF4-FFF2-40B4-BE49-F238E27FC236}">
                <a16:creationId xmlns:a16="http://schemas.microsoft.com/office/drawing/2014/main" id="{CE19EFF5-115F-4097-B409-D23D906F2ED1}"/>
              </a:ext>
            </a:extLst>
          </p:cNvPr>
          <p:cNvSpPr>
            <a:spLocks xmlns:a="http://schemas.openxmlformats.org/drawingml/2006/main" noGrp="1"/>
          </p:cNvSpPr>
          <p:nvPr/>
        </p:nvSpPr>
        <p:spPr>
          <a:xfrm xmlns:a="http://schemas.openxmlformats.org/drawingml/2006/main">
            <a:off x="11077575" y="6391275"/>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D6B73"/>
                </a:solidFill>
                <a:latin typeface="Hiragino Sans"/>
                <a:ea typeface="Hiragino Sans"/>
                <a:cs typeface="Hiragino Sans"/>
              </a:defRPr>
            </a:pPr>
            <a:r>
              <a:rPr sz="1275" b="0">
                <a:solidFill>
                  <a:srgbClr val="5D6B73"/>
                </a:solidFill>
                <a:latin typeface="Hiragino Sans"/>
                <a:ea typeface="Hiragino Sans"/>
                <a:cs typeface="Hiragino Sans"/>
              </a:rPr>
              <a:t>02</a:t>
            </a:r>
          </a:p>
        </p:txBody>
      </p:sp>
      <p:sp>
        <p:nvSpPr>
          <p:cNvPr id="3" name="text-2-2">
            <a:extLst xmlns:a="http://schemas.openxmlformats.org/drawingml/2006/main">
              <a:ext uri="{FF2B5EF4-FFF2-40B4-BE49-F238E27FC236}">
                <a16:creationId xmlns:a16="http://schemas.microsoft.com/office/drawing/2014/main" id="{7BB42C1F-3DA6-4411-99EF-1CB2A7E71348}"/>
              </a:ext>
            </a:extLst>
          </p:cNvPr>
          <p:cNvSpPr>
            <a:spLocks xmlns:a="http://schemas.openxmlformats.org/drawingml/2006/main" noGrp="1"/>
          </p:cNvSpPr>
          <p:nvPr/>
        </p:nvSpPr>
        <p:spPr>
          <a:xfrm xmlns:a="http://schemas.openxmlformats.org/drawingml/2006/main">
            <a:off x="609600" y="6238875"/>
            <a:ext cx="10144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D6B73"/>
                </a:solidFill>
                <a:latin typeface="Hiragino Sans"/>
                <a:ea typeface="Hiragino Sans"/>
                <a:cs typeface="Hiragino Sans"/>
              </a:defRPr>
            </a:pPr>
            <a:r>
              <a:rPr sz="1275" b="0">
                <a:solidFill>
                  <a:srgbClr val="5D6B73"/>
                </a:solidFill>
                <a:latin typeface="Hiragino Sans"/>
                <a:ea typeface="Hiragino Sans"/>
                <a:cs typeface="Hiragino Sans"/>
              </a:rPr>
              <a:t>採用は推奨案。チーム人数・稼働時間・公式配点は未確認。</a:t>
            </a:r>
          </a:p>
        </p:txBody>
      </p:sp>
      <p:sp>
        <p:nvSpPr>
          <p:cNvPr id="4" name="text-2-3">
            <a:extLst xmlns:a="http://schemas.openxmlformats.org/drawingml/2006/main">
              <a:ext uri="{FF2B5EF4-FFF2-40B4-BE49-F238E27FC236}">
                <a16:creationId xmlns:a16="http://schemas.microsoft.com/office/drawing/2014/main" id="{B6D6636D-6B1B-42A6-9E5F-8E55A93A4E18}"/>
              </a:ext>
            </a:extLst>
          </p:cNvPr>
          <p:cNvSpPr>
            <a:spLocks xmlns:a="http://schemas.openxmlformats.org/drawingml/2006/main" noGrp="1"/>
          </p:cNvSpPr>
          <p:nvPr/>
        </p:nvSpPr>
        <p:spPr>
          <a:xfrm xmlns:a="http://schemas.openxmlformats.org/drawingml/2006/main">
            <a:off x="609600" y="1590675"/>
            <a:ext cx="2057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BE542A"/>
                </a:solidFill>
                <a:latin typeface="Hiragino Sans"/>
                <a:ea typeface="Hiragino Sans"/>
                <a:cs typeface="Hiragino Sans"/>
              </a:defRPr>
            </a:pPr>
            <a:r>
              <a:rPr sz="2175" b="1">
                <a:solidFill>
                  <a:srgbClr val="BE542A"/>
                </a:solidFill>
                <a:latin typeface="Hiragino Sans"/>
                <a:ea typeface="Hiragino Sans"/>
                <a:cs typeface="Hiragino Sans"/>
              </a:rPr>
              <a:t>採用範囲</a:t>
            </a:r>
          </a:p>
        </p:txBody>
      </p:sp>
      <p:sp>
        <p:nvSpPr>
          <p:cNvPr id="5" name="text-2-4">
            <a:extLst xmlns:a="http://schemas.openxmlformats.org/drawingml/2006/main">
              <a:ext uri="{FF2B5EF4-FFF2-40B4-BE49-F238E27FC236}">
                <a16:creationId xmlns:a16="http://schemas.microsoft.com/office/drawing/2014/main" id="{83B3652E-ACA9-44A4-94B0-00C8ECD07752}"/>
              </a:ext>
            </a:extLst>
          </p:cNvPr>
          <p:cNvSpPr>
            <a:spLocks xmlns:a="http://schemas.openxmlformats.org/drawingml/2006/main" noGrp="1"/>
          </p:cNvSpPr>
          <p:nvPr/>
        </p:nvSpPr>
        <p:spPr>
          <a:xfrm xmlns:a="http://schemas.openxmlformats.org/drawingml/2006/main">
            <a:off x="2876550" y="1590675"/>
            <a:ext cx="87058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203640"/>
                </a:solidFill>
                <a:latin typeface="Hiragino Sans"/>
                <a:ea typeface="Hiragino Sans"/>
                <a:cs typeface="Hiragino Sans"/>
              </a:defRPr>
            </a:pPr>
            <a:r>
              <a:rPr sz="2025" b="0">
                <a:solidFill>
                  <a:srgbClr val="203640"/>
                </a:solidFill>
                <a:latin typeface="Hiragino Sans"/>
                <a:ea typeface="Hiragino Sans"/>
                <a:cs typeface="Hiragino Sans"/>
              </a:rPr>
              <a:t>欠勤の受付から、辞退・部分承諾への再調整、</a:t>
            </a:r>
          </a:p>
          <a:p xmlns:a="http://schemas.openxmlformats.org/drawingml/2006/main">
            <a:pPr>
              <a:defRPr sz="2025" b="0">
                <a:solidFill>
                  <a:srgbClr val="203640"/>
                </a:solidFill>
                <a:latin typeface="Hiragino Sans"/>
                <a:ea typeface="Hiragino Sans"/>
                <a:cs typeface="Hiragino Sans"/>
              </a:defRPr>
            </a:pPr>
            <a:r>
              <a:rPr sz="2025" b="0">
                <a:solidFill>
                  <a:srgbClr val="203640"/>
                </a:solidFill>
                <a:latin typeface="Hiragino Sans"/>
                <a:ea typeface="Hiragino Sans"/>
                <a:cs typeface="Hiragino Sans"/>
              </a:rPr>
              <a:t>シフト確定または理由付き引き継ぎまで</a:t>
            </a:r>
          </a:p>
        </p:txBody>
      </p:sp>
      <p:sp>
        <p:nvSpPr>
          <p:cNvPr id="6" name="text-2-5">
            <a:extLst xmlns:a="http://schemas.openxmlformats.org/drawingml/2006/main">
              <a:ext uri="{FF2B5EF4-FFF2-40B4-BE49-F238E27FC236}">
                <a16:creationId xmlns:a16="http://schemas.microsoft.com/office/drawing/2014/main" id="{4A5EF683-1967-46A4-8CF7-CEA56EA91C01}"/>
              </a:ext>
            </a:extLst>
          </p:cNvPr>
          <p:cNvSpPr>
            <a:spLocks xmlns:a="http://schemas.openxmlformats.org/drawingml/2006/main" noGrp="1"/>
          </p:cNvSpPr>
          <p:nvPr/>
        </p:nvSpPr>
        <p:spPr>
          <a:xfrm xmlns:a="http://schemas.openxmlformats.org/drawingml/2006/main">
            <a:off x="609600" y="2857500"/>
            <a:ext cx="2057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BE542A"/>
                </a:solidFill>
                <a:latin typeface="Hiragino Sans"/>
                <a:ea typeface="Hiragino Sans"/>
                <a:cs typeface="Hiragino Sans"/>
              </a:defRPr>
            </a:pPr>
            <a:r>
              <a:rPr sz="2175" b="1">
                <a:solidFill>
                  <a:srgbClr val="BE542A"/>
                </a:solidFill>
                <a:latin typeface="Hiragino Sans"/>
                <a:ea typeface="Hiragino Sans"/>
                <a:cs typeface="Hiragino Sans"/>
              </a:rPr>
              <a:t>判断理由</a:t>
            </a:r>
          </a:p>
        </p:txBody>
      </p:sp>
      <p:sp>
        <p:nvSpPr>
          <p:cNvPr id="7" name="text-2-6">
            <a:extLst xmlns:a="http://schemas.openxmlformats.org/drawingml/2006/main">
              <a:ext uri="{FF2B5EF4-FFF2-40B4-BE49-F238E27FC236}">
                <a16:creationId xmlns:a16="http://schemas.microsoft.com/office/drawing/2014/main" id="{DF25A3F3-066D-405A-B3BF-9E0ED1F25D6E}"/>
              </a:ext>
            </a:extLst>
          </p:cNvPr>
          <p:cNvSpPr>
            <a:spLocks xmlns:a="http://schemas.openxmlformats.org/drawingml/2006/main" noGrp="1"/>
          </p:cNvSpPr>
          <p:nvPr/>
        </p:nvSpPr>
        <p:spPr>
          <a:xfrm xmlns:a="http://schemas.openxmlformats.org/drawingml/2006/main">
            <a:off x="2876550" y="2857500"/>
            <a:ext cx="87058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203640"/>
                </a:solidFill>
                <a:latin typeface="Hiragino Sans"/>
                <a:ea typeface="Hiragino Sans"/>
                <a:cs typeface="Hiragino Sans"/>
              </a:defRPr>
            </a:pPr>
            <a:r>
              <a:rPr sz="2025" b="0">
                <a:solidFill>
                  <a:srgbClr val="203640"/>
                </a:solidFill>
                <a:latin typeface="Hiragino Sans"/>
                <a:ea typeface="Hiragino Sans"/>
                <a:cs typeface="Hiragino Sans"/>
              </a:rPr>
              <a:t>架空の1店舗と明示した勤務条件で、</a:t>
            </a:r>
          </a:p>
          <a:p xmlns:a="http://schemas.openxmlformats.org/drawingml/2006/main">
            <a:pPr>
              <a:defRPr sz="2025" b="0">
                <a:solidFill>
                  <a:srgbClr val="203640"/>
                </a:solidFill>
                <a:latin typeface="Hiragino Sans"/>
                <a:ea typeface="Hiragino Sans"/>
                <a:cs typeface="Hiragino Sans"/>
              </a:defRPr>
            </a:pPr>
            <a:r>
              <a:rPr sz="2025" b="0">
                <a:solidFill>
                  <a:srgbClr val="203640"/>
                </a:solidFill>
                <a:latin typeface="Hiragino Sans"/>
                <a:ea typeface="Hiragino Sans"/>
                <a:cs typeface="Hiragino Sans"/>
              </a:rPr>
              <a:t>再計画の正誤をチーム自身が判定しやすい</a:t>
            </a:r>
          </a:p>
        </p:txBody>
      </p:sp>
      <p:sp>
        <p:nvSpPr>
          <p:cNvPr id="8" name="text-2-7">
            <a:extLst xmlns:a="http://schemas.openxmlformats.org/drawingml/2006/main">
              <a:ext uri="{FF2B5EF4-FFF2-40B4-BE49-F238E27FC236}">
                <a16:creationId xmlns:a16="http://schemas.microsoft.com/office/drawing/2014/main" id="{529AC5F6-D35A-4FBF-B0EF-8A3030861D88}"/>
              </a:ext>
            </a:extLst>
          </p:cNvPr>
          <p:cNvSpPr>
            <a:spLocks xmlns:a="http://schemas.openxmlformats.org/drawingml/2006/main" noGrp="1"/>
          </p:cNvSpPr>
          <p:nvPr/>
        </p:nvSpPr>
        <p:spPr>
          <a:xfrm xmlns:a="http://schemas.openxmlformats.org/drawingml/2006/main">
            <a:off x="609600" y="4124325"/>
            <a:ext cx="2057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276D96"/>
                </a:solidFill>
                <a:latin typeface="Hiragino Sans"/>
                <a:ea typeface="Hiragino Sans"/>
                <a:cs typeface="Hiragino Sans"/>
              </a:defRPr>
            </a:pPr>
            <a:r>
              <a:rPr sz="2175" b="1">
                <a:solidFill>
                  <a:srgbClr val="276D96"/>
                </a:solidFill>
                <a:latin typeface="Hiragino Sans"/>
                <a:ea typeface="Hiragino Sans"/>
                <a:cs typeface="Hiragino Sans"/>
              </a:rPr>
              <a:t>案02の位置</a:t>
            </a:r>
          </a:p>
        </p:txBody>
      </p:sp>
      <p:sp>
        <p:nvSpPr>
          <p:cNvPr id="9" name="text-2-8">
            <a:extLst xmlns:a="http://schemas.openxmlformats.org/drawingml/2006/main">
              <a:ext uri="{FF2B5EF4-FFF2-40B4-BE49-F238E27FC236}">
                <a16:creationId xmlns:a16="http://schemas.microsoft.com/office/drawing/2014/main" id="{F75155A2-4644-4775-B3B4-AAA8E39C35C0}"/>
              </a:ext>
            </a:extLst>
          </p:cNvPr>
          <p:cNvSpPr>
            <a:spLocks xmlns:a="http://schemas.openxmlformats.org/drawingml/2006/main" noGrp="1"/>
          </p:cNvSpPr>
          <p:nvPr/>
        </p:nvSpPr>
        <p:spPr>
          <a:xfrm xmlns:a="http://schemas.openxmlformats.org/drawingml/2006/main">
            <a:off x="2876550" y="4124325"/>
            <a:ext cx="87058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203640"/>
                </a:solidFill>
                <a:latin typeface="Hiragino Sans"/>
                <a:ea typeface="Hiragino Sans"/>
                <a:cs typeface="Hiragino Sans"/>
              </a:defRPr>
            </a:pPr>
            <a:r>
              <a:rPr sz="2025" b="0">
                <a:solidFill>
                  <a:srgbClr val="203640"/>
                </a:solidFill>
                <a:latin typeface="Hiragino Sans"/>
                <a:ea typeface="Hiragino Sans"/>
                <a:cs typeface="Hiragino Sans"/>
              </a:rPr>
              <a:t>数値検証には強い。取引条件と正解データの</a:t>
            </a:r>
          </a:p>
          <a:p xmlns:a="http://schemas.openxmlformats.org/drawingml/2006/main">
            <a:pPr>
              <a:defRPr sz="2025" b="0">
                <a:solidFill>
                  <a:srgbClr val="203640"/>
                </a:solidFill>
                <a:latin typeface="Hiragino Sans"/>
                <a:ea typeface="Hiragino Sans"/>
                <a:cs typeface="Hiragino Sans"/>
              </a:defRPr>
            </a:pPr>
            <a:r>
              <a:rPr sz="2025" b="0">
                <a:solidFill>
                  <a:srgbClr val="203640"/>
                </a:solidFill>
                <a:latin typeface="Hiragino Sans"/>
                <a:ea typeface="Hiragino Sans"/>
                <a:cs typeface="Hiragino Sans"/>
              </a:rPr>
              <a:t>準備が間に合う場合の代替候補として残す</a:t>
            </a:r>
          </a:p>
        </p:txBody>
      </p:sp>
    </p:spTree>
    <p:extLst>
      <p:ext uri="{BB962C8B-B14F-4D97-AF65-F5344CB8AC3E}">
        <p14:creationId xmlns:p14="http://schemas.microsoft.com/office/powerpoint/2010/main" val="1730972030"/>
      </p:ext>
    </p:extLst>
  </p:cSld>
</p:sld>
</file>

<file path=ppt/slides/slide3.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5" name="text-3-0">
            <a:extLst xmlns:a="http://schemas.openxmlformats.org/drawingml/2006/main">
              <a:ext uri="{FF2B5EF4-FFF2-40B4-BE49-F238E27FC236}">
                <a16:creationId xmlns:a16="http://schemas.microsoft.com/office/drawing/2014/main" id="{75F7EF69-BD71-48A6-9387-6A267BD8F8F1}"/>
              </a:ext>
            </a:extLst>
          </p:cNvPr>
          <p:cNvSpPr>
            <a:spLocks xmlns:a="http://schemas.openxmlformats.org/drawingml/2006/main" noGrp="1"/>
          </p:cNvSpPr>
          <p:nvPr/>
        </p:nvSpPr>
        <p:spPr>
          <a:xfrm xmlns:a="http://schemas.openxmlformats.org/drawingml/2006/main">
            <a:off x="609600" y="409575"/>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32B3A"/>
                </a:solidFill>
                <a:latin typeface="Hiragino Sans"/>
                <a:ea typeface="Hiragino Sans"/>
                <a:cs typeface="Hiragino Sans"/>
              </a:defRPr>
            </a:pPr>
            <a:r>
              <a:rPr sz="3300" b="1">
                <a:solidFill>
                  <a:srgbClr val="132B3A"/>
                </a:solidFill>
                <a:latin typeface="Hiragino Sans"/>
                <a:ea typeface="Hiragino Sans"/>
                <a:cs typeface="Hiragino Sans"/>
              </a:rPr>
              <a:t>共有レビューから採用する変更</a:t>
            </a:r>
          </a:p>
        </p:txBody>
      </p:sp>
      <p:sp>
        <p:nvSpPr>
          <p:cNvPr id="2" name="text-3-1">
            <a:extLst xmlns:a="http://schemas.openxmlformats.org/drawingml/2006/main">
              <a:ext uri="{FF2B5EF4-FFF2-40B4-BE49-F238E27FC236}">
                <a16:creationId xmlns:a16="http://schemas.microsoft.com/office/drawing/2014/main" id="{30E125D7-0A4D-4358-9C62-B2FF5B7E85B1}"/>
              </a:ext>
            </a:extLst>
          </p:cNvPr>
          <p:cNvSpPr>
            <a:spLocks xmlns:a="http://schemas.openxmlformats.org/drawingml/2006/main" noGrp="1"/>
          </p:cNvSpPr>
          <p:nvPr/>
        </p:nvSpPr>
        <p:spPr>
          <a:xfrm xmlns:a="http://schemas.openxmlformats.org/drawingml/2006/main">
            <a:off x="11077575" y="6391275"/>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D6B73"/>
                </a:solidFill>
                <a:latin typeface="Hiragino Sans"/>
                <a:ea typeface="Hiragino Sans"/>
                <a:cs typeface="Hiragino Sans"/>
              </a:defRPr>
            </a:pPr>
            <a:r>
              <a:rPr sz="1275" b="0">
                <a:solidFill>
                  <a:srgbClr val="5D6B73"/>
                </a:solidFill>
                <a:latin typeface="Hiragino Sans"/>
                <a:ea typeface="Hiragino Sans"/>
                <a:cs typeface="Hiragino Sans"/>
              </a:rPr>
              <a:t>03</a:t>
            </a:r>
          </a:p>
        </p:txBody>
      </p:sp>
      <p:sp>
        <p:nvSpPr>
          <p:cNvPr id="3" name="text-3-2">
            <a:extLst xmlns:a="http://schemas.openxmlformats.org/drawingml/2006/main">
              <a:ext uri="{FF2B5EF4-FFF2-40B4-BE49-F238E27FC236}">
                <a16:creationId xmlns:a16="http://schemas.microsoft.com/office/drawing/2014/main" id="{32953E02-F69F-457F-81E2-D0A9BD5F236E}"/>
              </a:ext>
            </a:extLst>
          </p:cNvPr>
          <p:cNvSpPr>
            <a:spLocks xmlns:a="http://schemas.openxmlformats.org/drawingml/2006/main" noGrp="1"/>
          </p:cNvSpPr>
          <p:nvPr/>
        </p:nvSpPr>
        <p:spPr>
          <a:xfrm xmlns:a="http://schemas.openxmlformats.org/drawingml/2006/main">
            <a:off x="609600" y="6238875"/>
            <a:ext cx="10144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D6B73"/>
                </a:solidFill>
                <a:latin typeface="Hiragino Sans"/>
                <a:ea typeface="Hiragino Sans"/>
                <a:cs typeface="Hiragino Sans"/>
              </a:defRPr>
            </a:pPr>
            <a:r>
              <a:rPr sz="1275" b="0">
                <a:solidFill>
                  <a:srgbClr val="5D6B73"/>
                </a:solidFill>
                <a:latin typeface="Hiragino Sans"/>
                <a:ea typeface="Hiragino Sans"/>
                <a:cs typeface="Hiragino Sans"/>
              </a:rPr>
              <a:t>共有レビューの7項目を反映。個別の見解は公式仕様・実測と区別する。</a:t>
            </a:r>
          </a:p>
        </p:txBody>
      </p:sp>
      <p:graphicFrame>
        <p:nvGraphicFramePr>
          <p:cNvPr id="8" name=""/>
          <p:cNvGraphicFramePr/>
          <p:nvPr/>
        </p:nvGraphicFramePr>
        <p:xfrm>
          <a:off xmlns:a="http://schemas.openxmlformats.org/drawingml/2006/main" x="609600" y="1457325"/>
          <a:ext xmlns:a="http://schemas.openxmlformats.org/drawingml/2006/main" cx="10972800" cy="4381500"/>
        </p:xfrm>
        <a:graphic xmlns:a="http://schemas.openxmlformats.org/drawingml/2006/main">
          <a:graphicData uri="http://schemas.openxmlformats.org/drawingml/2006/table">
            <a:tbl>
              <a:tblPr/>
              <a:tblGrid>
                <a:gridCol w="2857500"/>
                <a:gridCol w="8115300"/>
              </a:tblGrid>
              <a:tr h="533400">
                <a:tc>
                  <a:txBody>
                    <a:bodyPr/>
                    <a:lstStyle/>
                    <a:p>
                      <a:r>
                        <a:rPr sz="1800" b="1">
                          <a:solidFill>
                            <a:srgbClr val="FFFFFF"/>
                          </a:solidFill>
                          <a:latin typeface="Hiragino Sans"/>
                          <a:ea typeface="Hiragino Sans"/>
                          <a:cs typeface="Hiragino Sans"/>
                        </a:rPr>
                        <a:t>指摘</a:t>
                      </a:r>
                    </a:p>
                  </a:txBody>
                  <a:tcPr marL="133350" marR="133350" marT="95250" marB="76200" anchor="t">
                    <a:solidFill>
                      <a:srgbClr val="132B3A"/>
                    </a:solidFill>
                  </a:tcPr>
                </a:tc>
                <a:tc>
                  <a:txBody>
                    <a:bodyPr/>
                    <a:lstStyle/>
                    <a:p>
                      <a:r>
                        <a:rPr sz="1800" b="1">
                          <a:solidFill>
                            <a:srgbClr val="FFFFFF"/>
                          </a:solidFill>
                          <a:latin typeface="Hiragino Sans"/>
                          <a:ea typeface="Hiragino Sans"/>
                          <a:cs typeface="Hiragino Sans"/>
                        </a:rPr>
                        <a:t>今回の変更</a:t>
                      </a:r>
                    </a:p>
                  </a:txBody>
                  <a:tcPr marL="133350" marR="133350" marT="95250" marB="76200" anchor="t">
                    <a:solidFill>
                      <a:srgbClr val="132B3A"/>
                    </a:solidFill>
                  </a:tcPr>
                </a:tc>
              </a:tr>
              <a:tr h="769620">
                <a:tc>
                  <a:txBody>
                    <a:bodyPr/>
                    <a:lstStyle/>
                    <a:p>
                      <a:r>
                        <a:rPr sz="1800">
                          <a:solidFill>
                            <a:srgbClr val="203640"/>
                          </a:solidFill>
                          <a:latin typeface="Hiragino Sans"/>
                          <a:ea typeface="Hiragino Sans"/>
                          <a:cs typeface="Hiragino Sans"/>
                        </a:rPr>
                        <a:t>年商1億円の逆算</a:t>
                      </a:r>
                    </a:p>
                  </a:txBody>
                  <a:tcPr marL="133350" marR="133350" marT="95250" marB="76200" anchor="t">
                    <a:solidFill>
                      <a:srgbClr val="FFFFFF"/>
                    </a:solidFill>
                  </a:tcPr>
                </a:tc>
                <a:tc>
                  <a:txBody>
                    <a:bodyPr/>
                    <a:lstStyle/>
                    <a:p>
                      <a:r>
                        <a:rPr sz="1800">
                          <a:solidFill>
                            <a:srgbClr val="203640"/>
                          </a:solidFill>
                          <a:latin typeface="Hiragino Sans"/>
                          <a:ea typeface="Hiragino Sans"/>
                          <a:cs typeface="Hiragino Sans"/>
                        </a:rPr>
                        <a:t>採用判断から外し、停止条件・評価方法に置き換える</a:t>
                      </a:r>
                    </a:p>
                  </a:txBody>
                  <a:tcPr marL="133350" marR="133350" marT="95250" marB="76200" anchor="t">
                    <a:solidFill>
                      <a:srgbClr val="FFFFFF"/>
                    </a:solidFill>
                  </a:tcPr>
                </a:tc>
              </a:tr>
              <a:tr h="769620">
                <a:tc>
                  <a:txBody>
                    <a:bodyPr/>
                    <a:lstStyle/>
                    <a:p>
                      <a:r>
                        <a:rPr sz="1800">
                          <a:solidFill>
                            <a:srgbClr val="203640"/>
                          </a:solidFill>
                          <a:latin typeface="Hiragino Sans"/>
                          <a:ea typeface="Hiragino Sans"/>
                          <a:cs typeface="Hiragino Sans"/>
                        </a:rPr>
                        <a:t>共通のRouter説明</a:t>
                      </a:r>
                    </a:p>
                  </a:txBody>
                  <a:tcPr marL="133350" marR="133350" marT="95250" marB="76200" anchor="t">
                    <a:solidFill>
                      <a:srgbClr val="EDF2EF"/>
                    </a:solidFill>
                  </a:tcPr>
                </a:tc>
                <a:tc>
                  <a:txBody>
                    <a:bodyPr/>
                    <a:lstStyle/>
                    <a:p>
                      <a:r>
                        <a:rPr sz="1800">
                          <a:solidFill>
                            <a:srgbClr val="203640"/>
                          </a:solidFill>
                          <a:latin typeface="Hiragino Sans"/>
                          <a:ea typeface="Hiragino Sans"/>
                          <a:cs typeface="Hiragino Sans"/>
                        </a:rPr>
                        <a:t>比較は業務状態・失敗・検証可能性に寄せる</a:t>
                      </a:r>
                    </a:p>
                  </a:txBody>
                  <a:tcPr marL="133350" marR="133350" marT="95250" marB="76200" anchor="t">
                    <a:solidFill>
                      <a:srgbClr val="EDF2EF"/>
                    </a:solidFill>
                  </a:tcPr>
                </a:tc>
              </a:tr>
              <a:tr h="769620">
                <a:tc>
                  <a:txBody>
                    <a:bodyPr/>
                    <a:lstStyle/>
                    <a:p>
                      <a:r>
                        <a:rPr sz="1800">
                          <a:solidFill>
                            <a:srgbClr val="203640"/>
                          </a:solidFill>
                          <a:latin typeface="Hiragino Sans"/>
                          <a:ea typeface="Hiragino Sans"/>
                          <a:cs typeface="Hiragino Sans"/>
                        </a:rPr>
                        <a:t>生成だけで終わる自律性</a:t>
                      </a:r>
                    </a:p>
                  </a:txBody>
                  <a:tcPr marL="133350" marR="133350" marT="95250" marB="76200" anchor="t">
                    <a:solidFill>
                      <a:srgbClr val="FFFFFF"/>
                    </a:solidFill>
                  </a:tcPr>
                </a:tc>
                <a:tc>
                  <a:txBody>
                    <a:bodyPr/>
                    <a:lstStyle/>
                    <a:p>
                      <a:r>
                        <a:rPr sz="1800">
                          <a:solidFill>
                            <a:srgbClr val="203640"/>
                          </a:solidFill>
                          <a:latin typeface="Hiragino Sans"/>
                          <a:ea typeface="Hiragino Sans"/>
                          <a:cs typeface="Hiragino Sans"/>
                        </a:rPr>
                        <a:t>返信・失敗を受けた再計画と、結果確認まで実装</a:t>
                      </a:r>
                    </a:p>
                  </a:txBody>
                  <a:tcPr marL="133350" marR="133350" marT="95250" marB="76200" anchor="t">
                    <a:solidFill>
                      <a:srgbClr val="FFFFFF"/>
                    </a:solidFill>
                  </a:tcPr>
                </a:tc>
              </a:tr>
              <a:tr h="769620">
                <a:tc>
                  <a:txBody>
                    <a:bodyPr/>
                    <a:lstStyle/>
                    <a:p>
                      <a:r>
                        <a:rPr sz="1800">
                          <a:solidFill>
                            <a:srgbClr val="203640"/>
                          </a:solidFill>
                          <a:latin typeface="Hiragino Sans"/>
                          <a:ea typeface="Hiragino Sans"/>
                          <a:cs typeface="Hiragino Sans"/>
                        </a:rPr>
                        <a:t>見えないコストと安全性</a:t>
                      </a:r>
                    </a:p>
                  </a:txBody>
                  <a:tcPr marL="133350" marR="133350" marT="95250" marB="76200" anchor="t">
                    <a:solidFill>
                      <a:srgbClr val="EDF2EF"/>
                    </a:solidFill>
                  </a:tcPr>
                </a:tc>
                <a:tc>
                  <a:txBody>
                    <a:bodyPr/>
                    <a:lstStyle/>
                    <a:p>
                      <a:r>
                        <a:rPr sz="1800">
                          <a:solidFill>
                            <a:srgbClr val="203640"/>
                          </a:solidFill>
                          <a:latin typeface="Hiragino Sans"/>
                          <a:ea typeface="Hiragino Sans"/>
                          <a:cs typeface="Hiragino Sans"/>
                        </a:rPr>
                        <a:t>ライブのモデル・費用・検査ログに、テスト結果を添える</a:t>
                      </a:r>
                    </a:p>
                  </a:txBody>
                  <a:tcPr marL="133350" marR="133350" marT="95250" marB="76200" anchor="t">
                    <a:solidFill>
                      <a:srgbClr val="EDF2EF"/>
                    </a:solidFill>
                  </a:tcPr>
                </a:tc>
              </a:tr>
              <a:tr h="769620">
                <a:tc>
                  <a:txBody>
                    <a:bodyPr/>
                    <a:lstStyle/>
                    <a:p>
                      <a:r>
                        <a:rPr sz="1800">
                          <a:solidFill>
                            <a:srgbClr val="203640"/>
                          </a:solidFill>
                          <a:latin typeface="Hiragino Sans"/>
                          <a:ea typeface="Hiragino Sans"/>
                          <a:cs typeface="Hiragino Sans"/>
                        </a:rPr>
                        <a:t>名称と文書体裁</a:t>
                      </a:r>
                    </a:p>
                  </a:txBody>
                  <a:tcPr marL="133350" marR="133350" marT="95250" marB="76200" anchor="t">
                    <a:solidFill>
                      <a:srgbClr val="FFFFFF"/>
                    </a:solidFill>
                  </a:tcPr>
                </a:tc>
                <a:tc>
                  <a:txBody>
                    <a:bodyPr/>
                    <a:lstStyle/>
                    <a:p>
                      <a:r>
                        <a:rPr sz="1800">
                          <a:solidFill>
                            <a:srgbClr val="203640"/>
                          </a:solidFill>
                          <a:latin typeface="Hiragino Sans"/>
                          <a:ea typeface="Hiragino Sans"/>
                          <a:cs typeface="Hiragino Sans"/>
                        </a:rPr>
                        <a:t>正式名称をOrcaRouterに統一。元資料の欠落は断定しない</a:t>
                      </a:r>
                    </a:p>
                  </a:txBody>
                  <a:tcPr marL="133350" marR="133350" marT="95250" marB="76200" anchor="t">
                    <a:solidFill>
                      <a:srgbClr val="FFFFFF"/>
                    </a:solidFill>
                  </a:tcPr>
                </a:tc>
              </a:tr>
            </a:tbl>
          </a:graphicData>
        </a:graphic>
      </p:graphicFrame>
    </p:spTree>
    <p:extLst>
      <p:ext uri="{BB962C8B-B14F-4D97-AF65-F5344CB8AC3E}">
        <p14:creationId xmlns:p14="http://schemas.microsoft.com/office/powerpoint/2010/main" val="1143550403"/>
      </p:ext>
    </p:extLst>
  </p:cSld>
</p:sld>
</file>

<file path=ppt/slides/slide4.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5" name="text-4-0">
            <a:extLst xmlns:a="http://schemas.openxmlformats.org/drawingml/2006/main">
              <a:ext uri="{FF2B5EF4-FFF2-40B4-BE49-F238E27FC236}">
                <a16:creationId xmlns:a16="http://schemas.microsoft.com/office/drawing/2014/main" id="{40FFC515-32B4-4829-BB1D-5215C3CDF659}"/>
              </a:ext>
            </a:extLst>
          </p:cNvPr>
          <p:cNvSpPr>
            <a:spLocks xmlns:a="http://schemas.openxmlformats.org/drawingml/2006/main" noGrp="1"/>
          </p:cNvSpPr>
          <p:nvPr/>
        </p:nvSpPr>
        <p:spPr>
          <a:xfrm xmlns:a="http://schemas.openxmlformats.org/drawingml/2006/main">
            <a:off x="609600" y="409575"/>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32B3A"/>
                </a:solidFill>
                <a:latin typeface="Hiragino Sans"/>
                <a:ea typeface="Hiragino Sans"/>
                <a:cs typeface="Hiragino Sans"/>
              </a:defRPr>
            </a:pPr>
            <a:r>
              <a:rPr sz="3300" b="1">
                <a:solidFill>
                  <a:srgbClr val="132B3A"/>
                </a:solidFill>
                <a:latin typeface="Hiragino Sans"/>
                <a:ea typeface="Hiragino Sans"/>
                <a:cs typeface="Hiragino Sans"/>
              </a:rPr>
              <a:t>共有レビューで訂正・留保する点</a:t>
            </a:r>
          </a:p>
        </p:txBody>
      </p:sp>
      <p:sp>
        <p:nvSpPr>
          <p:cNvPr id="2" name="text-4-1">
            <a:extLst xmlns:a="http://schemas.openxmlformats.org/drawingml/2006/main">
              <a:ext uri="{FF2B5EF4-FFF2-40B4-BE49-F238E27FC236}">
                <a16:creationId xmlns:a16="http://schemas.microsoft.com/office/drawing/2014/main" id="{CD38EB76-76A1-4588-AA4E-69C255A71913}"/>
              </a:ext>
            </a:extLst>
          </p:cNvPr>
          <p:cNvSpPr>
            <a:spLocks xmlns:a="http://schemas.openxmlformats.org/drawingml/2006/main" noGrp="1"/>
          </p:cNvSpPr>
          <p:nvPr/>
        </p:nvSpPr>
        <p:spPr>
          <a:xfrm xmlns:a="http://schemas.openxmlformats.org/drawingml/2006/main">
            <a:off x="11077575" y="6391275"/>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D6B73"/>
                </a:solidFill>
                <a:latin typeface="Hiragino Sans"/>
                <a:ea typeface="Hiragino Sans"/>
                <a:cs typeface="Hiragino Sans"/>
              </a:defRPr>
            </a:pPr>
            <a:r>
              <a:rPr sz="1275" b="0">
                <a:solidFill>
                  <a:srgbClr val="5D6B73"/>
                </a:solidFill>
                <a:latin typeface="Hiragino Sans"/>
                <a:ea typeface="Hiragino Sans"/>
                <a:cs typeface="Hiragino Sans"/>
              </a:rPr>
              <a:t>04</a:t>
            </a:r>
          </a:p>
        </p:txBody>
      </p:sp>
      <p:sp>
        <p:nvSpPr>
          <p:cNvPr id="3" name="text-4-2">
            <a:extLst xmlns:a="http://schemas.openxmlformats.org/drawingml/2006/main">
              <a:ext uri="{FF2B5EF4-FFF2-40B4-BE49-F238E27FC236}">
                <a16:creationId xmlns:a16="http://schemas.microsoft.com/office/drawing/2014/main" id="{8FA7EEC3-650F-4ECD-9183-D357B31B8B28}"/>
              </a:ext>
            </a:extLst>
          </p:cNvPr>
          <p:cNvSpPr>
            <a:spLocks xmlns:a="http://schemas.openxmlformats.org/drawingml/2006/main" noGrp="1"/>
          </p:cNvSpPr>
          <p:nvPr/>
        </p:nvSpPr>
        <p:spPr>
          <a:xfrm xmlns:a="http://schemas.openxmlformats.org/drawingml/2006/main">
            <a:off x="609600" y="6238875"/>
            <a:ext cx="10144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D6B73"/>
                </a:solidFill>
                <a:latin typeface="Hiragino Sans"/>
                <a:ea typeface="Hiragino Sans"/>
                <a:cs typeface="Hiragino Sans"/>
              </a:defRPr>
            </a:pPr>
            <a:r>
              <a:rPr sz="1275" b="0">
                <a:solidFill>
                  <a:srgbClr val="5D6B73"/>
                </a:solidFill>
                <a:latin typeface="Hiragino Sans"/>
                <a:ea typeface="Hiragino Sans"/>
                <a:cs typeface="Hiragino Sans"/>
              </a:rPr>
              <a:t>公開機能の記載と、ハッカソン用アカウントでの利用可否は別。</a:t>
            </a:r>
          </a:p>
        </p:txBody>
      </p:sp>
      <p:graphicFrame>
        <p:nvGraphicFramePr>
          <p:cNvPr id="8" name=""/>
          <p:cNvGraphicFramePr/>
          <p:nvPr/>
        </p:nvGraphicFramePr>
        <p:xfrm>
          <a:off xmlns:a="http://schemas.openxmlformats.org/drawingml/2006/main" x="609600" y="1457325"/>
          <a:ext xmlns:a="http://schemas.openxmlformats.org/drawingml/2006/main" cx="10972800" cy="4381500"/>
        </p:xfrm>
        <a:graphic xmlns:a="http://schemas.openxmlformats.org/drawingml/2006/main">
          <a:graphicData uri="http://schemas.openxmlformats.org/drawingml/2006/table">
            <a:tbl>
              <a:tblPr/>
              <a:tblGrid>
                <a:gridCol w="2857500"/>
                <a:gridCol w="8115300"/>
              </a:tblGrid>
              <a:tr h="533400">
                <a:tc>
                  <a:txBody>
                    <a:bodyPr/>
                    <a:lstStyle/>
                    <a:p>
                      <a:r>
                        <a:rPr sz="1800" b="1">
                          <a:solidFill>
                            <a:srgbClr val="FFFFFF"/>
                          </a:solidFill>
                          <a:latin typeface="Hiragino Sans"/>
                          <a:ea typeface="Hiragino Sans"/>
                          <a:cs typeface="Hiragino Sans"/>
                        </a:rPr>
                        <a:t>論点</a:t>
                      </a:r>
                    </a:p>
                  </a:txBody>
                  <a:tcPr marL="133350" marR="133350" marT="95250" marB="76200" anchor="t">
                    <a:solidFill>
                      <a:srgbClr val="132B3A"/>
                    </a:solidFill>
                  </a:tcPr>
                </a:tc>
                <a:tc>
                  <a:txBody>
                    <a:bodyPr/>
                    <a:lstStyle/>
                    <a:p>
                      <a:r>
                        <a:rPr sz="1800" b="1">
                          <a:solidFill>
                            <a:srgbClr val="FFFFFF"/>
                          </a:solidFill>
                          <a:latin typeface="Hiragino Sans"/>
                          <a:ea typeface="Hiragino Sans"/>
                          <a:cs typeface="Hiragino Sans"/>
                        </a:rPr>
                        <a:t>この資料の扱い</a:t>
                      </a:r>
                    </a:p>
                  </a:txBody>
                  <a:tcPr marL="133350" marR="133350" marT="95250" marB="76200" anchor="t">
                    <a:solidFill>
                      <a:srgbClr val="132B3A"/>
                    </a:solidFill>
                  </a:tcPr>
                </a:tc>
              </a:tr>
              <a:tr h="769620">
                <a:tc>
                  <a:txBody>
                    <a:bodyPr/>
                    <a:lstStyle/>
                    <a:p>
                      <a:r>
                        <a:rPr sz="1800">
                          <a:solidFill>
                            <a:srgbClr val="203640"/>
                          </a:solidFill>
                          <a:latin typeface="Hiragino Sans"/>
                          <a:ea typeface="Hiragino Sans"/>
                          <a:cs typeface="Hiragino Sans"/>
                        </a:rPr>
                        <a:t>「1リクエスト1モデル」</a:t>
                      </a:r>
                    </a:p>
                  </a:txBody>
                  <a:tcPr marL="133350" marR="133350" marT="95250" marB="76200" anchor="t">
                    <a:solidFill>
                      <a:srgbClr val="FFFFFF"/>
                    </a:solidFill>
                  </a:tcPr>
                </a:tc>
                <a:tc>
                  <a:txBody>
                    <a:bodyPr/>
                    <a:lstStyle/>
                    <a:p>
                      <a:r>
                        <a:rPr sz="1800">
                          <a:solidFill>
                            <a:srgbClr val="203640"/>
                          </a:solidFill>
                          <a:latin typeface="Hiragino Sans"/>
                          <a:ea typeface="Hiragino Sans"/>
                          <a:cs typeface="Hiragino Sans"/>
                        </a:rPr>
                        <a:t>公式DSLには複数モデル利用の説明がある。一律に不可能としない</a:t>
                      </a:r>
                    </a:p>
                  </a:txBody>
                  <a:tcPr marL="133350" marR="133350" marT="95250" marB="76200" anchor="t">
                    <a:solidFill>
                      <a:srgbClr val="FFFFFF"/>
                    </a:solidFill>
                  </a:tcPr>
                </a:tc>
              </a:tr>
              <a:tr h="769620">
                <a:tc>
                  <a:txBody>
                    <a:bodyPr/>
                    <a:lstStyle/>
                    <a:p>
                      <a:r>
                        <a:rPr sz="1800">
                          <a:solidFill>
                            <a:srgbClr val="203640"/>
                          </a:solidFill>
                          <a:latin typeface="Hiragino Sans"/>
                          <a:ea typeface="Hiragino Sans"/>
                          <a:cs typeface="Hiragino Sans"/>
                        </a:rPr>
                        <a:t>PIIと国内リージョン</a:t>
                      </a:r>
                    </a:p>
                  </a:txBody>
                  <a:tcPr marL="133350" marR="133350" marT="95250" marB="76200" anchor="t">
                    <a:solidFill>
                      <a:srgbClr val="EDF2EF"/>
                    </a:solidFill>
                  </a:tcPr>
                </a:tc>
                <a:tc>
                  <a:txBody>
                    <a:bodyPr/>
                    <a:lstStyle/>
                    <a:p>
                      <a:r>
                        <a:rPr sz="1800">
                          <a:solidFill>
                            <a:srgbClr val="203640"/>
                          </a:solidFill>
                          <a:latin typeface="Hiragino Sans"/>
                          <a:ea typeface="Hiragino Sans"/>
                          <a:cs typeface="Hiragino Sans"/>
                        </a:rPr>
                        <a:t>送信前にアプリで情報を絞る。証跡の地域と推論の地域を混同しない</a:t>
                      </a:r>
                    </a:p>
                  </a:txBody>
                  <a:tcPr marL="133350" marR="133350" marT="95250" marB="76200" anchor="t">
                    <a:solidFill>
                      <a:srgbClr val="EDF2EF"/>
                    </a:solidFill>
                  </a:tcPr>
                </a:tc>
              </a:tr>
              <a:tr h="769620">
                <a:tc>
                  <a:txBody>
                    <a:bodyPr/>
                    <a:lstStyle/>
                    <a:p>
                      <a:r>
                        <a:rPr sz="1800">
                          <a:solidFill>
                            <a:srgbClr val="203640"/>
                          </a:solidFill>
                          <a:latin typeface="Hiragino Sans"/>
                          <a:ea typeface="Hiragino Sans"/>
                          <a:cs typeface="Hiragino Sans"/>
                        </a:rPr>
                        <a:t>自律性が配点の1/5</a:t>
                      </a:r>
                    </a:p>
                  </a:txBody>
                  <a:tcPr marL="133350" marR="133350" marT="95250" marB="76200" anchor="t">
                    <a:solidFill>
                      <a:srgbClr val="FFFFFF"/>
                    </a:solidFill>
                  </a:tcPr>
                </a:tc>
                <a:tc>
                  <a:txBody>
                    <a:bodyPr/>
                    <a:lstStyle/>
                    <a:p>
                      <a:r>
                        <a:rPr sz="1800">
                          <a:solidFill>
                            <a:srgbClr val="203640"/>
                          </a:solidFill>
                          <a:latin typeface="Hiragino Sans"/>
                          <a:ea typeface="Hiragino Sans"/>
                          <a:cs typeface="Hiragino Sans"/>
                        </a:rPr>
                        <a:t>公式配点は未確認。5項目の同配点を仮定しない</a:t>
                      </a:r>
                    </a:p>
                  </a:txBody>
                  <a:tcPr marL="133350" marR="133350" marT="95250" marB="76200" anchor="t">
                    <a:solidFill>
                      <a:srgbClr val="FFFFFF"/>
                    </a:solidFill>
                  </a:tcPr>
                </a:tc>
              </a:tr>
              <a:tr h="769620">
                <a:tc>
                  <a:txBody>
                    <a:bodyPr/>
                    <a:lstStyle/>
                    <a:p>
                      <a:r>
                        <a:rPr sz="1800">
                          <a:solidFill>
                            <a:srgbClr val="203640"/>
                          </a:solidFill>
                          <a:latin typeface="Hiragino Sans"/>
                          <a:ea typeface="Hiragino Sans"/>
                          <a:cs typeface="Hiragino Sans"/>
                        </a:rPr>
                        <a:t>実装と自律性だけで選ぶ</a:t>
                      </a:r>
                    </a:p>
                  </a:txBody>
                  <a:tcPr marL="133350" marR="133350" marT="95250" marB="76200" anchor="t">
                    <a:solidFill>
                      <a:srgbClr val="EDF2EF"/>
                    </a:solidFill>
                  </a:tcPr>
                </a:tc>
                <a:tc>
                  <a:txBody>
                    <a:bodyPr/>
                    <a:lstStyle/>
                    <a:p>
                      <a:r>
                        <a:rPr sz="1800">
                          <a:solidFill>
                            <a:srgbClr val="203640"/>
                          </a:solidFill>
                          <a:latin typeface="Hiragino Sans"/>
                          <a:ea typeface="Hiragino Sans"/>
                          <a:cs typeface="Hiragino Sans"/>
                        </a:rPr>
                        <a:t>安全性・コスト・堅牢性・独創性も評価する</a:t>
                      </a:r>
                    </a:p>
                  </a:txBody>
                  <a:tcPr marL="133350" marR="133350" marT="95250" marB="76200" anchor="t">
                    <a:solidFill>
                      <a:srgbClr val="EDF2EF"/>
                    </a:solidFill>
                  </a:tcPr>
                </a:tc>
              </a:tr>
              <a:tr h="769620">
                <a:tc>
                  <a:txBody>
                    <a:bodyPr/>
                    <a:lstStyle/>
                    <a:p>
                      <a:r>
                        <a:rPr sz="1800">
                          <a:solidFill>
                            <a:srgbClr val="203640"/>
                          </a:solidFill>
                          <a:latin typeface="Hiragino Sans"/>
                          <a:ea typeface="Hiragino Sans"/>
                          <a:cs typeface="Hiragino Sans"/>
                        </a:rPr>
                        <a:t>案06の推薦</a:t>
                      </a:r>
                    </a:p>
                  </a:txBody>
                  <a:tcPr marL="133350" marR="133350" marT="95250" marB="76200" anchor="t">
                    <a:solidFill>
                      <a:srgbClr val="FFFFFF"/>
                    </a:solidFill>
                  </a:tcPr>
                </a:tc>
                <a:tc>
                  <a:txBody>
                    <a:bodyPr/>
                    <a:lstStyle/>
                    <a:p>
                      <a:r>
                        <a:rPr sz="1800">
                          <a:solidFill>
                            <a:srgbClr val="203640"/>
                          </a:solidFill>
                          <a:latin typeface="Hiragino Sans"/>
                          <a:ea typeface="Hiragino Sans"/>
                          <a:cs typeface="Hiragino Sans"/>
                        </a:rPr>
                        <a:t>今回は05と02に限定。復旧確認と停止の考え方を取り入れる</a:t>
                      </a:r>
                    </a:p>
                  </a:txBody>
                  <a:tcPr marL="133350" marR="133350" marT="95250" marB="76200" anchor="t">
                    <a:solidFill>
                      <a:srgbClr val="FFFFFF"/>
                    </a:solidFill>
                  </a:tcPr>
                </a:tc>
              </a:tr>
            </a:tbl>
          </a:graphicData>
        </a:graphic>
      </p:graphicFrame>
    </p:spTree>
    <p:extLst>
      <p:ext uri="{BB962C8B-B14F-4D97-AF65-F5344CB8AC3E}">
        <p14:creationId xmlns:p14="http://schemas.microsoft.com/office/powerpoint/2010/main" val="1621334662"/>
      </p:ext>
    </p:extLst>
  </p:cSld>
</p:sld>
</file>

<file path=ppt/slides/slide5.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5" name="text-5-0">
            <a:extLst xmlns:a="http://schemas.openxmlformats.org/drawingml/2006/main">
              <a:ext uri="{FF2B5EF4-FFF2-40B4-BE49-F238E27FC236}">
                <a16:creationId xmlns:a16="http://schemas.microsoft.com/office/drawing/2014/main" id="{A9E6987F-A057-4DA1-8A7C-7D24F49C1D59}"/>
              </a:ext>
            </a:extLst>
          </p:cNvPr>
          <p:cNvSpPr>
            <a:spLocks xmlns:a="http://schemas.openxmlformats.org/drawingml/2006/main" noGrp="1"/>
          </p:cNvSpPr>
          <p:nvPr/>
        </p:nvSpPr>
        <p:spPr>
          <a:xfrm xmlns:a="http://schemas.openxmlformats.org/drawingml/2006/main">
            <a:off x="609600" y="409575"/>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32B3A"/>
                </a:solidFill>
                <a:latin typeface="Hiragino Sans"/>
                <a:ea typeface="Hiragino Sans"/>
                <a:cs typeface="Hiragino Sans"/>
              </a:defRPr>
            </a:pPr>
            <a:r>
              <a:rPr sz="3300" b="1">
                <a:solidFill>
                  <a:srgbClr val="132B3A"/>
                </a:solidFill>
                <a:latin typeface="Hiragino Sans"/>
                <a:ea typeface="Hiragino Sans"/>
                <a:cs typeface="Hiragino Sans"/>
              </a:rPr>
              <a:t>5つの審査項目で比較する</a:t>
            </a:r>
          </a:p>
        </p:txBody>
      </p:sp>
      <p:sp>
        <p:nvSpPr>
          <p:cNvPr id="2" name="text-5-1">
            <a:extLst xmlns:a="http://schemas.openxmlformats.org/drawingml/2006/main">
              <a:ext uri="{FF2B5EF4-FFF2-40B4-BE49-F238E27FC236}">
                <a16:creationId xmlns:a16="http://schemas.microsoft.com/office/drawing/2014/main" id="{A1FF1C20-BFB3-4F5C-8F6D-5532C9031B4B}"/>
              </a:ext>
            </a:extLst>
          </p:cNvPr>
          <p:cNvSpPr>
            <a:spLocks xmlns:a="http://schemas.openxmlformats.org/drawingml/2006/main" noGrp="1"/>
          </p:cNvSpPr>
          <p:nvPr/>
        </p:nvSpPr>
        <p:spPr>
          <a:xfrm xmlns:a="http://schemas.openxmlformats.org/drawingml/2006/main">
            <a:off x="11077575" y="6391275"/>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D6B73"/>
                </a:solidFill>
                <a:latin typeface="Hiragino Sans"/>
                <a:ea typeface="Hiragino Sans"/>
                <a:cs typeface="Hiragino Sans"/>
              </a:defRPr>
            </a:pPr>
            <a:r>
              <a:rPr sz="1275" b="0">
                <a:solidFill>
                  <a:srgbClr val="5D6B73"/>
                </a:solidFill>
                <a:latin typeface="Hiragino Sans"/>
                <a:ea typeface="Hiragino Sans"/>
                <a:cs typeface="Hiragino Sans"/>
              </a:rPr>
              <a:t>05</a:t>
            </a:r>
          </a:p>
        </p:txBody>
      </p:sp>
      <p:sp>
        <p:nvSpPr>
          <p:cNvPr id="3" name="text-5-2">
            <a:extLst xmlns:a="http://schemas.openxmlformats.org/drawingml/2006/main">
              <a:ext uri="{FF2B5EF4-FFF2-40B4-BE49-F238E27FC236}">
                <a16:creationId xmlns:a16="http://schemas.microsoft.com/office/drawing/2014/main" id="{31FC9B34-2DBC-4F69-9E2A-4A2DE82863DE}"/>
              </a:ext>
            </a:extLst>
          </p:cNvPr>
          <p:cNvSpPr>
            <a:spLocks xmlns:a="http://schemas.openxmlformats.org/drawingml/2006/main" noGrp="1"/>
          </p:cNvSpPr>
          <p:nvPr/>
        </p:nvSpPr>
        <p:spPr>
          <a:xfrm xmlns:a="http://schemas.openxmlformats.org/drawingml/2006/main">
            <a:off x="609600" y="6238875"/>
            <a:ext cx="10144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D6B73"/>
                </a:solidFill>
                <a:latin typeface="Hiragino Sans"/>
                <a:ea typeface="Hiragino Sans"/>
                <a:cs typeface="Hiragino Sans"/>
              </a:defRPr>
            </a:pPr>
            <a:r>
              <a:rPr sz="1275" b="0">
                <a:solidFill>
                  <a:srgbClr val="5D6B73"/>
                </a:solidFill>
                <a:latin typeface="Hiragino Sans"/>
                <a:ea typeface="Hiragino Sans"/>
                <a:cs typeface="Hiragino Sans"/>
              </a:rPr>
              <a:t>設計上の比較。実測スコア、合計点、競合優位の証明ではない。</a:t>
            </a:r>
          </a:p>
        </p:txBody>
      </p:sp>
      <p:graphicFrame>
        <p:nvGraphicFramePr>
          <p:cNvPr id="8" name=""/>
          <p:cNvGraphicFramePr/>
          <p:nvPr/>
        </p:nvGraphicFramePr>
        <p:xfrm>
          <a:off xmlns:a="http://schemas.openxmlformats.org/drawingml/2006/main" x="609600" y="1457325"/>
          <a:ext xmlns:a="http://schemas.openxmlformats.org/drawingml/2006/main" cx="10972800" cy="4381500"/>
        </p:xfrm>
        <a:graphic xmlns:a="http://schemas.openxmlformats.org/drawingml/2006/main">
          <a:graphicData uri="http://schemas.openxmlformats.org/drawingml/2006/table">
            <a:tbl>
              <a:tblPr/>
              <a:tblGrid>
                <a:gridCol w="2190750"/>
                <a:gridCol w="4391025"/>
                <a:gridCol w="4391025"/>
              </a:tblGrid>
              <a:tr h="533400">
                <a:tc>
                  <a:txBody>
                    <a:bodyPr/>
                    <a:lstStyle/>
                    <a:p>
                      <a:r>
                        <a:rPr sz="1800" b="1">
                          <a:solidFill>
                            <a:srgbClr val="FFFFFF"/>
                          </a:solidFill>
                          <a:latin typeface="Hiragino Sans"/>
                          <a:ea typeface="Hiragino Sans"/>
                          <a:cs typeface="Hiragino Sans"/>
                        </a:rPr>
                        <a:t>審査項目</a:t>
                      </a:r>
                    </a:p>
                  </a:txBody>
                  <a:tcPr marL="133350" marR="133350" marT="95250" marB="76200" anchor="t">
                    <a:solidFill>
                      <a:srgbClr val="132B3A"/>
                    </a:solidFill>
                  </a:tcPr>
                </a:tc>
                <a:tc>
                  <a:txBody>
                    <a:bodyPr/>
                    <a:lstStyle/>
                    <a:p>
                      <a:r>
                        <a:rPr sz="1800" b="1">
                          <a:solidFill>
                            <a:srgbClr val="FFFFFF"/>
                          </a:solidFill>
                          <a:latin typeface="Hiragino Sans"/>
                          <a:ea typeface="Hiragino Sans"/>
                          <a:cs typeface="Hiragino Sans"/>
                        </a:rPr>
                        <a:t>案05：欠勤調整</a:t>
                      </a:r>
                    </a:p>
                  </a:txBody>
                  <a:tcPr marL="133350" marR="133350" marT="95250" marB="76200" anchor="t">
                    <a:solidFill>
                      <a:srgbClr val="132B3A"/>
                    </a:solidFill>
                  </a:tcPr>
                </a:tc>
                <a:tc>
                  <a:txBody>
                    <a:bodyPr/>
                    <a:lstStyle/>
                    <a:p>
                      <a:r>
                        <a:rPr sz="1800" b="1">
                          <a:solidFill>
                            <a:srgbClr val="FFFFFF"/>
                          </a:solidFill>
                          <a:latin typeface="Hiragino Sans"/>
                          <a:ea typeface="Hiragino Sans"/>
                          <a:cs typeface="Hiragino Sans"/>
                        </a:rPr>
                        <a:t>案02：請求差分解消</a:t>
                      </a:r>
                    </a:p>
                  </a:txBody>
                  <a:tcPr marL="133350" marR="133350" marT="95250" marB="76200" anchor="t">
                    <a:solidFill>
                      <a:srgbClr val="132B3A"/>
                    </a:solidFill>
                  </a:tcPr>
                </a:tc>
              </a:tr>
              <a:tr h="769620">
                <a:tc>
                  <a:txBody>
                    <a:bodyPr/>
                    <a:lstStyle/>
                    <a:p>
                      <a:r>
                        <a:rPr sz="1800">
                          <a:solidFill>
                            <a:srgbClr val="203640"/>
                          </a:solidFill>
                          <a:latin typeface="Hiragino Sans"/>
                          <a:ea typeface="Hiragino Sans"/>
                          <a:cs typeface="Hiragino Sans"/>
                        </a:rPr>
                        <a:t>セキュリティ</a:t>
                      </a:r>
                    </a:p>
                  </a:txBody>
                  <a:tcPr marL="133350" marR="133350" marT="95250" marB="76200" anchor="t">
                    <a:solidFill>
                      <a:srgbClr val="FFFFFF"/>
                    </a:solidFill>
                  </a:tcPr>
                </a:tc>
                <a:tc>
                  <a:txBody>
                    <a:bodyPr/>
                    <a:lstStyle/>
                    <a:p>
                      <a:r>
                        <a:rPr sz="1800">
                          <a:solidFill>
                            <a:srgbClr val="203640"/>
                          </a:solidFill>
                          <a:latin typeface="Hiragino Sans"/>
                          <a:ea typeface="Hiragino Sans"/>
                          <a:cs typeface="Hiragino Sans"/>
                        </a:rPr>
                        <a:t>個人情報と連絡・更新の権限</a:t>
                      </a:r>
                    </a:p>
                  </a:txBody>
                  <a:tcPr marL="133350" marR="133350" marT="95250" marB="76200" anchor="t">
                    <a:solidFill>
                      <a:srgbClr val="FFFFFF"/>
                    </a:solidFill>
                  </a:tcPr>
                </a:tc>
                <a:tc>
                  <a:txBody>
                    <a:bodyPr/>
                    <a:lstStyle/>
                    <a:p>
                      <a:r>
                        <a:rPr sz="1800">
                          <a:solidFill>
                            <a:srgbClr val="203640"/>
                          </a:solidFill>
                          <a:latin typeface="Hiragino Sans"/>
                          <a:ea typeface="Hiragino Sans"/>
                          <a:cs typeface="Hiragino Sans"/>
                        </a:rPr>
                        <a:t>取引情報と伝票更新の権限</a:t>
                      </a:r>
                    </a:p>
                  </a:txBody>
                  <a:tcPr marL="133350" marR="133350" marT="95250" marB="76200" anchor="t">
                    <a:solidFill>
                      <a:srgbClr val="FFFFFF"/>
                    </a:solidFill>
                  </a:tcPr>
                </a:tc>
              </a:tr>
              <a:tr h="769620">
                <a:tc>
                  <a:txBody>
                    <a:bodyPr/>
                    <a:lstStyle/>
                    <a:p>
                      <a:r>
                        <a:rPr sz="1800">
                          <a:solidFill>
                            <a:srgbClr val="203640"/>
                          </a:solidFill>
                          <a:latin typeface="Hiragino Sans"/>
                          <a:ea typeface="Hiragino Sans"/>
                          <a:cs typeface="Hiragino Sans"/>
                        </a:rPr>
                        <a:t>コスト</a:t>
                      </a:r>
                    </a:p>
                  </a:txBody>
                  <a:tcPr marL="133350" marR="133350" marT="95250" marB="76200" anchor="t">
                    <a:solidFill>
                      <a:srgbClr val="EDF2EF"/>
                    </a:solidFill>
                  </a:tcPr>
                </a:tc>
                <a:tc>
                  <a:txBody>
                    <a:bodyPr/>
                    <a:lstStyle/>
                    <a:p>
                      <a:r>
                        <a:rPr sz="1800">
                          <a:solidFill>
                            <a:srgbClr val="203640"/>
                          </a:solidFill>
                          <a:latin typeface="Hiragino Sans"/>
                          <a:ea typeface="Hiragino Sans"/>
                          <a:cs typeface="Hiragino Sans"/>
                        </a:rPr>
                        <a:t>定型返信と複雑な条件を分ける</a:t>
                      </a:r>
                    </a:p>
                  </a:txBody>
                  <a:tcPr marL="133350" marR="133350" marT="95250" marB="76200" anchor="t">
                    <a:solidFill>
                      <a:srgbClr val="EDF2EF"/>
                    </a:solidFill>
                  </a:tcPr>
                </a:tc>
                <a:tc>
                  <a:txBody>
                    <a:bodyPr/>
                    <a:lstStyle/>
                    <a:p>
                      <a:r>
                        <a:rPr sz="1800">
                          <a:solidFill>
                            <a:srgbClr val="203640"/>
                          </a:solidFill>
                          <a:latin typeface="Hiragino Sans"/>
                          <a:ea typeface="Hiragino Sans"/>
                          <a:cs typeface="Hiragino Sans"/>
                        </a:rPr>
                        <a:t>照合計算をコードへ寄せる</a:t>
                      </a:r>
                    </a:p>
                  </a:txBody>
                  <a:tcPr marL="133350" marR="133350" marT="95250" marB="76200" anchor="t">
                    <a:solidFill>
                      <a:srgbClr val="EDF2EF"/>
                    </a:solidFill>
                  </a:tcPr>
                </a:tc>
              </a:tr>
              <a:tr h="769620">
                <a:tc>
                  <a:txBody>
                    <a:bodyPr/>
                    <a:lstStyle/>
                    <a:p>
                      <a:r>
                        <a:rPr sz="1800">
                          <a:solidFill>
                            <a:srgbClr val="203640"/>
                          </a:solidFill>
                          <a:latin typeface="Hiragino Sans"/>
                          <a:ea typeface="Hiragino Sans"/>
                          <a:cs typeface="Hiragino Sans"/>
                        </a:rPr>
                        <a:t>信頼性・堅牢性</a:t>
                      </a:r>
                    </a:p>
                  </a:txBody>
                  <a:tcPr marL="133350" marR="133350" marT="95250" marB="76200" anchor="t">
                    <a:solidFill>
                      <a:srgbClr val="FFFFFF"/>
                    </a:solidFill>
                  </a:tcPr>
                </a:tc>
                <a:tc>
                  <a:txBody>
                    <a:bodyPr/>
                    <a:lstStyle/>
                    <a:p>
                      <a:r>
                        <a:rPr sz="1800">
                          <a:solidFill>
                            <a:srgbClr val="203640"/>
                          </a:solidFill>
                          <a:latin typeface="Hiragino Sans"/>
                          <a:ea typeface="Hiragino Sans"/>
                          <a:cs typeface="Hiragino Sans"/>
                        </a:rPr>
                        <a:t>同時承諾・期限後返信・競合</a:t>
                      </a:r>
                    </a:p>
                  </a:txBody>
                  <a:tcPr marL="133350" marR="133350" marT="95250" marB="76200" anchor="t">
                    <a:solidFill>
                      <a:srgbClr val="FFFFFF"/>
                    </a:solidFill>
                  </a:tcPr>
                </a:tc>
                <a:tc>
                  <a:txBody>
                    <a:bodyPr/>
                    <a:lstStyle/>
                    <a:p>
                      <a:r>
                        <a:rPr sz="1800">
                          <a:solidFill>
                            <a:srgbClr val="203640"/>
                          </a:solidFill>
                          <a:latin typeface="Hiragino Sans"/>
                          <a:ea typeface="Hiragino Sans"/>
                          <a:cs typeface="Hiragino Sans"/>
                        </a:rPr>
                        <a:t>数値・証拠・改訂版の整合</a:t>
                      </a:r>
                    </a:p>
                  </a:txBody>
                  <a:tcPr marL="133350" marR="133350" marT="95250" marB="76200" anchor="t">
                    <a:solidFill>
                      <a:srgbClr val="FFFFFF"/>
                    </a:solidFill>
                  </a:tcPr>
                </a:tc>
              </a:tr>
              <a:tr h="769620">
                <a:tc>
                  <a:txBody>
                    <a:bodyPr/>
                    <a:lstStyle/>
                    <a:p>
                      <a:r>
                        <a:rPr sz="1800">
                          <a:solidFill>
                            <a:srgbClr val="203640"/>
                          </a:solidFill>
                          <a:latin typeface="Hiragino Sans"/>
                          <a:ea typeface="Hiragino Sans"/>
                          <a:cs typeface="Hiragino Sans"/>
                        </a:rPr>
                        <a:t>自律性</a:t>
                      </a:r>
                    </a:p>
                  </a:txBody>
                  <a:tcPr marL="133350" marR="133350" marT="95250" marB="76200" anchor="t">
                    <a:solidFill>
                      <a:srgbClr val="EDF2EF"/>
                    </a:solidFill>
                  </a:tcPr>
                </a:tc>
                <a:tc>
                  <a:txBody>
                    <a:bodyPr/>
                    <a:lstStyle/>
                    <a:p>
                      <a:r>
                        <a:rPr sz="1800">
                          <a:solidFill>
                            <a:srgbClr val="203640"/>
                          </a:solidFill>
                          <a:latin typeface="Hiragino Sans"/>
                          <a:ea typeface="Hiragino Sans"/>
                          <a:cs typeface="Hiragino Sans"/>
                        </a:rPr>
                        <a:t>部分承諾から不足枠を再調整</a:t>
                      </a:r>
                    </a:p>
                  </a:txBody>
                  <a:tcPr marL="133350" marR="133350" marT="95250" marB="76200" anchor="t">
                    <a:solidFill>
                      <a:srgbClr val="EDF2EF"/>
                    </a:solidFill>
                  </a:tcPr>
                </a:tc>
                <a:tc>
                  <a:txBody>
                    <a:bodyPr/>
                    <a:lstStyle/>
                    <a:p>
                      <a:r>
                        <a:rPr sz="1800">
                          <a:solidFill>
                            <a:srgbClr val="203640"/>
                          </a:solidFill>
                          <a:latin typeface="Hiragino Sans"/>
                          <a:ea typeface="Hiragino Sans"/>
                          <a:cs typeface="Hiragino Sans"/>
                        </a:rPr>
                        <a:t>返信と修正版を受けて再照合</a:t>
                      </a:r>
                    </a:p>
                  </a:txBody>
                  <a:tcPr marL="133350" marR="133350" marT="95250" marB="76200" anchor="t">
                    <a:solidFill>
                      <a:srgbClr val="EDF2EF"/>
                    </a:solidFill>
                  </a:tcPr>
                </a:tc>
              </a:tr>
              <a:tr h="769620">
                <a:tc>
                  <a:txBody>
                    <a:bodyPr/>
                    <a:lstStyle/>
                    <a:p>
                      <a:r>
                        <a:rPr sz="1800">
                          <a:solidFill>
                            <a:srgbClr val="203640"/>
                          </a:solidFill>
                          <a:latin typeface="Hiragino Sans"/>
                          <a:ea typeface="Hiragino Sans"/>
                          <a:cs typeface="Hiragino Sans"/>
                        </a:rPr>
                        <a:t>独創性</a:t>
                      </a:r>
                    </a:p>
                  </a:txBody>
                  <a:tcPr marL="133350" marR="133350" marT="95250" marB="76200" anchor="t">
                    <a:solidFill>
                      <a:srgbClr val="FFFFFF"/>
                    </a:solidFill>
                  </a:tcPr>
                </a:tc>
                <a:tc>
                  <a:txBody>
                    <a:bodyPr/>
                    <a:lstStyle/>
                    <a:p>
                      <a:r>
                        <a:rPr sz="1800">
                          <a:solidFill>
                            <a:srgbClr val="203640"/>
                          </a:solidFill>
                          <a:latin typeface="Hiragino Sans"/>
                          <a:ea typeface="Hiragino Sans"/>
                          <a:cs typeface="Hiragino Sans"/>
                        </a:rPr>
                        <a:t>分割調整と停止を具体化</a:t>
                      </a:r>
                    </a:p>
                  </a:txBody>
                  <a:tcPr marL="133350" marR="133350" marT="95250" marB="76200" anchor="t">
                    <a:solidFill>
                      <a:srgbClr val="FFFFFF"/>
                    </a:solidFill>
                  </a:tcPr>
                </a:tc>
                <a:tc>
                  <a:txBody>
                    <a:bodyPr/>
                    <a:lstStyle/>
                    <a:p>
                      <a:r>
                        <a:rPr sz="1800">
                          <a:solidFill>
                            <a:srgbClr val="203640"/>
                          </a:solidFill>
                          <a:latin typeface="Hiragino Sans"/>
                          <a:ea typeface="Hiragino Sans"/>
                          <a:cs typeface="Hiragino Sans"/>
                        </a:rPr>
                        <a:t>証拠付きの例外解消を具体化</a:t>
                      </a:r>
                    </a:p>
                  </a:txBody>
                  <a:tcPr marL="133350" marR="133350" marT="95250" marB="76200" anchor="t">
                    <a:solidFill>
                      <a:srgbClr val="FFFFFF"/>
                    </a:solidFill>
                  </a:tcPr>
                </a:tc>
              </a:tr>
            </a:tbl>
          </a:graphicData>
        </a:graphic>
      </p:graphicFrame>
    </p:spTree>
    <p:extLst>
      <p:ext uri="{BB962C8B-B14F-4D97-AF65-F5344CB8AC3E}">
        <p14:creationId xmlns:p14="http://schemas.microsoft.com/office/powerpoint/2010/main" val="1046396725"/>
      </p:ext>
    </p:extLst>
  </p:cSld>
</p:sld>
</file>

<file path=ppt/slides/slide6.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4" name="text-6-0">
            <a:extLst xmlns:a="http://schemas.openxmlformats.org/drawingml/2006/main">
              <a:ext uri="{FF2B5EF4-FFF2-40B4-BE49-F238E27FC236}">
                <a16:creationId xmlns:a16="http://schemas.microsoft.com/office/drawing/2014/main" id="{0DF4C609-D250-4D27-B18A-B19E512CE7AE}"/>
              </a:ext>
            </a:extLst>
          </p:cNvPr>
          <p:cNvSpPr>
            <a:spLocks xmlns:a="http://schemas.openxmlformats.org/drawingml/2006/main" noGrp="1"/>
          </p:cNvSpPr>
          <p:nvPr/>
        </p:nvSpPr>
        <p:spPr>
          <a:xfrm xmlns:a="http://schemas.openxmlformats.org/drawingml/2006/main">
            <a:off x="609600" y="409575"/>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32B3A"/>
                </a:solidFill>
                <a:latin typeface="Hiragino Sans"/>
                <a:ea typeface="Hiragino Sans"/>
                <a:cs typeface="Hiragino Sans"/>
              </a:defRPr>
            </a:pPr>
            <a:r>
              <a:rPr sz="3300" b="1">
                <a:solidFill>
                  <a:srgbClr val="132B3A"/>
                </a:solidFill>
                <a:latin typeface="Hiragino Sans"/>
                <a:ea typeface="Hiragino Sans"/>
                <a:cs typeface="Hiragino Sans"/>
              </a:rPr>
              <a:t>4日間で完成させる範囲</a:t>
            </a:r>
          </a:p>
        </p:txBody>
      </p:sp>
      <p:sp>
        <p:nvSpPr>
          <p:cNvPr id="2" name="text-6-1">
            <a:extLst xmlns:a="http://schemas.openxmlformats.org/drawingml/2006/main">
              <a:ext uri="{FF2B5EF4-FFF2-40B4-BE49-F238E27FC236}">
                <a16:creationId xmlns:a16="http://schemas.microsoft.com/office/drawing/2014/main" id="{DA57F699-0751-485C-9D15-01911AD9DAC0}"/>
              </a:ext>
            </a:extLst>
          </p:cNvPr>
          <p:cNvSpPr>
            <a:spLocks xmlns:a="http://schemas.openxmlformats.org/drawingml/2006/main" noGrp="1"/>
          </p:cNvSpPr>
          <p:nvPr/>
        </p:nvSpPr>
        <p:spPr>
          <a:xfrm xmlns:a="http://schemas.openxmlformats.org/drawingml/2006/main">
            <a:off x="11077575" y="6391275"/>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D6B73"/>
                </a:solidFill>
                <a:latin typeface="Hiragino Sans"/>
                <a:ea typeface="Hiragino Sans"/>
                <a:cs typeface="Hiragino Sans"/>
              </a:defRPr>
            </a:pPr>
            <a:r>
              <a:rPr sz="1275" b="0">
                <a:solidFill>
                  <a:srgbClr val="5D6B73"/>
                </a:solidFill>
                <a:latin typeface="Hiragino Sans"/>
                <a:ea typeface="Hiragino Sans"/>
                <a:cs typeface="Hiragino Sans"/>
              </a:rPr>
              <a:t>06</a:t>
            </a:r>
          </a:p>
        </p:txBody>
      </p:sp>
      <p:graphicFrame>
        <p:nvGraphicFramePr>
          <p:cNvPr id="6" name=""/>
          <p:cNvGraphicFramePr/>
          <p:nvPr/>
        </p:nvGraphicFramePr>
        <p:xfrm>
          <a:off xmlns:a="http://schemas.openxmlformats.org/drawingml/2006/main" x="609600" y="1457325"/>
          <a:ext xmlns:a="http://schemas.openxmlformats.org/drawingml/2006/main" cx="10972800" cy="4381500"/>
        </p:xfrm>
        <a:graphic xmlns:a="http://schemas.openxmlformats.org/drawingml/2006/main">
          <a:graphicData uri="http://schemas.openxmlformats.org/drawingml/2006/table">
            <a:tbl>
              <a:tblPr/>
              <a:tblGrid>
                <a:gridCol w="2190750"/>
                <a:gridCol w="4391025"/>
                <a:gridCol w="4391025"/>
              </a:tblGrid>
              <a:tr h="533400">
                <a:tc>
                  <a:txBody>
                    <a:bodyPr/>
                    <a:lstStyle/>
                    <a:p>
                      <a:r>
                        <a:rPr sz="1800" b="1">
                          <a:solidFill>
                            <a:srgbClr val="FFFFFF"/>
                          </a:solidFill>
                          <a:latin typeface="Hiragino Sans"/>
                          <a:ea typeface="Hiragino Sans"/>
                          <a:cs typeface="Hiragino Sans"/>
                        </a:rPr>
                        <a:t>項目</a:t>
                      </a:r>
                    </a:p>
                  </a:txBody>
                  <a:tcPr marL="133350" marR="133350" marT="95250" marB="76200" anchor="t">
                    <a:solidFill>
                      <a:srgbClr val="132B3A"/>
                    </a:solidFill>
                  </a:tcPr>
                </a:tc>
                <a:tc>
                  <a:txBody>
                    <a:bodyPr/>
                    <a:lstStyle/>
                    <a:p>
                      <a:r>
                        <a:rPr sz="1800" b="1">
                          <a:solidFill>
                            <a:srgbClr val="FFFFFF"/>
                          </a:solidFill>
                          <a:latin typeface="Hiragino Sans"/>
                          <a:ea typeface="Hiragino Sans"/>
                          <a:cs typeface="Hiragino Sans"/>
                        </a:rPr>
                        <a:t>案05</a:t>
                      </a:r>
                    </a:p>
                  </a:txBody>
                  <a:tcPr marL="133350" marR="133350" marT="95250" marB="76200" anchor="t">
                    <a:solidFill>
                      <a:srgbClr val="132B3A"/>
                    </a:solidFill>
                  </a:tcPr>
                </a:tc>
                <a:tc>
                  <a:txBody>
                    <a:bodyPr/>
                    <a:lstStyle/>
                    <a:p>
                      <a:r>
                        <a:rPr sz="1800" b="1">
                          <a:solidFill>
                            <a:srgbClr val="FFFFFF"/>
                          </a:solidFill>
                          <a:latin typeface="Hiragino Sans"/>
                          <a:ea typeface="Hiragino Sans"/>
                          <a:cs typeface="Hiragino Sans"/>
                        </a:rPr>
                        <a:t>案02</a:t>
                      </a:r>
                    </a:p>
                  </a:txBody>
                  <a:tcPr marL="133350" marR="133350" marT="95250" marB="76200" anchor="t">
                    <a:solidFill>
                      <a:srgbClr val="132B3A"/>
                    </a:solidFill>
                  </a:tcPr>
                </a:tc>
              </a:tr>
              <a:tr h="769620">
                <a:tc>
                  <a:txBody>
                    <a:bodyPr/>
                    <a:lstStyle/>
                    <a:p>
                      <a:r>
                        <a:rPr sz="1800">
                          <a:solidFill>
                            <a:srgbClr val="203640"/>
                          </a:solidFill>
                          <a:latin typeface="Hiragino Sans"/>
                          <a:ea typeface="Hiragino Sans"/>
                          <a:cs typeface="Hiragino Sans"/>
                        </a:rPr>
                        <a:t>1件の仕事</a:t>
                      </a:r>
                    </a:p>
                  </a:txBody>
                  <a:tcPr marL="133350" marR="133350" marT="95250" marB="76200" anchor="t">
                    <a:solidFill>
                      <a:srgbClr val="FFFFFF"/>
                    </a:solidFill>
                  </a:tcPr>
                </a:tc>
                <a:tc>
                  <a:txBody>
                    <a:bodyPr/>
                    <a:lstStyle/>
                    <a:p>
                      <a:r>
                        <a:rPr sz="1800">
                          <a:solidFill>
                            <a:srgbClr val="203640"/>
                          </a:solidFill>
                          <a:latin typeface="Hiragino Sans"/>
                          <a:ea typeface="Hiragino Sans"/>
                          <a:cs typeface="Hiragino Sans"/>
                        </a:rPr>
                        <a:t>18〜22時の欠勤を埋める</a:t>
                      </a:r>
                    </a:p>
                  </a:txBody>
                  <a:tcPr marL="133350" marR="133350" marT="95250" marB="76200" anchor="t">
                    <a:solidFill>
                      <a:srgbClr val="FFFFFF"/>
                    </a:solidFill>
                  </a:tcPr>
                </a:tc>
                <a:tc>
                  <a:txBody>
                    <a:bodyPr/>
                    <a:lstStyle/>
                    <a:p>
                      <a:r>
                        <a:rPr sz="1800">
                          <a:solidFill>
                            <a:srgbClr val="203640"/>
                          </a:solidFill>
                          <a:latin typeface="Hiragino Sans"/>
                          <a:ea typeface="Hiragino Sans"/>
                          <a:cs typeface="Hiragino Sans"/>
                        </a:rPr>
                        <a:t>分納による請求差分を解消</a:t>
                      </a:r>
                    </a:p>
                  </a:txBody>
                  <a:tcPr marL="133350" marR="133350" marT="95250" marB="76200" anchor="t">
                    <a:solidFill>
                      <a:srgbClr val="FFFFFF"/>
                    </a:solidFill>
                  </a:tcPr>
                </a:tc>
              </a:tr>
              <a:tr h="769620">
                <a:tc>
                  <a:txBody>
                    <a:bodyPr/>
                    <a:lstStyle/>
                    <a:p>
                      <a:r>
                        <a:rPr sz="1800">
                          <a:solidFill>
                            <a:srgbClr val="203640"/>
                          </a:solidFill>
                          <a:latin typeface="Hiragino Sans"/>
                          <a:ea typeface="Hiragino Sans"/>
                          <a:cs typeface="Hiragino Sans"/>
                        </a:rPr>
                        <a:t>必要なデータ</a:t>
                      </a:r>
                    </a:p>
                  </a:txBody>
                  <a:tcPr marL="133350" marR="133350" marT="95250" marB="76200" anchor="t">
                    <a:solidFill>
                      <a:srgbClr val="EDF2EF"/>
                    </a:solidFill>
                  </a:tcPr>
                </a:tc>
                <a:tc>
                  <a:txBody>
                    <a:bodyPr/>
                    <a:lstStyle/>
                    <a:p>
                      <a:r>
                        <a:rPr sz="1800">
                          <a:solidFill>
                            <a:srgbClr val="203640"/>
                          </a:solidFill>
                          <a:latin typeface="Hiragino Sans"/>
                          <a:ea typeface="Hiragino Sans"/>
                          <a:cs typeface="Hiragino Sans"/>
                        </a:rPr>
                        <a:t>シフト、スキル、可能時間、返信</a:t>
                      </a:r>
                    </a:p>
                  </a:txBody>
                  <a:tcPr marL="133350" marR="133350" marT="95250" marB="76200" anchor="t">
                    <a:solidFill>
                      <a:srgbClr val="EDF2EF"/>
                    </a:solidFill>
                  </a:tcPr>
                </a:tc>
                <a:tc>
                  <a:txBody>
                    <a:bodyPr/>
                    <a:lstStyle/>
                    <a:p>
                      <a:r>
                        <a:rPr sz="1800">
                          <a:solidFill>
                            <a:srgbClr val="203640"/>
                          </a:solidFill>
                          <a:latin typeface="Hiragino Sans"/>
                          <a:ea typeface="Hiragino Sans"/>
                          <a:cs typeface="Hiragino Sans"/>
                        </a:rPr>
                        <a:t>発注・納品・請求CSV、取引条件</a:t>
                      </a:r>
                    </a:p>
                  </a:txBody>
                  <a:tcPr marL="133350" marR="133350" marT="95250" marB="76200" anchor="t">
                    <a:solidFill>
                      <a:srgbClr val="EDF2EF"/>
                    </a:solidFill>
                  </a:tcPr>
                </a:tc>
              </a:tr>
              <a:tr h="769620">
                <a:tc>
                  <a:txBody>
                    <a:bodyPr/>
                    <a:lstStyle/>
                    <a:p>
                      <a:r>
                        <a:rPr sz="1800">
                          <a:solidFill>
                            <a:srgbClr val="203640"/>
                          </a:solidFill>
                          <a:latin typeface="Hiragino Sans"/>
                          <a:ea typeface="Hiragino Sans"/>
                          <a:cs typeface="Hiragino Sans"/>
                        </a:rPr>
                        <a:t>動く境界</a:t>
                      </a:r>
                    </a:p>
                  </a:txBody>
                  <a:tcPr marL="133350" marR="133350" marT="95250" marB="76200" anchor="t">
                    <a:solidFill>
                      <a:srgbClr val="FFFFFF"/>
                    </a:solidFill>
                  </a:tcPr>
                </a:tc>
                <a:tc>
                  <a:txBody>
                    <a:bodyPr/>
                    <a:lstStyle/>
                    <a:p>
                      <a:r>
                        <a:rPr sz="1800">
                          <a:solidFill>
                            <a:srgbClr val="203640"/>
                          </a:solidFill>
                          <a:latin typeface="Hiragino Sans"/>
                          <a:ea typeface="Hiragino Sans"/>
                          <a:cs typeface="Hiragino Sans"/>
                        </a:rPr>
                        <a:t>テスト受信箱とシフト表</a:t>
                      </a:r>
                    </a:p>
                  </a:txBody>
                  <a:tcPr marL="133350" marR="133350" marT="95250" marB="76200" anchor="t">
                    <a:solidFill>
                      <a:srgbClr val="FFFFFF"/>
                    </a:solidFill>
                  </a:tcPr>
                </a:tc>
                <a:tc>
                  <a:txBody>
                    <a:bodyPr/>
                    <a:lstStyle/>
                    <a:p>
                      <a:r>
                        <a:rPr sz="1800">
                          <a:solidFill>
                            <a:srgbClr val="203640"/>
                          </a:solidFill>
                          <a:latin typeface="Hiragino Sans"/>
                          <a:ea typeface="Hiragino Sans"/>
                          <a:cs typeface="Hiragino Sans"/>
                        </a:rPr>
                        <a:t>テスト受信箱と照合台帳</a:t>
                      </a:r>
                    </a:p>
                  </a:txBody>
                  <a:tcPr marL="133350" marR="133350" marT="95250" marB="76200" anchor="t">
                    <a:solidFill>
                      <a:srgbClr val="FFFFFF"/>
                    </a:solidFill>
                  </a:tcPr>
                </a:tc>
              </a:tr>
              <a:tr h="769620">
                <a:tc>
                  <a:txBody>
                    <a:bodyPr/>
                    <a:lstStyle/>
                    <a:p>
                      <a:r>
                        <a:rPr sz="1800">
                          <a:solidFill>
                            <a:srgbClr val="203640"/>
                          </a:solidFill>
                          <a:latin typeface="Hiragino Sans"/>
                          <a:ea typeface="Hiragino Sans"/>
                          <a:cs typeface="Hiragino Sans"/>
                        </a:rPr>
                        <a:t>今回外す機能</a:t>
                      </a:r>
                    </a:p>
                  </a:txBody>
                  <a:tcPr marL="133350" marR="133350" marT="95250" marB="76200" anchor="t">
                    <a:solidFill>
                      <a:srgbClr val="EDF2EF"/>
                    </a:solidFill>
                  </a:tcPr>
                </a:tc>
                <a:tc>
                  <a:txBody>
                    <a:bodyPr/>
                    <a:lstStyle/>
                    <a:p>
                      <a:r>
                        <a:rPr sz="1800">
                          <a:solidFill>
                            <a:srgbClr val="203640"/>
                          </a:solidFill>
                          <a:latin typeface="Hiragino Sans"/>
                          <a:ea typeface="Hiragino Sans"/>
                          <a:cs typeface="Hiragino Sans"/>
                        </a:rPr>
                        <a:t>天候、発注、給与、複数店舗</a:t>
                      </a:r>
                    </a:p>
                  </a:txBody>
                  <a:tcPr marL="133350" marR="133350" marT="95250" marB="76200" anchor="t">
                    <a:solidFill>
                      <a:srgbClr val="EDF2EF"/>
                    </a:solidFill>
                  </a:tcPr>
                </a:tc>
                <a:tc>
                  <a:txBody>
                    <a:bodyPr/>
                    <a:lstStyle/>
                    <a:p>
                      <a:r>
                        <a:rPr sz="1800">
                          <a:solidFill>
                            <a:srgbClr val="203640"/>
                          </a:solidFill>
                          <a:latin typeface="Hiragino Sans"/>
                          <a:ea typeface="Hiragino Sans"/>
                          <a:cs typeface="Hiragino Sans"/>
                        </a:rPr>
                        <a:t>OCR、実ERP、送金、税・為替</a:t>
                      </a:r>
                    </a:p>
                  </a:txBody>
                  <a:tcPr marL="133350" marR="133350" marT="95250" marB="76200" anchor="t">
                    <a:solidFill>
                      <a:srgbClr val="EDF2EF"/>
                    </a:solidFill>
                  </a:tcPr>
                </a:tc>
              </a:tr>
              <a:tr h="769620">
                <a:tc>
                  <a:txBody>
                    <a:bodyPr/>
                    <a:lstStyle/>
                    <a:p>
                      <a:r>
                        <a:rPr sz="1800">
                          <a:solidFill>
                            <a:srgbClr val="203640"/>
                          </a:solidFill>
                          <a:latin typeface="Hiragino Sans"/>
                          <a:ea typeface="Hiragino Sans"/>
                          <a:cs typeface="Hiragino Sans"/>
                        </a:rPr>
                        <a:t>主な準備負担</a:t>
                      </a:r>
                    </a:p>
                  </a:txBody>
                  <a:tcPr marL="133350" marR="133350" marT="95250" marB="76200" anchor="t">
                    <a:solidFill>
                      <a:srgbClr val="FFFFFF"/>
                    </a:solidFill>
                  </a:tcPr>
                </a:tc>
                <a:tc>
                  <a:txBody>
                    <a:bodyPr/>
                    <a:lstStyle/>
                    <a:p>
                      <a:r>
                        <a:rPr sz="1800">
                          <a:solidFill>
                            <a:srgbClr val="203640"/>
                          </a:solidFill>
                          <a:latin typeface="Hiragino Sans"/>
                          <a:ea typeface="Hiragino Sans"/>
                          <a:cs typeface="Hiragino Sans"/>
                        </a:rPr>
                        <a:t>勤務条件と返信ケースの定義</a:t>
                      </a:r>
                    </a:p>
                  </a:txBody>
                  <a:tcPr marL="133350" marR="133350" marT="95250" marB="76200" anchor="t">
                    <a:solidFill>
                      <a:srgbClr val="FFFFFF"/>
                    </a:solidFill>
                  </a:tcPr>
                </a:tc>
                <a:tc>
                  <a:txBody>
                    <a:bodyPr/>
                    <a:lstStyle/>
                    <a:p>
                      <a:r>
                        <a:rPr sz="1800">
                          <a:solidFill>
                            <a:srgbClr val="203640"/>
                          </a:solidFill>
                          <a:latin typeface="Hiragino Sans"/>
                          <a:ea typeface="Hiragino Sans"/>
                          <a:cs typeface="Hiragino Sans"/>
                        </a:rPr>
                        <a:t>取引条件と数値・証拠の正解作成</a:t>
                      </a:r>
                    </a:p>
                  </a:txBody>
                  <a:tcPr marL="133350" marR="133350" marT="95250" marB="76200" anchor="t">
                    <a:solidFill>
                      <a:srgbClr val="FFFFFF"/>
                    </a:solidFill>
                  </a:tcPr>
                </a:tc>
              </a:tr>
            </a:tbl>
          </a:graphicData>
        </a:graphic>
      </p:graphicFrame>
    </p:spTree>
    <p:extLst>
      <p:ext uri="{BB962C8B-B14F-4D97-AF65-F5344CB8AC3E}">
        <p14:creationId xmlns:p14="http://schemas.microsoft.com/office/powerpoint/2010/main" val="1885591644"/>
      </p:ext>
    </p:extLst>
  </p:cSld>
</p:sld>
</file>

<file path=ppt/slides/slide7.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6" name="text-7-0">
            <a:extLst xmlns:a="http://schemas.openxmlformats.org/drawingml/2006/main">
              <a:ext uri="{FF2B5EF4-FFF2-40B4-BE49-F238E27FC236}">
                <a16:creationId xmlns:a16="http://schemas.microsoft.com/office/drawing/2014/main" id="{80ABD37C-05F1-4322-869D-02F3B53BD177}"/>
              </a:ext>
            </a:extLst>
          </p:cNvPr>
          <p:cNvSpPr>
            <a:spLocks xmlns:a="http://schemas.openxmlformats.org/drawingml/2006/main" noGrp="1"/>
          </p:cNvSpPr>
          <p:nvPr/>
        </p:nvSpPr>
        <p:spPr>
          <a:xfrm xmlns:a="http://schemas.openxmlformats.org/drawingml/2006/main">
            <a:off x="609600" y="409575"/>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32B3A"/>
                </a:solidFill>
                <a:latin typeface="Hiragino Sans"/>
                <a:ea typeface="Hiragino Sans"/>
                <a:cs typeface="Hiragino Sans"/>
              </a:defRPr>
            </a:pPr>
            <a:r>
              <a:rPr sz="3300" b="1">
                <a:solidFill>
                  <a:srgbClr val="132B3A"/>
                </a:solidFill>
                <a:latin typeface="Hiragino Sans"/>
                <a:ea typeface="Hiragino Sans"/>
                <a:cs typeface="Hiragino Sans"/>
              </a:rPr>
              <a:t>案05：部分承諾から残りの時間を埋める</a:t>
            </a:r>
          </a:p>
        </p:txBody>
      </p:sp>
      <p:sp>
        <p:nvSpPr>
          <p:cNvPr id="2" name="text-7-1">
            <a:extLst xmlns:a="http://schemas.openxmlformats.org/drawingml/2006/main">
              <a:ext uri="{FF2B5EF4-FFF2-40B4-BE49-F238E27FC236}">
                <a16:creationId xmlns:a16="http://schemas.microsoft.com/office/drawing/2014/main" id="{69717551-946D-4D0E-B719-FFB37E870715}"/>
              </a:ext>
            </a:extLst>
          </p:cNvPr>
          <p:cNvSpPr>
            <a:spLocks xmlns:a="http://schemas.openxmlformats.org/drawingml/2006/main" noGrp="1"/>
          </p:cNvSpPr>
          <p:nvPr/>
        </p:nvSpPr>
        <p:spPr>
          <a:xfrm xmlns:a="http://schemas.openxmlformats.org/drawingml/2006/main">
            <a:off x="11077575" y="6391275"/>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D6B73"/>
                </a:solidFill>
                <a:latin typeface="Hiragino Sans"/>
                <a:ea typeface="Hiragino Sans"/>
                <a:cs typeface="Hiragino Sans"/>
              </a:defRPr>
            </a:pPr>
            <a:r>
              <a:rPr sz="1275" b="0">
                <a:solidFill>
                  <a:srgbClr val="5D6B73"/>
                </a:solidFill>
                <a:latin typeface="Hiragino Sans"/>
                <a:ea typeface="Hiragino Sans"/>
                <a:cs typeface="Hiragino Sans"/>
              </a:rPr>
              <a:t>07</a:t>
            </a:r>
          </a:p>
        </p:txBody>
      </p:sp>
      <p:sp>
        <p:nvSpPr>
          <p:cNvPr id="3" name="text-7-2">
            <a:extLst xmlns:a="http://schemas.openxmlformats.org/drawingml/2006/main">
              <a:ext uri="{FF2B5EF4-FFF2-40B4-BE49-F238E27FC236}">
                <a16:creationId xmlns:a16="http://schemas.microsoft.com/office/drawing/2014/main" id="{C98D8819-5650-4F2D-BC82-9F1AD9B6D940}"/>
              </a:ext>
            </a:extLst>
          </p:cNvPr>
          <p:cNvSpPr>
            <a:spLocks xmlns:a="http://schemas.openxmlformats.org/drawingml/2006/main" noGrp="1"/>
          </p:cNvSpPr>
          <p:nvPr/>
        </p:nvSpPr>
        <p:spPr>
          <a:xfrm xmlns:a="http://schemas.openxmlformats.org/drawingml/2006/main">
            <a:off x="609600" y="6238875"/>
            <a:ext cx="10144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D6B73"/>
                </a:solidFill>
                <a:latin typeface="Hiragino Sans"/>
                <a:ea typeface="Hiragino Sans"/>
                <a:cs typeface="Hiragino Sans"/>
              </a:defRPr>
            </a:pPr>
            <a:r>
              <a:rPr sz="1275" b="0">
                <a:solidFill>
                  <a:srgbClr val="5D6B73"/>
                </a:solidFill>
                <a:latin typeface="Hiragino Sans"/>
                <a:ea typeface="Hiragino Sans"/>
                <a:cs typeface="Hiragino Sans"/>
              </a:rPr>
              <a:t>架空の1店舗・1案件。勤務条件、本人の意思、連絡許可を使う。</a:t>
            </a:r>
          </a:p>
        </p:txBody>
      </p:sp>
      <p:sp>
        <p:nvSpPr>
          <p:cNvPr id="4" name="text-7-3">
            <a:extLst xmlns:a="http://schemas.openxmlformats.org/drawingml/2006/main">
              <a:ext uri="{FF2B5EF4-FFF2-40B4-BE49-F238E27FC236}">
                <a16:creationId xmlns:a16="http://schemas.microsoft.com/office/drawing/2014/main" id="{0C7D0A7C-7540-4313-AB36-B284FBA9BBFE}"/>
              </a:ext>
            </a:extLst>
          </p:cNvPr>
          <p:cNvSpPr>
            <a:spLocks xmlns:a="http://schemas.openxmlformats.org/drawingml/2006/main" noGrp="1"/>
          </p:cNvSpPr>
          <p:nvPr/>
        </p:nvSpPr>
        <p:spPr>
          <a:xfrm xmlns:a="http://schemas.openxmlformats.org/drawingml/2006/main">
            <a:off x="609600" y="13620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BE542A"/>
                </a:solidFill>
                <a:latin typeface="Hiragino Sans"/>
                <a:ea typeface="Hiragino Sans"/>
                <a:cs typeface="Hiragino Sans"/>
              </a:defRPr>
            </a:pPr>
            <a:r>
              <a:rPr sz="2400" b="1">
                <a:solidFill>
                  <a:srgbClr val="BE542A"/>
                </a:solidFill>
                <a:latin typeface="Hiragino Sans"/>
                <a:ea typeface="Hiragino Sans"/>
                <a:cs typeface="Hiragino Sans"/>
              </a:rPr>
              <a:t>必要枠：18〜22時のホール担当1人</a:t>
            </a:r>
          </a:p>
        </p:txBody>
      </p:sp>
      <p:graphicFrame>
        <p:nvGraphicFramePr>
          <p:cNvPr id="10" name=""/>
          <p:cNvGraphicFramePr/>
          <p:nvPr/>
        </p:nvGraphicFramePr>
        <p:xfrm>
          <a:off xmlns:a="http://schemas.openxmlformats.org/drawingml/2006/main" x="609600" y="2038350"/>
          <a:ext xmlns:a="http://schemas.openxmlformats.org/drawingml/2006/main" cx="10972800" cy="3676650"/>
        </p:xfrm>
        <a:graphic xmlns:a="http://schemas.openxmlformats.org/drawingml/2006/main">
          <a:graphicData uri="http://schemas.openxmlformats.org/drawingml/2006/table">
            <a:tbl>
              <a:tblPr/>
              <a:tblGrid>
                <a:gridCol w="1333500"/>
                <a:gridCol w="4143375"/>
                <a:gridCol w="5495925"/>
              </a:tblGrid>
              <a:tr h="533400">
                <a:tc>
                  <a:txBody>
                    <a:bodyPr/>
                    <a:lstStyle/>
                    <a:p>
                      <a:r>
                        <a:rPr sz="1875" b="1">
                          <a:solidFill>
                            <a:srgbClr val="FFFFFF"/>
                          </a:solidFill>
                          <a:latin typeface="Hiragino Sans"/>
                          <a:ea typeface="Hiragino Sans"/>
                          <a:cs typeface="Hiragino Sans"/>
                        </a:rPr>
                        <a:t>相手</a:t>
                      </a:r>
                    </a:p>
                  </a:txBody>
                  <a:tcPr marL="133350" marR="133350" marT="95250" marB="76200" anchor="t">
                    <a:solidFill>
                      <a:srgbClr val="132B3A"/>
                    </a:solidFill>
                  </a:tcPr>
                </a:tc>
                <a:tc>
                  <a:txBody>
                    <a:bodyPr/>
                    <a:lstStyle/>
                    <a:p>
                      <a:r>
                        <a:rPr sz="1875" b="1">
                          <a:solidFill>
                            <a:srgbClr val="FFFFFF"/>
                          </a:solidFill>
                          <a:latin typeface="Hiragino Sans"/>
                          <a:ea typeface="Hiragino Sans"/>
                          <a:cs typeface="Hiragino Sans"/>
                        </a:rPr>
                        <a:t>返信</a:t>
                      </a:r>
                    </a:p>
                  </a:txBody>
                  <a:tcPr marL="133350" marR="133350" marT="95250" marB="76200" anchor="t">
                    <a:solidFill>
                      <a:srgbClr val="132B3A"/>
                    </a:solidFill>
                  </a:tcPr>
                </a:tc>
                <a:tc>
                  <a:txBody>
                    <a:bodyPr/>
                    <a:lstStyle/>
                    <a:p>
                      <a:r>
                        <a:rPr sz="1875" b="1">
                          <a:solidFill>
                            <a:srgbClr val="FFFFFF"/>
                          </a:solidFill>
                          <a:latin typeface="Hiragino Sans"/>
                          <a:ea typeface="Hiragino Sans"/>
                          <a:cs typeface="Hiragino Sans"/>
                        </a:rPr>
                        <a:t>エージェントの対応</a:t>
                      </a:r>
                    </a:p>
                  </a:txBody>
                  <a:tcPr marL="133350" marR="133350" marT="95250" marB="76200" anchor="t">
                    <a:solidFill>
                      <a:srgbClr val="132B3A"/>
                    </a:solidFill>
                  </a:tcPr>
                </a:tc>
              </a:tr>
              <a:tr h="785813">
                <a:tc>
                  <a:txBody>
                    <a:bodyPr/>
                    <a:lstStyle/>
                    <a:p>
                      <a:r>
                        <a:rPr sz="1875">
                          <a:solidFill>
                            <a:srgbClr val="203640"/>
                          </a:solidFill>
                          <a:latin typeface="Hiragino Sans"/>
                          <a:ea typeface="Hiragino Sans"/>
                          <a:cs typeface="Hiragino Sans"/>
                        </a:rPr>
                        <a:t>A</a:t>
                      </a:r>
                    </a:p>
                  </a:txBody>
                  <a:tcPr marL="133350" marR="133350" marT="95250" marB="76200" anchor="t">
                    <a:solidFill>
                      <a:srgbClr val="FFFFFF"/>
                    </a:solidFill>
                  </a:tcPr>
                </a:tc>
                <a:tc>
                  <a:txBody>
                    <a:bodyPr/>
                    <a:lstStyle/>
                    <a:p>
                      <a:r>
                        <a:rPr sz="1875">
                          <a:solidFill>
                            <a:srgbClr val="203640"/>
                          </a:solidFill>
                          <a:latin typeface="Hiragino Sans"/>
                          <a:ea typeface="Hiragino Sans"/>
                          <a:cs typeface="Hiragino Sans"/>
                        </a:rPr>
                        <a:t>「今日は入れません」</a:t>
                      </a:r>
                    </a:p>
                  </a:txBody>
                  <a:tcPr marL="133350" marR="133350" marT="95250" marB="76200" anchor="t">
                    <a:solidFill>
                      <a:srgbClr val="FFFFFF"/>
                    </a:solidFill>
                  </a:tcPr>
                </a:tc>
                <a:tc>
                  <a:txBody>
                    <a:bodyPr/>
                    <a:lstStyle/>
                    <a:p>
                      <a:r>
                        <a:rPr sz="1875">
                          <a:solidFill>
                            <a:srgbClr val="203640"/>
                          </a:solidFill>
                          <a:latin typeface="Hiragino Sans"/>
                          <a:ea typeface="Hiragino Sans"/>
                          <a:cs typeface="Hiragino Sans"/>
                        </a:rPr>
                        <a:t>辞退を記録して、次の候補を選ぶ</a:t>
                      </a:r>
                    </a:p>
                  </a:txBody>
                  <a:tcPr marL="133350" marR="133350" marT="95250" marB="76200" anchor="t">
                    <a:solidFill>
                      <a:srgbClr val="FFFFFF"/>
                    </a:solidFill>
                  </a:tcPr>
                </a:tc>
              </a:tr>
              <a:tr h="785813">
                <a:tc>
                  <a:txBody>
                    <a:bodyPr/>
                    <a:lstStyle/>
                    <a:p>
                      <a:r>
                        <a:rPr sz="1875">
                          <a:solidFill>
                            <a:srgbClr val="203640"/>
                          </a:solidFill>
                          <a:latin typeface="Hiragino Sans"/>
                          <a:ea typeface="Hiragino Sans"/>
                          <a:cs typeface="Hiragino Sans"/>
                        </a:rPr>
                        <a:t>B</a:t>
                      </a:r>
                    </a:p>
                  </a:txBody>
                  <a:tcPr marL="133350" marR="133350" marT="95250" marB="76200" anchor="t">
                    <a:solidFill>
                      <a:srgbClr val="EDF2EF"/>
                    </a:solidFill>
                  </a:tcPr>
                </a:tc>
                <a:tc>
                  <a:txBody>
                    <a:bodyPr/>
                    <a:lstStyle/>
                    <a:p>
                      <a:r>
                        <a:rPr sz="1875">
                          <a:solidFill>
                            <a:srgbClr val="203640"/>
                          </a:solidFill>
                          <a:latin typeface="Hiragino Sans"/>
                          <a:ea typeface="Hiragino Sans"/>
                          <a:cs typeface="Hiragino Sans"/>
                        </a:rPr>
                        <a:t>「19時から22時なら可能」</a:t>
                      </a:r>
                    </a:p>
                  </a:txBody>
                  <a:tcPr marL="133350" marR="133350" marT="95250" marB="76200" anchor="t">
                    <a:solidFill>
                      <a:srgbClr val="EDF2EF"/>
                    </a:solidFill>
                  </a:tcPr>
                </a:tc>
                <a:tc>
                  <a:txBody>
                    <a:bodyPr/>
                    <a:lstStyle/>
                    <a:p>
                      <a:r>
                        <a:rPr sz="1875">
                          <a:solidFill>
                            <a:srgbClr val="203640"/>
                          </a:solidFill>
                          <a:latin typeface="Hiragino Sans"/>
                          <a:ea typeface="Hiragino Sans"/>
                          <a:cs typeface="Hiragino Sans"/>
                        </a:rPr>
                        <a:t>18〜19時が不足していると判断</a:t>
                      </a:r>
                    </a:p>
                  </a:txBody>
                  <a:tcPr marL="133350" marR="133350" marT="95250" marB="76200" anchor="t">
                    <a:solidFill>
                      <a:srgbClr val="EDF2EF"/>
                    </a:solidFill>
                  </a:tcPr>
                </a:tc>
              </a:tr>
              <a:tr h="785813">
                <a:tc>
                  <a:txBody>
                    <a:bodyPr/>
                    <a:lstStyle/>
                    <a:p>
                      <a:r>
                        <a:rPr sz="1875">
                          <a:solidFill>
                            <a:srgbClr val="203640"/>
                          </a:solidFill>
                          <a:latin typeface="Hiragino Sans"/>
                          <a:ea typeface="Hiragino Sans"/>
                          <a:cs typeface="Hiragino Sans"/>
                        </a:rPr>
                        <a:t>C</a:t>
                      </a:r>
                    </a:p>
                  </a:txBody>
                  <a:tcPr marL="133350" marR="133350" marT="95250" marB="76200" anchor="t">
                    <a:solidFill>
                      <a:srgbClr val="FFFFFF"/>
                    </a:solidFill>
                  </a:tcPr>
                </a:tc>
                <a:tc>
                  <a:txBody>
                    <a:bodyPr/>
                    <a:lstStyle/>
                    <a:p>
                      <a:r>
                        <a:rPr sz="1875">
                          <a:solidFill>
                            <a:srgbClr val="203640"/>
                          </a:solidFill>
                          <a:latin typeface="Hiragino Sans"/>
                          <a:ea typeface="Hiragino Sans"/>
                          <a:cs typeface="Hiragino Sans"/>
                        </a:rPr>
                        <a:t>「18時から19時なら入れます」</a:t>
                      </a:r>
                    </a:p>
                  </a:txBody>
                  <a:tcPr marL="133350" marR="133350" marT="95250" marB="76200" anchor="t">
                    <a:solidFill>
                      <a:srgbClr val="FFFFFF"/>
                    </a:solidFill>
                  </a:tcPr>
                </a:tc>
                <a:tc>
                  <a:txBody>
                    <a:bodyPr/>
                    <a:lstStyle/>
                    <a:p>
                      <a:r>
                        <a:rPr sz="1875">
                          <a:solidFill>
                            <a:srgbClr val="203640"/>
                          </a:solidFill>
                          <a:latin typeface="Hiragino Sans"/>
                          <a:ea typeface="Hiragino Sans"/>
                          <a:cs typeface="Hiragino Sans"/>
                        </a:rPr>
                        <a:t>BとCで条件を満たすか検査する</a:t>
                      </a:r>
                    </a:p>
                  </a:txBody>
                  <a:tcPr marL="133350" marR="133350" marT="95250" marB="76200" anchor="t">
                    <a:solidFill>
                      <a:srgbClr val="FFFFFF"/>
                    </a:solidFill>
                  </a:tcPr>
                </a:tc>
              </a:tr>
              <a:tr h="785813">
                <a:tc>
                  <a:txBody>
                    <a:bodyPr/>
                    <a:lstStyle/>
                    <a:p>
                      <a:r>
                        <a:rPr sz="1875">
                          <a:solidFill>
                            <a:srgbClr val="203640"/>
                          </a:solidFill>
                          <a:latin typeface="Hiragino Sans"/>
                          <a:ea typeface="Hiragino Sans"/>
                          <a:cs typeface="Hiragino Sans"/>
                        </a:rPr>
                        <a:t>店長</a:t>
                      </a:r>
                    </a:p>
                  </a:txBody>
                  <a:tcPr marL="133350" marR="133350" marT="95250" marB="76200" anchor="t">
                    <a:solidFill>
                      <a:srgbClr val="EDF2EF"/>
                    </a:solidFill>
                  </a:tcPr>
                </a:tc>
                <a:tc>
                  <a:txBody>
                    <a:bodyPr/>
                    <a:lstStyle/>
                    <a:p>
                      <a:r>
                        <a:rPr sz="1875">
                          <a:solidFill>
                            <a:srgbClr val="203640"/>
                          </a:solidFill>
                          <a:latin typeface="Hiragino Sans"/>
                          <a:ea typeface="Hiragino Sans"/>
                          <a:cs typeface="Hiragino Sans"/>
                        </a:rPr>
                        <a:t>追加の指示なし</a:t>
                      </a:r>
                    </a:p>
                  </a:txBody>
                  <a:tcPr marL="133350" marR="133350" marT="95250" marB="76200" anchor="t">
                    <a:solidFill>
                      <a:srgbClr val="EDF2EF"/>
                    </a:solidFill>
                  </a:tcPr>
                </a:tc>
                <a:tc>
                  <a:txBody>
                    <a:bodyPr/>
                    <a:lstStyle/>
                    <a:p>
                      <a:r>
                        <a:rPr sz="1875">
                          <a:solidFill>
                            <a:srgbClr val="203640"/>
                          </a:solidFill>
                          <a:latin typeface="Hiragino Sans"/>
                          <a:ea typeface="Hiragino Sans"/>
                          <a:cs typeface="Hiragino Sans"/>
                        </a:rPr>
                        <a:t>シフトを更新し、読戻した結果を報告</a:t>
                      </a:r>
                    </a:p>
                  </a:txBody>
                  <a:tcPr marL="133350" marR="133350" marT="95250" marB="76200" anchor="t">
                    <a:solidFill>
                      <a:srgbClr val="EDF2EF"/>
                    </a:solidFill>
                  </a:tcPr>
                </a:tc>
              </a:tr>
            </a:tbl>
          </a:graphicData>
        </a:graphic>
      </p:graphicFrame>
    </p:spTree>
    <p:extLst>
      <p:ext uri="{BB962C8B-B14F-4D97-AF65-F5344CB8AC3E}">
        <p14:creationId xmlns:p14="http://schemas.microsoft.com/office/powerpoint/2010/main" val="1643009374"/>
      </p:ext>
    </p:extLst>
  </p:cSld>
</p:sld>
</file>

<file path=ppt/slides/slide8.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5" name="text-8-0">
            <a:extLst xmlns:a="http://schemas.openxmlformats.org/drawingml/2006/main">
              <a:ext uri="{FF2B5EF4-FFF2-40B4-BE49-F238E27FC236}">
                <a16:creationId xmlns:a16="http://schemas.microsoft.com/office/drawing/2014/main" id="{CF772D0E-5B98-484B-9ABD-21AA6EB179AC}"/>
              </a:ext>
            </a:extLst>
          </p:cNvPr>
          <p:cNvSpPr>
            <a:spLocks xmlns:a="http://schemas.openxmlformats.org/drawingml/2006/main" noGrp="1"/>
          </p:cNvSpPr>
          <p:nvPr/>
        </p:nvSpPr>
        <p:spPr>
          <a:xfrm xmlns:a="http://schemas.openxmlformats.org/drawingml/2006/main">
            <a:off x="609600" y="409575"/>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32B3A"/>
                </a:solidFill>
                <a:latin typeface="Hiragino Sans"/>
                <a:ea typeface="Hiragino Sans"/>
                <a:cs typeface="Hiragino Sans"/>
              </a:defRPr>
            </a:pPr>
            <a:r>
              <a:rPr sz="3300" b="1">
                <a:solidFill>
                  <a:srgbClr val="132B3A"/>
                </a:solidFill>
                <a:latin typeface="Hiragino Sans"/>
                <a:ea typeface="Hiragino Sans"/>
                <a:cs typeface="Hiragino Sans"/>
              </a:rPr>
              <a:t>案05の自律ループと終了状態</a:t>
            </a:r>
          </a:p>
        </p:txBody>
      </p:sp>
      <p:sp>
        <p:nvSpPr>
          <p:cNvPr id="2" name="text-8-1">
            <a:extLst xmlns:a="http://schemas.openxmlformats.org/drawingml/2006/main">
              <a:ext uri="{FF2B5EF4-FFF2-40B4-BE49-F238E27FC236}">
                <a16:creationId xmlns:a16="http://schemas.microsoft.com/office/drawing/2014/main" id="{95C00AE6-8795-4051-B16C-E7AAA5C52BD5}"/>
              </a:ext>
            </a:extLst>
          </p:cNvPr>
          <p:cNvSpPr>
            <a:spLocks xmlns:a="http://schemas.openxmlformats.org/drawingml/2006/main" noGrp="1"/>
          </p:cNvSpPr>
          <p:nvPr/>
        </p:nvSpPr>
        <p:spPr>
          <a:xfrm xmlns:a="http://schemas.openxmlformats.org/drawingml/2006/main">
            <a:off x="11077575" y="6391275"/>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D6B73"/>
                </a:solidFill>
                <a:latin typeface="Hiragino Sans"/>
                <a:ea typeface="Hiragino Sans"/>
                <a:cs typeface="Hiragino Sans"/>
              </a:defRPr>
            </a:pPr>
            <a:r>
              <a:rPr sz="1275" b="0">
                <a:solidFill>
                  <a:srgbClr val="5D6B73"/>
                </a:solidFill>
                <a:latin typeface="Hiragino Sans"/>
                <a:ea typeface="Hiragino Sans"/>
                <a:cs typeface="Hiragino Sans"/>
              </a:rPr>
              <a:t>08</a:t>
            </a:r>
          </a:p>
        </p:txBody>
      </p:sp>
      <p:sp>
        <p:nvSpPr>
          <p:cNvPr id="3" name="text-8-2">
            <a:extLst xmlns:a="http://schemas.openxmlformats.org/drawingml/2006/main">
              <a:ext uri="{FF2B5EF4-FFF2-40B4-BE49-F238E27FC236}">
                <a16:creationId xmlns:a16="http://schemas.microsoft.com/office/drawing/2014/main" id="{8BB4F332-11A7-4EA6-BDD6-92EFBEC5E94B}"/>
              </a:ext>
            </a:extLst>
          </p:cNvPr>
          <p:cNvSpPr>
            <a:spLocks xmlns:a="http://schemas.openxmlformats.org/drawingml/2006/main" noGrp="1"/>
          </p:cNvSpPr>
          <p:nvPr/>
        </p:nvSpPr>
        <p:spPr>
          <a:xfrm xmlns:a="http://schemas.openxmlformats.org/drawingml/2006/main">
            <a:off x="609600" y="6238875"/>
            <a:ext cx="10144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D6B73"/>
                </a:solidFill>
                <a:latin typeface="Hiragino Sans"/>
                <a:ea typeface="Hiragino Sans"/>
                <a:cs typeface="Hiragino Sans"/>
              </a:defRPr>
            </a:pPr>
            <a:r>
              <a:rPr sz="1275" b="0">
                <a:solidFill>
                  <a:srgbClr val="5D6B73"/>
                </a:solidFill>
                <a:latin typeface="Hiragino Sans"/>
                <a:ea typeface="Hiragino Sans"/>
                <a:cs typeface="Hiragino Sans"/>
              </a:rPr>
              <a:t>「完了」「引き継ぎ」「技術エラー」は別の結果として記録する。</a:t>
            </a:r>
          </a:p>
        </p:txBody>
      </p:sp>
      <p:graphicFrame>
        <p:nvGraphicFramePr>
          <p:cNvPr id="8" name=""/>
          <p:cNvGraphicFramePr/>
          <p:nvPr/>
        </p:nvGraphicFramePr>
        <p:xfrm>
          <a:off xmlns:a="http://schemas.openxmlformats.org/drawingml/2006/main" x="609600" y="1457325"/>
          <a:ext xmlns:a="http://schemas.openxmlformats.org/drawingml/2006/main" cx="10972800" cy="4381500"/>
        </p:xfrm>
        <a:graphic xmlns:a="http://schemas.openxmlformats.org/drawingml/2006/main">
          <a:graphicData uri="http://schemas.openxmlformats.org/drawingml/2006/table">
            <a:tbl>
              <a:tblPr/>
              <a:tblGrid>
                <a:gridCol w="2095500"/>
                <a:gridCol w="4381500"/>
                <a:gridCol w="4495800"/>
              </a:tblGrid>
              <a:tr h="533400">
                <a:tc>
                  <a:txBody>
                    <a:bodyPr/>
                    <a:lstStyle/>
                    <a:p>
                      <a:r>
                        <a:rPr sz="1800" b="1">
                          <a:solidFill>
                            <a:srgbClr val="FFFFFF"/>
                          </a:solidFill>
                          <a:latin typeface="Hiragino Sans"/>
                          <a:ea typeface="Hiragino Sans"/>
                          <a:cs typeface="Hiragino Sans"/>
                        </a:rPr>
                        <a:t>段階</a:t>
                      </a:r>
                    </a:p>
                  </a:txBody>
                  <a:tcPr marL="133350" marR="133350" marT="95250" marB="76200" anchor="t">
                    <a:solidFill>
                      <a:srgbClr val="132B3A"/>
                    </a:solidFill>
                  </a:tcPr>
                </a:tc>
                <a:tc>
                  <a:txBody>
                    <a:bodyPr/>
                    <a:lstStyle/>
                    <a:p>
                      <a:r>
                        <a:rPr sz="1800" b="1">
                          <a:solidFill>
                            <a:srgbClr val="FFFFFF"/>
                          </a:solidFill>
                          <a:latin typeface="Hiragino Sans"/>
                          <a:ea typeface="Hiragino Sans"/>
                          <a:cs typeface="Hiragino Sans"/>
                        </a:rPr>
                        <a:t>観測するもの</a:t>
                      </a:r>
                    </a:p>
                  </a:txBody>
                  <a:tcPr marL="133350" marR="133350" marT="95250" marB="76200" anchor="t">
                    <a:solidFill>
                      <a:srgbClr val="132B3A"/>
                    </a:solidFill>
                  </a:tcPr>
                </a:tc>
                <a:tc>
                  <a:txBody>
                    <a:bodyPr/>
                    <a:lstStyle/>
                    <a:p>
                      <a:r>
                        <a:rPr sz="1800" b="1">
                          <a:solidFill>
                            <a:srgbClr val="FFFFFF"/>
                          </a:solidFill>
                          <a:latin typeface="Hiragino Sans"/>
                          <a:ea typeface="Hiragino Sans"/>
                          <a:cs typeface="Hiragino Sans"/>
                        </a:rPr>
                        <a:t>行動・終了</a:t>
                      </a:r>
                    </a:p>
                  </a:txBody>
                  <a:tcPr marL="133350" marR="133350" marT="95250" marB="76200" anchor="t">
                    <a:solidFill>
                      <a:srgbClr val="132B3A"/>
                    </a:solidFill>
                  </a:tcPr>
                </a:tc>
              </a:tr>
              <a:tr h="769620">
                <a:tc>
                  <a:txBody>
                    <a:bodyPr/>
                    <a:lstStyle/>
                    <a:p>
                      <a:r>
                        <a:rPr sz="1800">
                          <a:solidFill>
                            <a:srgbClr val="203640"/>
                          </a:solidFill>
                          <a:latin typeface="Hiragino Sans"/>
                          <a:ea typeface="Hiragino Sans"/>
                          <a:cs typeface="Hiragino Sans"/>
                        </a:rPr>
                        <a:t>受付・計画</a:t>
                      </a:r>
                    </a:p>
                  </a:txBody>
                  <a:tcPr marL="133350" marR="133350" marT="95250" marB="76200" anchor="t">
                    <a:solidFill>
                      <a:srgbClr val="FFFFFF"/>
                    </a:solidFill>
                  </a:tcPr>
                </a:tc>
                <a:tc>
                  <a:txBody>
                    <a:bodyPr/>
                    <a:lstStyle/>
                    <a:p>
                      <a:r>
                        <a:rPr sz="1800">
                          <a:solidFill>
                            <a:srgbClr val="203640"/>
                          </a:solidFill>
                          <a:latin typeface="Hiragino Sans"/>
                          <a:ea typeface="Hiragino Sans"/>
                          <a:cs typeface="Hiragino Sans"/>
                        </a:rPr>
                        <a:t>不足時間、必要スキル、候補</a:t>
                      </a:r>
                    </a:p>
                  </a:txBody>
                  <a:tcPr marL="133350" marR="133350" marT="95250" marB="76200" anchor="t">
                    <a:solidFill>
                      <a:srgbClr val="FFFFFF"/>
                    </a:solidFill>
                  </a:tcPr>
                </a:tc>
                <a:tc>
                  <a:txBody>
                    <a:bodyPr/>
                    <a:lstStyle/>
                    <a:p>
                      <a:r>
                        <a:rPr sz="1800">
                          <a:solidFill>
                            <a:srgbClr val="203640"/>
                          </a:solidFill>
                          <a:latin typeface="Hiragino Sans"/>
                          <a:ea typeface="Hiragino Sans"/>
                          <a:cs typeface="Hiragino Sans"/>
                        </a:rPr>
                        <a:t>制約を満たす候補に打診</a:t>
                      </a:r>
                    </a:p>
                  </a:txBody>
                  <a:tcPr marL="133350" marR="133350" marT="95250" marB="76200" anchor="t">
                    <a:solidFill>
                      <a:srgbClr val="FFFFFF"/>
                    </a:solidFill>
                  </a:tcPr>
                </a:tc>
              </a:tr>
              <a:tr h="769620">
                <a:tc>
                  <a:txBody>
                    <a:bodyPr/>
                    <a:lstStyle/>
                    <a:p>
                      <a:r>
                        <a:rPr sz="1800">
                          <a:solidFill>
                            <a:srgbClr val="203640"/>
                          </a:solidFill>
                          <a:latin typeface="Hiragino Sans"/>
                          <a:ea typeface="Hiragino Sans"/>
                          <a:cs typeface="Hiragino Sans"/>
                        </a:rPr>
                        <a:t>返信待ち</a:t>
                      </a:r>
                    </a:p>
                  </a:txBody>
                  <a:tcPr marL="133350" marR="133350" marT="95250" marB="76200" anchor="t">
                    <a:solidFill>
                      <a:srgbClr val="EDF2EF"/>
                    </a:solidFill>
                  </a:tcPr>
                </a:tc>
                <a:tc>
                  <a:txBody>
                    <a:bodyPr/>
                    <a:lstStyle/>
                    <a:p>
                      <a:r>
                        <a:rPr sz="1800">
                          <a:solidFill>
                            <a:srgbClr val="203640"/>
                          </a:solidFill>
                          <a:latin typeface="Hiragino Sans"/>
                          <a:ea typeface="Hiragino Sans"/>
                          <a:cs typeface="Hiragino Sans"/>
                        </a:rPr>
                        <a:t>承諾、辞退、部分承諾、無応答</a:t>
                      </a:r>
                    </a:p>
                  </a:txBody>
                  <a:tcPr marL="133350" marR="133350" marT="95250" marB="76200" anchor="t">
                    <a:solidFill>
                      <a:srgbClr val="EDF2EF"/>
                    </a:solidFill>
                  </a:tcPr>
                </a:tc>
                <a:tc>
                  <a:txBody>
                    <a:bodyPr/>
                    <a:lstStyle/>
                    <a:p>
                      <a:r>
                        <a:rPr sz="1800">
                          <a:solidFill>
                            <a:srgbClr val="203640"/>
                          </a:solidFill>
                          <a:latin typeface="Hiragino Sans"/>
                          <a:ea typeface="Hiragino Sans"/>
                          <a:cs typeface="Hiragino Sans"/>
                        </a:rPr>
                        <a:t>未充足時間を更新して再計画</a:t>
                      </a:r>
                    </a:p>
                  </a:txBody>
                  <a:tcPr marL="133350" marR="133350" marT="95250" marB="76200" anchor="t">
                    <a:solidFill>
                      <a:srgbClr val="EDF2EF"/>
                    </a:solidFill>
                  </a:tcPr>
                </a:tc>
              </a:tr>
              <a:tr h="769620">
                <a:tc>
                  <a:txBody>
                    <a:bodyPr/>
                    <a:lstStyle/>
                    <a:p>
                      <a:r>
                        <a:rPr sz="1800">
                          <a:solidFill>
                            <a:srgbClr val="203640"/>
                          </a:solidFill>
                          <a:latin typeface="Hiragino Sans"/>
                          <a:ea typeface="Hiragino Sans"/>
                          <a:cs typeface="Hiragino Sans"/>
                        </a:rPr>
                        <a:t>確定準備</a:t>
                      </a:r>
                    </a:p>
                  </a:txBody>
                  <a:tcPr marL="133350" marR="133350" marT="95250" marB="76200" anchor="t">
                    <a:solidFill>
                      <a:srgbClr val="FFFFFF"/>
                    </a:solidFill>
                  </a:tcPr>
                </a:tc>
                <a:tc>
                  <a:txBody>
                    <a:bodyPr/>
                    <a:lstStyle/>
                    <a:p>
                      <a:r>
                        <a:rPr sz="1800">
                          <a:solidFill>
                            <a:srgbClr val="203640"/>
                          </a:solidFill>
                          <a:latin typeface="Hiragino Sans"/>
                          <a:ea typeface="Hiragino Sans"/>
                          <a:cs typeface="Hiragino Sans"/>
                        </a:rPr>
                        <a:t>最新シフト、承諾、権限、版</a:t>
                      </a:r>
                    </a:p>
                  </a:txBody>
                  <a:tcPr marL="133350" marR="133350" marT="95250" marB="76200" anchor="t">
                    <a:solidFill>
                      <a:srgbClr val="FFFFFF"/>
                    </a:solidFill>
                  </a:tcPr>
                </a:tc>
                <a:tc>
                  <a:txBody>
                    <a:bodyPr/>
                    <a:lstStyle/>
                    <a:p>
                      <a:r>
                        <a:rPr sz="1800">
                          <a:solidFill>
                            <a:srgbClr val="203640"/>
                          </a:solidFill>
                          <a:latin typeface="Hiragino Sans"/>
                          <a:ea typeface="Hiragino Sans"/>
                          <a:cs typeface="Hiragino Sans"/>
                        </a:rPr>
                        <a:t>条件を検査して一度だけ更新</a:t>
                      </a:r>
                    </a:p>
                  </a:txBody>
                  <a:tcPr marL="133350" marR="133350" marT="95250" marB="76200" anchor="t">
                    <a:solidFill>
                      <a:srgbClr val="FFFFFF"/>
                    </a:solidFill>
                  </a:tcPr>
                </a:tc>
              </a:tr>
              <a:tr h="769620">
                <a:tc>
                  <a:txBody>
                    <a:bodyPr/>
                    <a:lstStyle/>
                    <a:p>
                      <a:r>
                        <a:rPr sz="1800">
                          <a:solidFill>
                            <a:srgbClr val="203640"/>
                          </a:solidFill>
                          <a:latin typeface="Hiragino Sans"/>
                          <a:ea typeface="Hiragino Sans"/>
                          <a:cs typeface="Hiragino Sans"/>
                        </a:rPr>
                        <a:t>結果確認</a:t>
                      </a:r>
                    </a:p>
                  </a:txBody>
                  <a:tcPr marL="133350" marR="133350" marT="95250" marB="76200" anchor="t">
                    <a:solidFill>
                      <a:srgbClr val="EDF2EF"/>
                    </a:solidFill>
                  </a:tcPr>
                </a:tc>
                <a:tc>
                  <a:txBody>
                    <a:bodyPr/>
                    <a:lstStyle/>
                    <a:p>
                      <a:r>
                        <a:rPr sz="1800">
                          <a:solidFill>
                            <a:srgbClr val="203640"/>
                          </a:solidFill>
                          <a:latin typeface="Hiragino Sans"/>
                          <a:ea typeface="Hiragino Sans"/>
                          <a:cs typeface="Hiragino Sans"/>
                        </a:rPr>
                        <a:t>更新後のシフトを読戻す</a:t>
                      </a:r>
                    </a:p>
                  </a:txBody>
                  <a:tcPr marL="133350" marR="133350" marT="95250" marB="76200" anchor="t">
                    <a:solidFill>
                      <a:srgbClr val="EDF2EF"/>
                    </a:solidFill>
                  </a:tcPr>
                </a:tc>
                <a:tc>
                  <a:txBody>
                    <a:bodyPr/>
                    <a:lstStyle/>
                    <a:p>
                      <a:r>
                        <a:rPr sz="1800">
                          <a:solidFill>
                            <a:srgbClr val="203640"/>
                          </a:solidFill>
                          <a:latin typeface="Hiragino Sans"/>
                          <a:ea typeface="Hiragino Sans"/>
                          <a:cs typeface="Hiragino Sans"/>
                        </a:rPr>
                        <a:t>全時間が埋まれば完了</a:t>
                      </a:r>
                    </a:p>
                  </a:txBody>
                  <a:tcPr marL="133350" marR="133350" marT="95250" marB="76200" anchor="t">
                    <a:solidFill>
                      <a:srgbClr val="EDF2EF"/>
                    </a:solidFill>
                  </a:tcPr>
                </a:tc>
              </a:tr>
              <a:tr h="769620">
                <a:tc>
                  <a:txBody>
                    <a:bodyPr/>
                    <a:lstStyle/>
                    <a:p>
                      <a:r>
                        <a:rPr sz="1800">
                          <a:solidFill>
                            <a:srgbClr val="203640"/>
                          </a:solidFill>
                          <a:latin typeface="Hiragino Sans"/>
                          <a:ea typeface="Hiragino Sans"/>
                          <a:cs typeface="Hiragino Sans"/>
                        </a:rPr>
                        <a:t>停止</a:t>
                      </a:r>
                    </a:p>
                  </a:txBody>
                  <a:tcPr marL="133350" marR="133350" marT="95250" marB="76200" anchor="t">
                    <a:solidFill>
                      <a:srgbClr val="FFFFFF"/>
                    </a:solidFill>
                  </a:tcPr>
                </a:tc>
                <a:tc>
                  <a:txBody>
                    <a:bodyPr/>
                    <a:lstStyle/>
                    <a:p>
                      <a:r>
                        <a:rPr sz="1800">
                          <a:solidFill>
                            <a:srgbClr val="203640"/>
                          </a:solidFill>
                          <a:latin typeface="Hiragino Sans"/>
                          <a:ea typeface="Hiragino Sans"/>
                          <a:cs typeface="Hiragino Sans"/>
                        </a:rPr>
                        <a:t>候補枯渇、期限、矛盾、上限</a:t>
                      </a:r>
                    </a:p>
                  </a:txBody>
                  <a:tcPr marL="133350" marR="133350" marT="95250" marB="76200" anchor="t">
                    <a:solidFill>
                      <a:srgbClr val="FFFFFF"/>
                    </a:solidFill>
                  </a:tcPr>
                </a:tc>
                <a:tc>
                  <a:txBody>
                    <a:bodyPr/>
                    <a:lstStyle/>
                    <a:p>
                      <a:r>
                        <a:rPr sz="1800">
                          <a:solidFill>
                            <a:srgbClr val="203640"/>
                          </a:solidFill>
                          <a:latin typeface="Hiragino Sans"/>
                          <a:ea typeface="Hiragino Sans"/>
                          <a:cs typeface="Hiragino Sans"/>
                        </a:rPr>
                        <a:t>不足と実行履歴を添えて引き継ぎ</a:t>
                      </a:r>
                    </a:p>
                  </a:txBody>
                  <a:tcPr marL="133350" marR="133350" marT="95250" marB="76200" anchor="t">
                    <a:solidFill>
                      <a:srgbClr val="FFFFFF"/>
                    </a:solidFill>
                  </a:tcPr>
                </a:tc>
              </a:tr>
            </a:tbl>
          </a:graphicData>
        </a:graphic>
      </p:graphicFrame>
    </p:spTree>
    <p:extLst>
      <p:ext uri="{BB962C8B-B14F-4D97-AF65-F5344CB8AC3E}">
        <p14:creationId xmlns:p14="http://schemas.microsoft.com/office/powerpoint/2010/main" val="2073575379"/>
      </p:ext>
    </p:extLst>
  </p:cSld>
</p:sld>
</file>

<file path=ppt/slides/slide9.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9" name="text-9-0">
            <a:extLst xmlns:a="http://schemas.openxmlformats.org/drawingml/2006/main">
              <a:ext uri="{FF2B5EF4-FFF2-40B4-BE49-F238E27FC236}">
                <a16:creationId xmlns:a16="http://schemas.microsoft.com/office/drawing/2014/main" id="{19823AF0-AB88-4245-B549-EC826BE4F215}"/>
              </a:ext>
            </a:extLst>
          </p:cNvPr>
          <p:cNvSpPr>
            <a:spLocks xmlns:a="http://schemas.openxmlformats.org/drawingml/2006/main" noGrp="1"/>
          </p:cNvSpPr>
          <p:nvPr/>
        </p:nvSpPr>
        <p:spPr>
          <a:xfrm xmlns:a="http://schemas.openxmlformats.org/drawingml/2006/main">
            <a:off x="609600" y="409575"/>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32B3A"/>
                </a:solidFill>
                <a:latin typeface="Hiragino Sans"/>
                <a:ea typeface="Hiragino Sans"/>
                <a:cs typeface="Hiragino Sans"/>
              </a:defRPr>
            </a:pPr>
            <a:r>
              <a:rPr sz="3300" b="1">
                <a:solidFill>
                  <a:srgbClr val="132B3A"/>
                </a:solidFill>
                <a:latin typeface="Hiragino Sans"/>
                <a:ea typeface="Hiragino Sans"/>
                <a:cs typeface="Hiragino Sans"/>
              </a:rPr>
              <a:t>案05でAI・コード・人が担うこと</a:t>
            </a:r>
          </a:p>
        </p:txBody>
      </p:sp>
      <p:sp>
        <p:nvSpPr>
          <p:cNvPr id="2" name="text-9-1">
            <a:extLst xmlns:a="http://schemas.openxmlformats.org/drawingml/2006/main">
              <a:ext uri="{FF2B5EF4-FFF2-40B4-BE49-F238E27FC236}">
                <a16:creationId xmlns:a16="http://schemas.microsoft.com/office/drawing/2014/main" id="{CA0693EF-5DB5-466E-AA81-35409A185D5A}"/>
              </a:ext>
            </a:extLst>
          </p:cNvPr>
          <p:cNvSpPr>
            <a:spLocks xmlns:a="http://schemas.openxmlformats.org/drawingml/2006/main" noGrp="1"/>
          </p:cNvSpPr>
          <p:nvPr/>
        </p:nvSpPr>
        <p:spPr>
          <a:xfrm xmlns:a="http://schemas.openxmlformats.org/drawingml/2006/main">
            <a:off x="11077575" y="6391275"/>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D6B73"/>
                </a:solidFill>
                <a:latin typeface="Hiragino Sans"/>
                <a:ea typeface="Hiragino Sans"/>
                <a:cs typeface="Hiragino Sans"/>
              </a:defRPr>
            </a:pPr>
            <a:r>
              <a:rPr sz="1275" b="0">
                <a:solidFill>
                  <a:srgbClr val="5D6B73"/>
                </a:solidFill>
                <a:latin typeface="Hiragino Sans"/>
                <a:ea typeface="Hiragino Sans"/>
                <a:cs typeface="Hiragino Sans"/>
              </a:rPr>
              <a:t>09</a:t>
            </a:r>
          </a:p>
        </p:txBody>
      </p:sp>
      <p:sp>
        <p:nvSpPr>
          <p:cNvPr id="3" name="text-9-2">
            <a:extLst xmlns:a="http://schemas.openxmlformats.org/drawingml/2006/main">
              <a:ext uri="{FF2B5EF4-FFF2-40B4-BE49-F238E27FC236}">
                <a16:creationId xmlns:a16="http://schemas.microsoft.com/office/drawing/2014/main" id="{5AC93C4B-660D-4730-93F3-C979F4F5EA81}"/>
              </a:ext>
            </a:extLst>
          </p:cNvPr>
          <p:cNvSpPr>
            <a:spLocks xmlns:a="http://schemas.openxmlformats.org/drawingml/2006/main" noGrp="1"/>
          </p:cNvSpPr>
          <p:nvPr/>
        </p:nvSpPr>
        <p:spPr>
          <a:xfrm xmlns:a="http://schemas.openxmlformats.org/drawingml/2006/main">
            <a:off x="609600" y="1571625"/>
            <a:ext cx="2057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BE542A"/>
                </a:solidFill>
                <a:latin typeface="Hiragino Sans"/>
                <a:ea typeface="Hiragino Sans"/>
                <a:cs typeface="Hiragino Sans"/>
              </a:defRPr>
            </a:pPr>
            <a:r>
              <a:rPr sz="2175" b="1">
                <a:solidFill>
                  <a:srgbClr val="BE542A"/>
                </a:solidFill>
                <a:latin typeface="Hiragino Sans"/>
                <a:ea typeface="Hiragino Sans"/>
                <a:cs typeface="Hiragino Sans"/>
              </a:rPr>
              <a:t>AI</a:t>
            </a:r>
          </a:p>
        </p:txBody>
      </p:sp>
      <p:sp>
        <p:nvSpPr>
          <p:cNvPr id="4" name="text-9-3">
            <a:extLst xmlns:a="http://schemas.openxmlformats.org/drawingml/2006/main">
              <a:ext uri="{FF2B5EF4-FFF2-40B4-BE49-F238E27FC236}">
                <a16:creationId xmlns:a16="http://schemas.microsoft.com/office/drawing/2014/main" id="{A14B570E-0594-4E67-A01E-340030025BE3}"/>
              </a:ext>
            </a:extLst>
          </p:cNvPr>
          <p:cNvSpPr>
            <a:spLocks xmlns:a="http://schemas.openxmlformats.org/drawingml/2006/main" noGrp="1"/>
          </p:cNvSpPr>
          <p:nvPr/>
        </p:nvSpPr>
        <p:spPr>
          <a:xfrm xmlns:a="http://schemas.openxmlformats.org/drawingml/2006/main">
            <a:off x="2876550" y="1571625"/>
            <a:ext cx="87058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203640"/>
                </a:solidFill>
                <a:latin typeface="Hiragino Sans"/>
                <a:ea typeface="Hiragino Sans"/>
                <a:cs typeface="Hiragino Sans"/>
              </a:defRPr>
            </a:pPr>
            <a:r>
              <a:rPr sz="2025" b="0">
                <a:solidFill>
                  <a:srgbClr val="203640"/>
                </a:solidFill>
                <a:latin typeface="Hiragino Sans"/>
                <a:ea typeface="Hiragino Sans"/>
                <a:cs typeface="Hiragino Sans"/>
              </a:rPr>
              <a:t>自然文の条件を抽出し、曖昧さを検出する。</a:t>
            </a:r>
          </a:p>
          <a:p xmlns:a="http://schemas.openxmlformats.org/drawingml/2006/main">
            <a:pPr>
              <a:defRPr sz="2025" b="0">
                <a:solidFill>
                  <a:srgbClr val="203640"/>
                </a:solidFill>
                <a:latin typeface="Hiragino Sans"/>
                <a:ea typeface="Hiragino Sans"/>
                <a:cs typeface="Hiragino Sans"/>
              </a:defRPr>
            </a:pPr>
            <a:r>
              <a:rPr sz="2025" b="0">
                <a:solidFill>
                  <a:srgbClr val="203640"/>
                </a:solidFill>
                <a:latin typeface="Hiragino Sans"/>
                <a:ea typeface="Hiragino Sans"/>
                <a:cs typeface="Hiragino Sans"/>
              </a:rPr>
              <a:t>追加確認や次の行動を選び、連絡文を作る。</a:t>
            </a:r>
          </a:p>
        </p:txBody>
      </p:sp>
      <p:sp>
        <p:nvSpPr>
          <p:cNvPr id="5" name="text-9-4">
            <a:extLst xmlns:a="http://schemas.openxmlformats.org/drawingml/2006/main">
              <a:ext uri="{FF2B5EF4-FFF2-40B4-BE49-F238E27FC236}">
                <a16:creationId xmlns:a16="http://schemas.microsoft.com/office/drawing/2014/main" id="{CCE42A15-C085-483B-A0EC-F8860CE5634F}"/>
              </a:ext>
            </a:extLst>
          </p:cNvPr>
          <p:cNvSpPr>
            <a:spLocks xmlns:a="http://schemas.openxmlformats.org/drawingml/2006/main" noGrp="1"/>
          </p:cNvSpPr>
          <p:nvPr/>
        </p:nvSpPr>
        <p:spPr>
          <a:xfrm xmlns:a="http://schemas.openxmlformats.org/drawingml/2006/main">
            <a:off x="609600" y="2905125"/>
            <a:ext cx="2057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BE542A"/>
                </a:solidFill>
                <a:latin typeface="Hiragino Sans"/>
                <a:ea typeface="Hiragino Sans"/>
                <a:cs typeface="Hiragino Sans"/>
              </a:defRPr>
            </a:pPr>
            <a:r>
              <a:rPr sz="2175" b="1">
                <a:solidFill>
                  <a:srgbClr val="BE542A"/>
                </a:solidFill>
                <a:latin typeface="Hiragino Sans"/>
                <a:ea typeface="Hiragino Sans"/>
                <a:cs typeface="Hiragino Sans"/>
              </a:rPr>
              <a:t>コード</a:t>
            </a:r>
          </a:p>
        </p:txBody>
      </p:sp>
      <p:sp>
        <p:nvSpPr>
          <p:cNvPr id="6" name="text-9-5">
            <a:extLst xmlns:a="http://schemas.openxmlformats.org/drawingml/2006/main">
              <a:ext uri="{FF2B5EF4-FFF2-40B4-BE49-F238E27FC236}">
                <a16:creationId xmlns:a16="http://schemas.microsoft.com/office/drawing/2014/main" id="{8F01A07C-F4AB-4D50-A2B7-4444DA954368}"/>
              </a:ext>
            </a:extLst>
          </p:cNvPr>
          <p:cNvSpPr>
            <a:spLocks xmlns:a="http://schemas.openxmlformats.org/drawingml/2006/main" noGrp="1"/>
          </p:cNvSpPr>
          <p:nvPr/>
        </p:nvSpPr>
        <p:spPr>
          <a:xfrm xmlns:a="http://schemas.openxmlformats.org/drawingml/2006/main">
            <a:off x="2876550" y="2905125"/>
            <a:ext cx="87058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203640"/>
                </a:solidFill>
                <a:latin typeface="Hiragino Sans"/>
                <a:ea typeface="Hiragino Sans"/>
                <a:cs typeface="Hiragino Sans"/>
              </a:defRPr>
            </a:pPr>
            <a:r>
              <a:rPr sz="2025" b="0">
                <a:solidFill>
                  <a:srgbClr val="203640"/>
                </a:solidFill>
                <a:latin typeface="Hiragino Sans"/>
                <a:ea typeface="Hiragino Sans"/>
                <a:cs typeface="Hiragino Sans"/>
              </a:rPr>
              <a:t>勤務条件、時間充足、宛先、権限、</a:t>
            </a:r>
          </a:p>
          <a:p xmlns:a="http://schemas.openxmlformats.org/drawingml/2006/main">
            <a:pPr>
              <a:defRPr sz="2025" b="0">
                <a:solidFill>
                  <a:srgbClr val="203640"/>
                </a:solidFill>
                <a:latin typeface="Hiragino Sans"/>
                <a:ea typeface="Hiragino Sans"/>
                <a:cs typeface="Hiragino Sans"/>
              </a:defRPr>
            </a:pPr>
            <a:r>
              <a:rPr sz="2025" b="0">
                <a:solidFill>
                  <a:srgbClr val="203640"/>
                </a:solidFill>
                <a:latin typeface="Hiragino Sans"/>
                <a:ea typeface="Hiragino Sans"/>
                <a:cs typeface="Hiragino Sans"/>
              </a:rPr>
              <a:t>同時更新、重複実行、予算を検査する。</a:t>
            </a:r>
          </a:p>
        </p:txBody>
      </p:sp>
      <p:sp>
        <p:nvSpPr>
          <p:cNvPr id="7" name="text-9-6">
            <a:extLst xmlns:a="http://schemas.openxmlformats.org/drawingml/2006/main">
              <a:ext uri="{FF2B5EF4-FFF2-40B4-BE49-F238E27FC236}">
                <a16:creationId xmlns:a16="http://schemas.microsoft.com/office/drawing/2014/main" id="{5EBA7259-E751-4546-9584-C504CEC436CD}"/>
              </a:ext>
            </a:extLst>
          </p:cNvPr>
          <p:cNvSpPr>
            <a:spLocks xmlns:a="http://schemas.openxmlformats.org/drawingml/2006/main" noGrp="1"/>
          </p:cNvSpPr>
          <p:nvPr/>
        </p:nvSpPr>
        <p:spPr>
          <a:xfrm xmlns:a="http://schemas.openxmlformats.org/drawingml/2006/main">
            <a:off x="609600" y="4238625"/>
            <a:ext cx="2057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BE542A"/>
                </a:solidFill>
                <a:latin typeface="Hiragino Sans"/>
                <a:ea typeface="Hiragino Sans"/>
                <a:cs typeface="Hiragino Sans"/>
              </a:defRPr>
            </a:pPr>
            <a:r>
              <a:rPr sz="2175" b="1">
                <a:solidFill>
                  <a:srgbClr val="BE542A"/>
                </a:solidFill>
                <a:latin typeface="Hiragino Sans"/>
                <a:ea typeface="Hiragino Sans"/>
                <a:cs typeface="Hiragino Sans"/>
              </a:rPr>
              <a:t>人</a:t>
            </a:r>
          </a:p>
        </p:txBody>
      </p:sp>
      <p:sp>
        <p:nvSpPr>
          <p:cNvPr id="8" name="text-9-7">
            <a:extLst xmlns:a="http://schemas.openxmlformats.org/drawingml/2006/main">
              <a:ext uri="{FF2B5EF4-FFF2-40B4-BE49-F238E27FC236}">
                <a16:creationId xmlns:a16="http://schemas.microsoft.com/office/drawing/2014/main" id="{B97DB705-EB62-42BB-8420-60130BAF565F}"/>
              </a:ext>
            </a:extLst>
          </p:cNvPr>
          <p:cNvSpPr>
            <a:spLocks xmlns:a="http://schemas.openxmlformats.org/drawingml/2006/main" noGrp="1"/>
          </p:cNvSpPr>
          <p:nvPr/>
        </p:nvSpPr>
        <p:spPr>
          <a:xfrm xmlns:a="http://schemas.openxmlformats.org/drawingml/2006/main">
            <a:off x="2876550" y="4238625"/>
            <a:ext cx="87058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203640"/>
                </a:solidFill>
                <a:latin typeface="Hiragino Sans"/>
                <a:ea typeface="Hiragino Sans"/>
                <a:cs typeface="Hiragino Sans"/>
              </a:defRPr>
            </a:pPr>
            <a:r>
              <a:rPr sz="2025" b="0">
                <a:solidFill>
                  <a:srgbClr val="203640"/>
                </a:solidFill>
                <a:latin typeface="Hiragino Sans"/>
                <a:ea typeface="Hiragino Sans"/>
                <a:cs typeface="Hiragino Sans"/>
              </a:rPr>
              <a:t>事前に勤務・連絡ルールを設定する。</a:t>
            </a:r>
          </a:p>
          <a:p xmlns:a="http://schemas.openxmlformats.org/drawingml/2006/main">
            <a:pPr>
              <a:defRPr sz="2025" b="0">
                <a:solidFill>
                  <a:srgbClr val="203640"/>
                </a:solidFill>
                <a:latin typeface="Hiragino Sans"/>
                <a:ea typeface="Hiragino Sans"/>
                <a:cs typeface="Hiragino Sans"/>
              </a:defRPr>
            </a:pPr>
            <a:r>
              <a:rPr sz="2025" b="0">
                <a:solidFill>
                  <a:srgbClr val="203640"/>
                </a:solidFill>
                <a:latin typeface="Hiragino Sans"/>
                <a:ea typeface="Hiragino Sans"/>
                <a:cs typeface="Hiragino Sans"/>
              </a:rPr>
              <a:t>許可範囲外や未解決のケースを受け取る。</a:t>
            </a:r>
          </a:p>
        </p:txBody>
      </p:sp>
    </p:spTree>
    <p:extLst>
      <p:ext uri="{BB962C8B-B14F-4D97-AF65-F5344CB8AC3E}">
        <p14:creationId xmlns:p14="http://schemas.microsoft.com/office/powerpoint/2010/main" val="1707681022"/>
      </p:ext>
    </p:extLst>
  </p:cSld>
</p:sld>
</file>

<file path=ppt/slides/slide10.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6" name="text-10-0">
            <a:extLst xmlns:a="http://schemas.openxmlformats.org/drawingml/2006/main">
              <a:ext uri="{FF2B5EF4-FFF2-40B4-BE49-F238E27FC236}">
                <a16:creationId xmlns:a16="http://schemas.microsoft.com/office/drawing/2014/main" id="{44BF7ADD-FDB0-48D2-B98B-93CFA4CAA1EE}"/>
              </a:ext>
            </a:extLst>
          </p:cNvPr>
          <p:cNvSpPr>
            <a:spLocks xmlns:a="http://schemas.openxmlformats.org/drawingml/2006/main" noGrp="1"/>
          </p:cNvSpPr>
          <p:nvPr/>
        </p:nvSpPr>
        <p:spPr>
          <a:xfrm xmlns:a="http://schemas.openxmlformats.org/drawingml/2006/main">
            <a:off x="609600" y="409575"/>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32B3A"/>
                </a:solidFill>
                <a:latin typeface="Hiragino Sans"/>
                <a:ea typeface="Hiragino Sans"/>
                <a:cs typeface="Hiragino Sans"/>
              </a:defRPr>
            </a:pPr>
            <a:r>
              <a:rPr sz="3300" b="1">
                <a:solidFill>
                  <a:srgbClr val="132B3A"/>
                </a:solidFill>
                <a:latin typeface="Hiragino Sans"/>
                <a:ea typeface="Hiragino Sans"/>
                <a:cs typeface="Hiragino Sans"/>
              </a:rPr>
              <a:t>案02：分納の証拠を集めて再照合する</a:t>
            </a:r>
          </a:p>
        </p:txBody>
      </p:sp>
      <p:sp>
        <p:nvSpPr>
          <p:cNvPr id="2" name="text-10-1">
            <a:extLst xmlns:a="http://schemas.openxmlformats.org/drawingml/2006/main">
              <a:ext uri="{FF2B5EF4-FFF2-40B4-BE49-F238E27FC236}">
                <a16:creationId xmlns:a16="http://schemas.microsoft.com/office/drawing/2014/main" id="{5E70FFC2-45BD-4A47-837A-0920C17CA3F3}"/>
              </a:ext>
            </a:extLst>
          </p:cNvPr>
          <p:cNvSpPr>
            <a:spLocks xmlns:a="http://schemas.openxmlformats.org/drawingml/2006/main" noGrp="1"/>
          </p:cNvSpPr>
          <p:nvPr/>
        </p:nvSpPr>
        <p:spPr>
          <a:xfrm xmlns:a="http://schemas.openxmlformats.org/drawingml/2006/main">
            <a:off x="11077575" y="6391275"/>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D6B73"/>
                </a:solidFill>
                <a:latin typeface="Hiragino Sans"/>
                <a:ea typeface="Hiragino Sans"/>
                <a:cs typeface="Hiragino Sans"/>
              </a:defRPr>
            </a:pPr>
            <a:r>
              <a:rPr sz="1275" b="0">
                <a:solidFill>
                  <a:srgbClr val="5D6B73"/>
                </a:solidFill>
                <a:latin typeface="Hiragino Sans"/>
                <a:ea typeface="Hiragino Sans"/>
                <a:cs typeface="Hiragino Sans"/>
              </a:rPr>
              <a:t>10</a:t>
            </a:r>
          </a:p>
        </p:txBody>
      </p:sp>
      <p:sp>
        <p:nvSpPr>
          <p:cNvPr id="3" name="text-10-2">
            <a:extLst xmlns:a="http://schemas.openxmlformats.org/drawingml/2006/main">
              <a:ext uri="{FF2B5EF4-FFF2-40B4-BE49-F238E27FC236}">
                <a16:creationId xmlns:a16="http://schemas.microsoft.com/office/drawing/2014/main" id="{AC132E2B-72DD-4042-A21D-C5E9CBF4ABB4}"/>
              </a:ext>
            </a:extLst>
          </p:cNvPr>
          <p:cNvSpPr>
            <a:spLocks xmlns:a="http://schemas.openxmlformats.org/drawingml/2006/main" noGrp="1"/>
          </p:cNvSpPr>
          <p:nvPr/>
        </p:nvSpPr>
        <p:spPr>
          <a:xfrm xmlns:a="http://schemas.openxmlformats.org/drawingml/2006/main">
            <a:off x="609600" y="6238875"/>
            <a:ext cx="10144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D6B73"/>
                </a:solidFill>
                <a:latin typeface="Hiragino Sans"/>
                <a:ea typeface="Hiragino Sans"/>
                <a:cs typeface="Hiragino Sans"/>
              </a:defRPr>
            </a:pPr>
            <a:r>
              <a:rPr sz="1275" b="0">
                <a:solidFill>
                  <a:srgbClr val="5D6B73"/>
                </a:solidFill>
                <a:latin typeface="Hiragino Sans"/>
                <a:ea typeface="Hiragino Sans"/>
                <a:cs typeface="Hiragino Sans"/>
              </a:rPr>
              <a:t>架空ケースの契約条件：今回の検収分だけ請求。税・送料は扱わない。</a:t>
            </a:r>
          </a:p>
        </p:txBody>
      </p:sp>
      <p:sp>
        <p:nvSpPr>
          <p:cNvPr id="4" name="text-10-3">
            <a:extLst xmlns:a="http://schemas.openxmlformats.org/drawingml/2006/main">
              <a:ext uri="{FF2B5EF4-FFF2-40B4-BE49-F238E27FC236}">
                <a16:creationId xmlns:a16="http://schemas.microsoft.com/office/drawing/2014/main" id="{BE4D3280-F083-424C-AB27-522370BCDFA2}"/>
              </a:ext>
            </a:extLst>
          </p:cNvPr>
          <p:cNvSpPr>
            <a:spLocks xmlns:a="http://schemas.openxmlformats.org/drawingml/2006/main" noGrp="1"/>
          </p:cNvSpPr>
          <p:nvPr/>
        </p:nvSpPr>
        <p:spPr>
          <a:xfrm xmlns:a="http://schemas.openxmlformats.org/drawingml/2006/main">
            <a:off x="609600" y="1400175"/>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1">
                <a:solidFill>
                  <a:srgbClr val="276D96"/>
                </a:solidFill>
                <a:latin typeface="Hiragino Sans"/>
                <a:ea typeface="Hiragino Sans"/>
                <a:cs typeface="Hiragino Sans"/>
              </a:defRPr>
            </a:pPr>
            <a:r>
              <a:rPr sz="2550" b="1">
                <a:solidFill>
                  <a:srgbClr val="276D96"/>
                </a:solidFill>
                <a:latin typeface="Hiragino Sans"/>
                <a:ea typeface="Hiragino Sans"/>
                <a:cs typeface="Hiragino Sans"/>
              </a:rPr>
              <a:t>発注100個、検収60個、請求100個分</a:t>
            </a:r>
          </a:p>
        </p:txBody>
      </p:sp>
      <p:graphicFrame>
        <p:nvGraphicFramePr>
          <p:cNvPr id="10" name=""/>
          <p:cNvGraphicFramePr/>
          <p:nvPr/>
        </p:nvGraphicFramePr>
        <p:xfrm>
          <a:off xmlns:a="http://schemas.openxmlformats.org/drawingml/2006/main" x="609600" y="2076450"/>
          <a:ext xmlns:a="http://schemas.openxmlformats.org/drawingml/2006/main" cx="10972800" cy="3676650"/>
        </p:xfrm>
        <a:graphic xmlns:a="http://schemas.openxmlformats.org/drawingml/2006/main">
          <a:graphicData uri="http://schemas.openxmlformats.org/drawingml/2006/table">
            <a:tbl>
              <a:tblPr/>
              <a:tblGrid>
                <a:gridCol w="2524125"/>
                <a:gridCol w="3800475"/>
                <a:gridCol w="4648200"/>
              </a:tblGrid>
              <a:tr h="533400">
                <a:tc>
                  <a:txBody>
                    <a:bodyPr/>
                    <a:lstStyle/>
                    <a:p>
                      <a:r>
                        <a:rPr sz="1875" b="1">
                          <a:solidFill>
                            <a:srgbClr val="FFFFFF"/>
                          </a:solidFill>
                          <a:latin typeface="Hiragino Sans"/>
                          <a:ea typeface="Hiragino Sans"/>
                          <a:cs typeface="Hiragino Sans"/>
                        </a:rPr>
                        <a:t>数量・金額</a:t>
                      </a:r>
                    </a:p>
                  </a:txBody>
                  <a:tcPr marL="133350" marR="133350" marT="95250" marB="76200" anchor="t">
                    <a:solidFill>
                      <a:srgbClr val="132B3A"/>
                    </a:solidFill>
                  </a:tcPr>
                </a:tc>
                <a:tc>
                  <a:txBody>
                    <a:bodyPr/>
                    <a:lstStyle/>
                    <a:p>
                      <a:r>
                        <a:rPr sz="1875" b="1">
                          <a:solidFill>
                            <a:srgbClr val="FFFFFF"/>
                          </a:solidFill>
                          <a:latin typeface="Hiragino Sans"/>
                          <a:ea typeface="Hiragino Sans"/>
                          <a:cs typeface="Hiragino Sans"/>
                        </a:rPr>
                        <a:t>当初</a:t>
                      </a:r>
                    </a:p>
                  </a:txBody>
                  <a:tcPr marL="133350" marR="133350" marT="95250" marB="76200" anchor="t">
                    <a:solidFill>
                      <a:srgbClr val="132B3A"/>
                    </a:solidFill>
                  </a:tcPr>
                </a:tc>
                <a:tc>
                  <a:txBody>
                    <a:bodyPr/>
                    <a:lstStyle/>
                    <a:p>
                      <a:r>
                        <a:rPr sz="1875" b="1">
                          <a:solidFill>
                            <a:srgbClr val="FFFFFF"/>
                          </a:solidFill>
                          <a:latin typeface="Hiragino Sans"/>
                          <a:ea typeface="Hiragino Sans"/>
                          <a:cs typeface="Hiragino Sans"/>
                        </a:rPr>
                        <a:t>確認・修正後</a:t>
                      </a:r>
                    </a:p>
                  </a:txBody>
                  <a:tcPr marL="133350" marR="133350" marT="95250" marB="76200" anchor="t">
                    <a:solidFill>
                      <a:srgbClr val="132B3A"/>
                    </a:solidFill>
                  </a:tcPr>
                </a:tc>
              </a:tr>
              <a:tr h="785813">
                <a:tc>
                  <a:txBody>
                    <a:bodyPr/>
                    <a:lstStyle/>
                    <a:p>
                      <a:r>
                        <a:rPr sz="1875">
                          <a:solidFill>
                            <a:srgbClr val="203640"/>
                          </a:solidFill>
                          <a:latin typeface="Hiragino Sans"/>
                          <a:ea typeface="Hiragino Sans"/>
                          <a:cs typeface="Hiragino Sans"/>
                        </a:rPr>
                        <a:t>発注</a:t>
                      </a:r>
                    </a:p>
                  </a:txBody>
                  <a:tcPr marL="133350" marR="133350" marT="95250" marB="76200" anchor="t">
                    <a:solidFill>
                      <a:srgbClr val="FFFFFF"/>
                    </a:solidFill>
                  </a:tcPr>
                </a:tc>
                <a:tc>
                  <a:txBody>
                    <a:bodyPr/>
                    <a:lstStyle/>
                    <a:p>
                      <a:r>
                        <a:rPr sz="1875">
                          <a:solidFill>
                            <a:srgbClr val="203640"/>
                          </a:solidFill>
                          <a:latin typeface="Hiragino Sans"/>
                          <a:ea typeface="Hiragino Sans"/>
                          <a:cs typeface="Hiragino Sans"/>
                        </a:rPr>
                        <a:t>100個 × 1,000円</a:t>
                      </a:r>
                    </a:p>
                  </a:txBody>
                  <a:tcPr marL="133350" marR="133350" marT="95250" marB="76200" anchor="t">
                    <a:solidFill>
                      <a:srgbClr val="FFFFFF"/>
                    </a:solidFill>
                  </a:tcPr>
                </a:tc>
                <a:tc>
                  <a:txBody>
                    <a:bodyPr/>
                    <a:lstStyle/>
                    <a:p>
                      <a:r>
                        <a:rPr sz="1875">
                          <a:solidFill>
                            <a:srgbClr val="203640"/>
                          </a:solidFill>
                          <a:latin typeface="Hiragino Sans"/>
                          <a:ea typeface="Hiragino Sans"/>
                          <a:cs typeface="Hiragino Sans"/>
                        </a:rPr>
                        <a:t>発注総数は100個のまま</a:t>
                      </a:r>
                    </a:p>
                  </a:txBody>
                  <a:tcPr marL="133350" marR="133350" marT="95250" marB="76200" anchor="t">
                    <a:solidFill>
                      <a:srgbClr val="FFFFFF"/>
                    </a:solidFill>
                  </a:tcPr>
                </a:tc>
              </a:tr>
              <a:tr h="785813">
                <a:tc>
                  <a:txBody>
                    <a:bodyPr/>
                    <a:lstStyle/>
                    <a:p>
                      <a:r>
                        <a:rPr sz="1875">
                          <a:solidFill>
                            <a:srgbClr val="203640"/>
                          </a:solidFill>
                          <a:latin typeface="Hiragino Sans"/>
                          <a:ea typeface="Hiragino Sans"/>
                          <a:cs typeface="Hiragino Sans"/>
                        </a:rPr>
                        <a:t>検収済み</a:t>
                      </a:r>
                    </a:p>
                  </a:txBody>
                  <a:tcPr marL="133350" marR="133350" marT="95250" marB="76200" anchor="t">
                    <a:solidFill>
                      <a:srgbClr val="EDF2EF"/>
                    </a:solidFill>
                  </a:tcPr>
                </a:tc>
                <a:tc>
                  <a:txBody>
                    <a:bodyPr/>
                    <a:lstStyle/>
                    <a:p>
                      <a:r>
                        <a:rPr sz="1875">
                          <a:solidFill>
                            <a:srgbClr val="203640"/>
                          </a:solidFill>
                          <a:latin typeface="Hiragino Sans"/>
                          <a:ea typeface="Hiragino Sans"/>
                          <a:cs typeface="Hiragino Sans"/>
                        </a:rPr>
                        <a:t>60個／60,000円</a:t>
                      </a:r>
                    </a:p>
                  </a:txBody>
                  <a:tcPr marL="133350" marR="133350" marT="95250" marB="76200" anchor="t">
                    <a:solidFill>
                      <a:srgbClr val="EDF2EF"/>
                    </a:solidFill>
                  </a:tcPr>
                </a:tc>
                <a:tc>
                  <a:txBody>
                    <a:bodyPr/>
                    <a:lstStyle/>
                    <a:p>
                      <a:r>
                        <a:rPr sz="1875">
                          <a:solidFill>
                            <a:srgbClr val="203640"/>
                          </a:solidFill>
                          <a:latin typeface="Hiragino Sans"/>
                          <a:ea typeface="Hiragino Sans"/>
                          <a:cs typeface="Hiragino Sans"/>
                        </a:rPr>
                        <a:t>今回分の請求を60個へ修正</a:t>
                      </a:r>
                    </a:p>
                  </a:txBody>
                  <a:tcPr marL="133350" marR="133350" marT="95250" marB="76200" anchor="t">
                    <a:solidFill>
                      <a:srgbClr val="EDF2EF"/>
                    </a:solidFill>
                  </a:tcPr>
                </a:tc>
              </a:tr>
              <a:tr h="785813">
                <a:tc>
                  <a:txBody>
                    <a:bodyPr/>
                    <a:lstStyle/>
                    <a:p>
                      <a:r>
                        <a:rPr sz="1875">
                          <a:solidFill>
                            <a:srgbClr val="203640"/>
                          </a:solidFill>
                          <a:latin typeface="Hiragino Sans"/>
                          <a:ea typeface="Hiragino Sans"/>
                          <a:cs typeface="Hiragino Sans"/>
                        </a:rPr>
                        <a:t>請求差分</a:t>
                      </a:r>
                    </a:p>
                  </a:txBody>
                  <a:tcPr marL="133350" marR="133350" marT="95250" marB="76200" anchor="t">
                    <a:solidFill>
                      <a:srgbClr val="FFFFFF"/>
                    </a:solidFill>
                  </a:tcPr>
                </a:tc>
                <a:tc>
                  <a:txBody>
                    <a:bodyPr/>
                    <a:lstStyle/>
                    <a:p>
                      <a:r>
                        <a:rPr sz="1875">
                          <a:solidFill>
                            <a:srgbClr val="203640"/>
                          </a:solidFill>
                          <a:latin typeface="Hiragino Sans"/>
                          <a:ea typeface="Hiragino Sans"/>
                          <a:cs typeface="Hiragino Sans"/>
                        </a:rPr>
                        <a:t>40個／40,000円</a:t>
                      </a:r>
                    </a:p>
                  </a:txBody>
                  <a:tcPr marL="133350" marR="133350" marT="95250" marB="76200" anchor="t">
                    <a:solidFill>
                      <a:srgbClr val="FFFFFF"/>
                    </a:solidFill>
                  </a:tcPr>
                </a:tc>
                <a:tc>
                  <a:txBody>
                    <a:bodyPr/>
                    <a:lstStyle/>
                    <a:p>
                      <a:r>
                        <a:rPr sz="1875">
                          <a:solidFill>
                            <a:srgbClr val="203640"/>
                          </a:solidFill>
                          <a:latin typeface="Hiragino Sans"/>
                          <a:ea typeface="Hiragino Sans"/>
                          <a:cs typeface="Hiragino Sans"/>
                        </a:rPr>
                        <a:t>修正請求書と照合して解消</a:t>
                      </a:r>
                    </a:p>
                  </a:txBody>
                  <a:tcPr marL="133350" marR="133350" marT="95250" marB="76200" anchor="t">
                    <a:solidFill>
                      <a:srgbClr val="FFFFFF"/>
                    </a:solidFill>
                  </a:tcPr>
                </a:tc>
              </a:tr>
              <a:tr h="785813">
                <a:tc>
                  <a:txBody>
                    <a:bodyPr/>
                    <a:lstStyle/>
                    <a:p>
                      <a:r>
                        <a:rPr sz="1875">
                          <a:solidFill>
                            <a:srgbClr val="203640"/>
                          </a:solidFill>
                          <a:latin typeface="Hiragino Sans"/>
                          <a:ea typeface="Hiragino Sans"/>
                          <a:cs typeface="Hiragino Sans"/>
                        </a:rPr>
                        <a:t>残りの発注</a:t>
                      </a:r>
                    </a:p>
                  </a:txBody>
                  <a:tcPr marL="133350" marR="133350" marT="95250" marB="76200" anchor="t">
                    <a:solidFill>
                      <a:srgbClr val="EDF2EF"/>
                    </a:solidFill>
                  </a:tcPr>
                </a:tc>
                <a:tc>
                  <a:txBody>
                    <a:bodyPr/>
                    <a:lstStyle/>
                    <a:p>
                      <a:r>
                        <a:rPr sz="1875">
                          <a:solidFill>
                            <a:srgbClr val="203640"/>
                          </a:solidFill>
                          <a:latin typeface="Hiragino Sans"/>
                          <a:ea typeface="Hiragino Sans"/>
                          <a:cs typeface="Hiragino Sans"/>
                        </a:rPr>
                        <a:t>40個未納</a:t>
                      </a:r>
                    </a:p>
                  </a:txBody>
                  <a:tcPr marL="133350" marR="133350" marT="95250" marB="76200" anchor="t">
                    <a:solidFill>
                      <a:srgbClr val="EDF2EF"/>
                    </a:solidFill>
                  </a:tcPr>
                </a:tc>
                <a:tc>
                  <a:txBody>
                    <a:bodyPr/>
                    <a:lstStyle/>
                    <a:p>
                      <a:r>
                        <a:rPr sz="1875">
                          <a:solidFill>
                            <a:srgbClr val="203640"/>
                          </a:solidFill>
                          <a:latin typeface="Hiragino Sans"/>
                          <a:ea typeface="Hiragino Sans"/>
                          <a:cs typeface="Hiragino Sans"/>
                        </a:rPr>
                        <a:t>未納として維持。消さない</a:t>
                      </a:r>
                    </a:p>
                  </a:txBody>
                  <a:tcPr marL="133350" marR="133350" marT="95250" marB="76200" anchor="t">
                    <a:solidFill>
                      <a:srgbClr val="EDF2EF"/>
                    </a:solidFill>
                  </a:tcPr>
                </a:tc>
              </a:tr>
            </a:tbl>
          </a:graphicData>
        </a:graphic>
      </p:graphicFrame>
    </p:spTree>
    <p:extLst>
      <p:ext uri="{BB962C8B-B14F-4D97-AF65-F5344CB8AC3E}">
        <p14:creationId xmlns:p14="http://schemas.microsoft.com/office/powerpoint/2010/main" val="634466166"/>
      </p:ext>
    </p:extLst>
  </p:cSld>
</p:sld>
</file>

<file path=ppt/slides/slide11.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9" name="text-11-0">
            <a:extLst xmlns:a="http://schemas.openxmlformats.org/drawingml/2006/main">
              <a:ext uri="{FF2B5EF4-FFF2-40B4-BE49-F238E27FC236}">
                <a16:creationId xmlns:a16="http://schemas.microsoft.com/office/drawing/2014/main" id="{88A612A4-EA6A-4C3A-9E83-684E97C7BF98}"/>
              </a:ext>
            </a:extLst>
          </p:cNvPr>
          <p:cNvSpPr>
            <a:spLocks xmlns:a="http://schemas.openxmlformats.org/drawingml/2006/main" noGrp="1"/>
          </p:cNvSpPr>
          <p:nvPr/>
        </p:nvSpPr>
        <p:spPr>
          <a:xfrm xmlns:a="http://schemas.openxmlformats.org/drawingml/2006/main">
            <a:off x="609600" y="409575"/>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32B3A"/>
                </a:solidFill>
                <a:latin typeface="Hiragino Sans"/>
                <a:ea typeface="Hiragino Sans"/>
                <a:cs typeface="Hiragino Sans"/>
              </a:defRPr>
            </a:pPr>
            <a:r>
              <a:rPr sz="3300" b="1">
                <a:solidFill>
                  <a:srgbClr val="132B3A"/>
                </a:solidFill>
                <a:latin typeface="Hiragino Sans"/>
                <a:ea typeface="Hiragino Sans"/>
                <a:cs typeface="Hiragino Sans"/>
              </a:rPr>
              <a:t>案02の完了条件と切替条件</a:t>
            </a:r>
          </a:p>
        </p:txBody>
      </p:sp>
      <p:sp>
        <p:nvSpPr>
          <p:cNvPr id="2" name="text-11-1">
            <a:extLst xmlns:a="http://schemas.openxmlformats.org/drawingml/2006/main">
              <a:ext uri="{FF2B5EF4-FFF2-40B4-BE49-F238E27FC236}">
                <a16:creationId xmlns:a16="http://schemas.microsoft.com/office/drawing/2014/main" id="{24557D29-BFD2-47BD-AAA1-A07DAC195202}"/>
              </a:ext>
            </a:extLst>
          </p:cNvPr>
          <p:cNvSpPr>
            <a:spLocks xmlns:a="http://schemas.openxmlformats.org/drawingml/2006/main" noGrp="1"/>
          </p:cNvSpPr>
          <p:nvPr/>
        </p:nvSpPr>
        <p:spPr>
          <a:xfrm xmlns:a="http://schemas.openxmlformats.org/drawingml/2006/main">
            <a:off x="11077575" y="6391275"/>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D6B73"/>
                </a:solidFill>
                <a:latin typeface="Hiragino Sans"/>
                <a:ea typeface="Hiragino Sans"/>
                <a:cs typeface="Hiragino Sans"/>
              </a:defRPr>
            </a:pPr>
            <a:r>
              <a:rPr sz="1275" b="0">
                <a:solidFill>
                  <a:srgbClr val="5D6B73"/>
                </a:solidFill>
                <a:latin typeface="Hiragino Sans"/>
                <a:ea typeface="Hiragino Sans"/>
                <a:cs typeface="Hiragino Sans"/>
              </a:rPr>
              <a:t>11</a:t>
            </a:r>
          </a:p>
        </p:txBody>
      </p:sp>
      <p:sp>
        <p:nvSpPr>
          <p:cNvPr id="3" name="text-11-2">
            <a:extLst xmlns:a="http://schemas.openxmlformats.org/drawingml/2006/main">
              <a:ext uri="{FF2B5EF4-FFF2-40B4-BE49-F238E27FC236}">
                <a16:creationId xmlns:a16="http://schemas.microsoft.com/office/drawing/2014/main" id="{0FCA5844-9AE9-4645-97EB-3651D1B6377F}"/>
              </a:ext>
            </a:extLst>
          </p:cNvPr>
          <p:cNvSpPr>
            <a:spLocks xmlns:a="http://schemas.openxmlformats.org/drawingml/2006/main" noGrp="1"/>
          </p:cNvSpPr>
          <p:nvPr/>
        </p:nvSpPr>
        <p:spPr>
          <a:xfrm xmlns:a="http://schemas.openxmlformats.org/drawingml/2006/main">
            <a:off x="609600" y="1562100"/>
            <a:ext cx="2057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276D96"/>
                </a:solidFill>
                <a:latin typeface="Hiragino Sans"/>
                <a:ea typeface="Hiragino Sans"/>
                <a:cs typeface="Hiragino Sans"/>
              </a:defRPr>
            </a:pPr>
            <a:r>
              <a:rPr sz="2175" b="1">
                <a:solidFill>
                  <a:srgbClr val="276D96"/>
                </a:solidFill>
                <a:latin typeface="Hiragino Sans"/>
                <a:ea typeface="Hiragino Sans"/>
                <a:cs typeface="Hiragino Sans"/>
              </a:rPr>
              <a:t>完了条件</a:t>
            </a:r>
          </a:p>
        </p:txBody>
      </p:sp>
      <p:sp>
        <p:nvSpPr>
          <p:cNvPr id="4" name="text-11-3">
            <a:extLst xmlns:a="http://schemas.openxmlformats.org/drawingml/2006/main">
              <a:ext uri="{FF2B5EF4-FFF2-40B4-BE49-F238E27FC236}">
                <a16:creationId xmlns:a16="http://schemas.microsoft.com/office/drawing/2014/main" id="{FBDACB5C-8F18-4F18-B427-31F02C324137}"/>
              </a:ext>
            </a:extLst>
          </p:cNvPr>
          <p:cNvSpPr>
            <a:spLocks xmlns:a="http://schemas.openxmlformats.org/drawingml/2006/main" noGrp="1"/>
          </p:cNvSpPr>
          <p:nvPr/>
        </p:nvSpPr>
        <p:spPr>
          <a:xfrm xmlns:a="http://schemas.openxmlformats.org/drawingml/2006/main">
            <a:off x="2876550" y="1562100"/>
            <a:ext cx="87058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203640"/>
                </a:solidFill>
                <a:latin typeface="Hiragino Sans"/>
                <a:ea typeface="Hiragino Sans"/>
                <a:cs typeface="Hiragino Sans"/>
              </a:defRPr>
            </a:pPr>
            <a:r>
              <a:rPr sz="2025" b="0">
                <a:solidFill>
                  <a:srgbClr val="203640"/>
                </a:solidFill>
                <a:latin typeface="Hiragino Sans"/>
                <a:ea typeface="Hiragino Sans"/>
                <a:cs typeface="Hiragino Sans"/>
              </a:rPr>
              <a:t>取引条件、回答、修正請求書、数値が一致し、</a:t>
            </a:r>
          </a:p>
          <a:p xmlns:a="http://schemas.openxmlformats.org/drawingml/2006/main">
            <a:pPr>
              <a:defRPr sz="2025" b="0">
                <a:solidFill>
                  <a:srgbClr val="203640"/>
                </a:solidFill>
                <a:latin typeface="Hiragino Sans"/>
                <a:ea typeface="Hiragino Sans"/>
                <a:cs typeface="Hiragino Sans"/>
              </a:defRPr>
            </a:pPr>
            <a:r>
              <a:rPr sz="2025" b="0">
                <a:solidFill>
                  <a:srgbClr val="203640"/>
                </a:solidFill>
                <a:latin typeface="Hiragino Sans"/>
                <a:ea typeface="Hiragino Sans"/>
                <a:cs typeface="Hiragino Sans"/>
              </a:rPr>
              <a:t>限定した照合台帳の更新・読戻しが成功する。</a:t>
            </a:r>
          </a:p>
        </p:txBody>
      </p:sp>
      <p:sp>
        <p:nvSpPr>
          <p:cNvPr id="5" name="text-11-4">
            <a:extLst xmlns:a="http://schemas.openxmlformats.org/drawingml/2006/main">
              <a:ext uri="{FF2B5EF4-FFF2-40B4-BE49-F238E27FC236}">
                <a16:creationId xmlns:a16="http://schemas.microsoft.com/office/drawing/2014/main" id="{5A005DED-DBD0-4BB4-9E77-A67D7976A76C}"/>
              </a:ext>
            </a:extLst>
          </p:cNvPr>
          <p:cNvSpPr>
            <a:spLocks xmlns:a="http://schemas.openxmlformats.org/drawingml/2006/main" noGrp="1"/>
          </p:cNvSpPr>
          <p:nvPr/>
        </p:nvSpPr>
        <p:spPr>
          <a:xfrm xmlns:a="http://schemas.openxmlformats.org/drawingml/2006/main">
            <a:off x="609600" y="2886075"/>
            <a:ext cx="2057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276D96"/>
                </a:solidFill>
                <a:latin typeface="Hiragino Sans"/>
                <a:ea typeface="Hiragino Sans"/>
                <a:cs typeface="Hiragino Sans"/>
              </a:defRPr>
            </a:pPr>
            <a:r>
              <a:rPr sz="2175" b="1">
                <a:solidFill>
                  <a:srgbClr val="276D96"/>
                </a:solidFill>
                <a:latin typeface="Hiragino Sans"/>
                <a:ea typeface="Hiragino Sans"/>
                <a:cs typeface="Hiragino Sans"/>
              </a:rPr>
              <a:t>停止条件</a:t>
            </a:r>
          </a:p>
        </p:txBody>
      </p:sp>
      <p:sp>
        <p:nvSpPr>
          <p:cNvPr id="6" name="text-11-5">
            <a:extLst xmlns:a="http://schemas.openxmlformats.org/drawingml/2006/main">
              <a:ext uri="{FF2B5EF4-FFF2-40B4-BE49-F238E27FC236}">
                <a16:creationId xmlns:a16="http://schemas.microsoft.com/office/drawing/2014/main" id="{36633D02-C843-4CE7-80FA-598D49D081E4}"/>
              </a:ext>
            </a:extLst>
          </p:cNvPr>
          <p:cNvSpPr>
            <a:spLocks xmlns:a="http://schemas.openxmlformats.org/drawingml/2006/main" noGrp="1"/>
          </p:cNvSpPr>
          <p:nvPr/>
        </p:nvSpPr>
        <p:spPr>
          <a:xfrm xmlns:a="http://schemas.openxmlformats.org/drawingml/2006/main">
            <a:off x="2876550" y="2886075"/>
            <a:ext cx="87058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203640"/>
                </a:solidFill>
                <a:latin typeface="Hiragino Sans"/>
                <a:ea typeface="Hiragino Sans"/>
                <a:cs typeface="Hiragino Sans"/>
              </a:defRPr>
            </a:pPr>
            <a:r>
              <a:rPr sz="2025" b="0">
                <a:solidFill>
                  <a:srgbClr val="203640"/>
                </a:solidFill>
                <a:latin typeface="Hiragino Sans"/>
                <a:ea typeface="Hiragino Sans"/>
                <a:cs typeface="Hiragino Sans"/>
              </a:rPr>
              <a:t>「正しいです」という返信だけでは解消しない。</a:t>
            </a:r>
          </a:p>
          <a:p xmlns:a="http://schemas.openxmlformats.org/drawingml/2006/main">
            <a:pPr>
              <a:defRPr sz="2025" b="0">
                <a:solidFill>
                  <a:srgbClr val="203640"/>
                </a:solidFill>
                <a:latin typeface="Hiragino Sans"/>
                <a:ea typeface="Hiragino Sans"/>
                <a:cs typeface="Hiragino Sans"/>
              </a:defRPr>
            </a:pPr>
            <a:r>
              <a:rPr sz="2025" b="0">
                <a:solidFill>
                  <a:srgbClr val="203640"/>
                </a:solidFill>
                <a:latin typeface="Hiragino Sans"/>
                <a:ea typeface="Hiragino Sans"/>
                <a:cs typeface="Hiragino Sans"/>
              </a:rPr>
              <a:t>証拠不足・矛盾・版の競合なら担当者へ返す。</a:t>
            </a:r>
          </a:p>
        </p:txBody>
      </p:sp>
      <p:sp>
        <p:nvSpPr>
          <p:cNvPr id="7" name="text-11-6">
            <a:extLst xmlns:a="http://schemas.openxmlformats.org/drawingml/2006/main">
              <a:ext uri="{FF2B5EF4-FFF2-40B4-BE49-F238E27FC236}">
                <a16:creationId xmlns:a16="http://schemas.microsoft.com/office/drawing/2014/main" id="{ED990DA4-B272-4F7A-B56D-D154F468CB60}"/>
              </a:ext>
            </a:extLst>
          </p:cNvPr>
          <p:cNvSpPr>
            <a:spLocks xmlns:a="http://schemas.openxmlformats.org/drawingml/2006/main" noGrp="1"/>
          </p:cNvSpPr>
          <p:nvPr/>
        </p:nvSpPr>
        <p:spPr>
          <a:xfrm xmlns:a="http://schemas.openxmlformats.org/drawingml/2006/main">
            <a:off x="609600" y="4210050"/>
            <a:ext cx="2057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276D96"/>
                </a:solidFill>
                <a:latin typeface="Hiragino Sans"/>
                <a:ea typeface="Hiragino Sans"/>
                <a:cs typeface="Hiragino Sans"/>
              </a:defRPr>
            </a:pPr>
            <a:r>
              <a:rPr sz="2175" b="1">
                <a:solidFill>
                  <a:srgbClr val="276D96"/>
                </a:solidFill>
                <a:latin typeface="Hiragino Sans"/>
                <a:ea typeface="Hiragino Sans"/>
                <a:cs typeface="Hiragino Sans"/>
              </a:rPr>
              <a:t>採用へ切替</a:t>
            </a:r>
          </a:p>
        </p:txBody>
      </p:sp>
      <p:sp>
        <p:nvSpPr>
          <p:cNvPr id="8" name="text-11-7">
            <a:extLst xmlns:a="http://schemas.openxmlformats.org/drawingml/2006/main">
              <a:ext uri="{FF2B5EF4-FFF2-40B4-BE49-F238E27FC236}">
                <a16:creationId xmlns:a16="http://schemas.microsoft.com/office/drawing/2014/main" id="{F2BB7D31-8AB4-4D86-8D56-214E1DE0DF9E}"/>
              </a:ext>
            </a:extLst>
          </p:cNvPr>
          <p:cNvSpPr>
            <a:spLocks xmlns:a="http://schemas.openxmlformats.org/drawingml/2006/main" noGrp="1"/>
          </p:cNvSpPr>
          <p:nvPr/>
        </p:nvSpPr>
        <p:spPr>
          <a:xfrm xmlns:a="http://schemas.openxmlformats.org/drawingml/2006/main">
            <a:off x="2876550" y="4210050"/>
            <a:ext cx="87058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203640"/>
                </a:solidFill>
                <a:latin typeface="Hiragino Sans"/>
                <a:ea typeface="Hiragino Sans"/>
                <a:cs typeface="Hiragino Sans"/>
              </a:defRPr>
            </a:pPr>
            <a:r>
              <a:rPr sz="2025" b="0">
                <a:solidFill>
                  <a:srgbClr val="203640"/>
                </a:solidFill>
                <a:latin typeface="Hiragino Sans"/>
                <a:ea typeface="Hiragino Sans"/>
                <a:cs typeface="Hiragino Sans"/>
              </a:rPr>
              <a:t>Day 1中間までに正解データと通し動作が揃い、</a:t>
            </a:r>
          </a:p>
          <a:p xmlns:a="http://schemas.openxmlformats.org/drawingml/2006/main">
            <a:pPr>
              <a:defRPr sz="2025" b="0">
                <a:solidFill>
                  <a:srgbClr val="203640"/>
                </a:solidFill>
                <a:latin typeface="Hiragino Sans"/>
                <a:ea typeface="Hiragino Sans"/>
                <a:cs typeface="Hiragino Sans"/>
              </a:defRPr>
            </a:pPr>
            <a:r>
              <a:rPr sz="2025" b="0">
                <a:solidFill>
                  <a:srgbClr val="203640"/>
                </a:solidFill>
                <a:latin typeface="Hiragino Sans"/>
                <a:ea typeface="Hiragino Sans"/>
                <a:cs typeface="Hiragino Sans"/>
              </a:rPr>
              <a:t>案05に固有の障害がある場合に限り検討する。</a:t>
            </a:r>
          </a:p>
        </p:txBody>
      </p:sp>
    </p:spTree>
    <p:extLst>
      <p:ext uri="{BB962C8B-B14F-4D97-AF65-F5344CB8AC3E}">
        <p14:creationId xmlns:p14="http://schemas.microsoft.com/office/powerpoint/2010/main" val="1280169240"/>
      </p:ext>
    </p:extLst>
  </p:cSld>
</p:sld>
</file>

<file path=ppt/slides/slide12.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5" name="text-12-0">
            <a:extLst xmlns:a="http://schemas.openxmlformats.org/drawingml/2006/main">
              <a:ext uri="{FF2B5EF4-FFF2-40B4-BE49-F238E27FC236}">
                <a16:creationId xmlns:a16="http://schemas.microsoft.com/office/drawing/2014/main" id="{D822054D-A1F4-46D9-8E01-CA0999030496}"/>
              </a:ext>
            </a:extLst>
          </p:cNvPr>
          <p:cNvSpPr>
            <a:spLocks xmlns:a="http://schemas.openxmlformats.org/drawingml/2006/main" noGrp="1"/>
          </p:cNvSpPr>
          <p:nvPr/>
        </p:nvSpPr>
        <p:spPr>
          <a:xfrm xmlns:a="http://schemas.openxmlformats.org/drawingml/2006/main">
            <a:off x="609600" y="409575"/>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32B3A"/>
                </a:solidFill>
                <a:latin typeface="Hiragino Sans"/>
                <a:ea typeface="Hiragino Sans"/>
                <a:cs typeface="Hiragino Sans"/>
              </a:defRPr>
            </a:pPr>
            <a:r>
              <a:rPr sz="3300" b="1">
                <a:solidFill>
                  <a:srgbClr val="132B3A"/>
                </a:solidFill>
                <a:latin typeface="Hiragino Sans"/>
                <a:ea typeface="Hiragino Sans"/>
                <a:cs typeface="Hiragino Sans"/>
              </a:rPr>
              <a:t>共通構成では責任を分ける</a:t>
            </a:r>
          </a:p>
        </p:txBody>
      </p:sp>
      <p:sp>
        <p:nvSpPr>
          <p:cNvPr id="2" name="text-12-1">
            <a:extLst xmlns:a="http://schemas.openxmlformats.org/drawingml/2006/main">
              <a:ext uri="{FF2B5EF4-FFF2-40B4-BE49-F238E27FC236}">
                <a16:creationId xmlns:a16="http://schemas.microsoft.com/office/drawing/2014/main" id="{64D0F2DD-5E2A-418C-88E9-F5EFA7C3B971}"/>
              </a:ext>
            </a:extLst>
          </p:cNvPr>
          <p:cNvSpPr>
            <a:spLocks xmlns:a="http://schemas.openxmlformats.org/drawingml/2006/main" noGrp="1"/>
          </p:cNvSpPr>
          <p:nvPr/>
        </p:nvSpPr>
        <p:spPr>
          <a:xfrm xmlns:a="http://schemas.openxmlformats.org/drawingml/2006/main">
            <a:off x="11077575" y="6391275"/>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D6B73"/>
                </a:solidFill>
                <a:latin typeface="Hiragino Sans"/>
                <a:ea typeface="Hiragino Sans"/>
                <a:cs typeface="Hiragino Sans"/>
              </a:defRPr>
            </a:pPr>
            <a:r>
              <a:rPr sz="1275" b="0">
                <a:solidFill>
                  <a:srgbClr val="5D6B73"/>
                </a:solidFill>
                <a:latin typeface="Hiragino Sans"/>
                <a:ea typeface="Hiragino Sans"/>
                <a:cs typeface="Hiragino Sans"/>
              </a:rPr>
              <a:t>12</a:t>
            </a:r>
          </a:p>
        </p:txBody>
      </p:sp>
      <p:sp>
        <p:nvSpPr>
          <p:cNvPr id="3" name="text-12-2">
            <a:extLst xmlns:a="http://schemas.openxmlformats.org/drawingml/2006/main">
              <a:ext uri="{FF2B5EF4-FFF2-40B4-BE49-F238E27FC236}">
                <a16:creationId xmlns:a16="http://schemas.microsoft.com/office/drawing/2014/main" id="{96CA9070-F791-441A-AD15-BF322C5DC88A}"/>
              </a:ext>
            </a:extLst>
          </p:cNvPr>
          <p:cNvSpPr>
            <a:spLocks xmlns:a="http://schemas.openxmlformats.org/drawingml/2006/main" noGrp="1"/>
          </p:cNvSpPr>
          <p:nvPr/>
        </p:nvSpPr>
        <p:spPr>
          <a:xfrm xmlns:a="http://schemas.openxmlformats.org/drawingml/2006/main">
            <a:off x="609600" y="6238875"/>
            <a:ext cx="10144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D6B73"/>
                </a:solidFill>
                <a:latin typeface="Hiragino Sans"/>
                <a:ea typeface="Hiragino Sans"/>
                <a:cs typeface="Hiragino Sans"/>
              </a:defRPr>
            </a:pPr>
            <a:r>
              <a:rPr sz="1275" b="0">
                <a:solidFill>
                  <a:srgbClr val="5D6B73"/>
                </a:solidFill>
                <a:latin typeface="Hiragino Sans"/>
                <a:ea typeface="Hiragino Sans"/>
                <a:cs typeface="Hiragino Sans"/>
              </a:rPr>
              <a:t>ゲートウェイの推論ログと、アプリの業務・承認・更新履歴は別に持つ。</a:t>
            </a:r>
          </a:p>
        </p:txBody>
      </p:sp>
      <p:graphicFrame>
        <p:nvGraphicFramePr>
          <p:cNvPr id="8" name=""/>
          <p:cNvGraphicFramePr/>
          <p:nvPr/>
        </p:nvGraphicFramePr>
        <p:xfrm>
          <a:off xmlns:a="http://schemas.openxmlformats.org/drawingml/2006/main" x="609600" y="1457325"/>
          <a:ext xmlns:a="http://schemas.openxmlformats.org/drawingml/2006/main" cx="10972800" cy="4381500"/>
        </p:xfrm>
        <a:graphic xmlns:a="http://schemas.openxmlformats.org/drawingml/2006/main">
          <a:graphicData uri="http://schemas.openxmlformats.org/drawingml/2006/table">
            <a:tbl>
              <a:tblPr/>
              <a:tblGrid>
                <a:gridCol w="2809875"/>
                <a:gridCol w="8162925"/>
              </a:tblGrid>
              <a:tr h="533400">
                <a:tc>
                  <a:txBody>
                    <a:bodyPr/>
                    <a:lstStyle/>
                    <a:p>
                      <a:r>
                        <a:rPr sz="1800" b="1">
                          <a:solidFill>
                            <a:srgbClr val="FFFFFF"/>
                          </a:solidFill>
                          <a:latin typeface="Hiragino Sans"/>
                          <a:ea typeface="Hiragino Sans"/>
                          <a:cs typeface="Hiragino Sans"/>
                        </a:rPr>
                        <a:t>構成</a:t>
                      </a:r>
                    </a:p>
                  </a:txBody>
                  <a:tcPr marL="133350" marR="133350" marT="95250" marB="76200" anchor="t">
                    <a:solidFill>
                      <a:srgbClr val="132B3A"/>
                    </a:solidFill>
                  </a:tcPr>
                </a:tc>
                <a:tc>
                  <a:txBody>
                    <a:bodyPr/>
                    <a:lstStyle/>
                    <a:p>
                      <a:r>
                        <a:rPr sz="1800" b="1">
                          <a:solidFill>
                            <a:srgbClr val="FFFFFF"/>
                          </a:solidFill>
                          <a:latin typeface="Hiragino Sans"/>
                          <a:ea typeface="Hiragino Sans"/>
                          <a:cs typeface="Hiragino Sans"/>
                        </a:rPr>
                        <a:t>責任</a:t>
                      </a:r>
                    </a:p>
                  </a:txBody>
                  <a:tcPr marL="133350" marR="133350" marT="95250" marB="76200" anchor="t">
                    <a:solidFill>
                      <a:srgbClr val="132B3A"/>
                    </a:solidFill>
                  </a:tcPr>
                </a:tc>
              </a:tr>
              <a:tr h="769620">
                <a:tc>
                  <a:txBody>
                    <a:bodyPr/>
                    <a:lstStyle/>
                    <a:p>
                      <a:r>
                        <a:rPr sz="1800">
                          <a:solidFill>
                            <a:srgbClr val="203640"/>
                          </a:solidFill>
                          <a:latin typeface="Hiragino Sans"/>
                          <a:ea typeface="Hiragino Sans"/>
                          <a:cs typeface="Hiragino Sans"/>
                        </a:rPr>
                        <a:t>データ前処理</a:t>
                      </a:r>
                    </a:p>
                  </a:txBody>
                  <a:tcPr marL="133350" marR="133350" marT="95250" marB="76200" anchor="t">
                    <a:solidFill>
                      <a:srgbClr val="FFFFFF"/>
                    </a:solidFill>
                  </a:tcPr>
                </a:tc>
                <a:tc>
                  <a:txBody>
                    <a:bodyPr/>
                    <a:lstStyle/>
                    <a:p>
                      <a:r>
                        <a:rPr sz="1800">
                          <a:solidFill>
                            <a:srgbClr val="203640"/>
                          </a:solidFill>
                          <a:latin typeface="Hiragino Sans"/>
                          <a:ea typeface="Hiragino Sans"/>
                          <a:cs typeface="Hiragino Sans"/>
                        </a:rPr>
                        <a:t>送る項目を絞る。実名・連絡先を業務IDに置き換える</a:t>
                      </a:r>
                    </a:p>
                  </a:txBody>
                  <a:tcPr marL="133350" marR="133350" marT="95250" marB="76200" anchor="t">
                    <a:solidFill>
                      <a:srgbClr val="FFFFFF"/>
                    </a:solidFill>
                  </a:tcPr>
                </a:tc>
              </a:tr>
              <a:tr h="769620">
                <a:tc>
                  <a:txBody>
                    <a:bodyPr/>
                    <a:lstStyle/>
                    <a:p>
                      <a:r>
                        <a:rPr sz="1800">
                          <a:solidFill>
                            <a:srgbClr val="203640"/>
                          </a:solidFill>
                          <a:latin typeface="Hiragino Sans"/>
                          <a:ea typeface="Hiragino Sans"/>
                          <a:cs typeface="Hiragino Sans"/>
                        </a:rPr>
                        <a:t>エージェント</a:t>
                      </a:r>
                    </a:p>
                  </a:txBody>
                  <a:tcPr marL="133350" marR="133350" marT="95250" marB="76200" anchor="t">
                    <a:solidFill>
                      <a:srgbClr val="EDF2EF"/>
                    </a:solidFill>
                  </a:tcPr>
                </a:tc>
                <a:tc>
                  <a:txBody>
                    <a:bodyPr/>
                    <a:lstStyle/>
                    <a:p>
                      <a:r>
                        <a:rPr sz="1800">
                          <a:solidFill>
                            <a:srgbClr val="203640"/>
                          </a:solidFill>
                          <a:latin typeface="Hiragino Sans"/>
                          <a:ea typeface="Hiragino Sans"/>
                          <a:cs typeface="Hiragino Sans"/>
                        </a:rPr>
                        <a:t>状態を持ち、結果から次の行動を選び、期限・予算で止まる</a:t>
                      </a:r>
                    </a:p>
                  </a:txBody>
                  <a:tcPr marL="133350" marR="133350" marT="95250" marB="76200" anchor="t">
                    <a:solidFill>
                      <a:srgbClr val="EDF2EF"/>
                    </a:solidFill>
                  </a:tcPr>
                </a:tc>
              </a:tr>
              <a:tr h="769620">
                <a:tc>
                  <a:txBody>
                    <a:bodyPr/>
                    <a:lstStyle/>
                    <a:p>
                      <a:r>
                        <a:rPr sz="1800">
                          <a:solidFill>
                            <a:srgbClr val="203640"/>
                          </a:solidFill>
                          <a:latin typeface="Hiragino Sans"/>
                          <a:ea typeface="Hiragino Sans"/>
                          <a:cs typeface="Hiragino Sans"/>
                        </a:rPr>
                        <a:t>OrcaRouter</a:t>
                      </a:r>
                    </a:p>
                  </a:txBody>
                  <a:tcPr marL="133350" marR="133350" marT="95250" marB="76200" anchor="t">
                    <a:solidFill>
                      <a:srgbClr val="FFFFFF"/>
                    </a:solidFill>
                  </a:tcPr>
                </a:tc>
                <a:tc>
                  <a:txBody>
                    <a:bodyPr/>
                    <a:lstStyle/>
                    <a:p>
                      <a:r>
                        <a:rPr sz="1800">
                          <a:solidFill>
                            <a:srgbClr val="203640"/>
                          </a:solidFill>
                          <a:latin typeface="Hiragino Sans"/>
                          <a:ea typeface="Hiragino Sans"/>
                          <a:cs typeface="Hiragino Sans"/>
                        </a:rPr>
                        <a:t>確認した接続・モデル振り分け機能と推論記録を使う</a:t>
                      </a:r>
                    </a:p>
                  </a:txBody>
                  <a:tcPr marL="133350" marR="133350" marT="95250" marB="76200" anchor="t">
                    <a:solidFill>
                      <a:srgbClr val="FFFFFF"/>
                    </a:solidFill>
                  </a:tcPr>
                </a:tc>
              </a:tr>
              <a:tr h="769620">
                <a:tc>
                  <a:txBody>
                    <a:bodyPr/>
                    <a:lstStyle/>
                    <a:p>
                      <a:r>
                        <a:rPr sz="1800">
                          <a:solidFill>
                            <a:srgbClr val="203640"/>
                          </a:solidFill>
                          <a:latin typeface="Hiragino Sans"/>
                          <a:ea typeface="Hiragino Sans"/>
                          <a:cs typeface="Hiragino Sans"/>
                        </a:rPr>
                        <a:t>ツール実行</a:t>
                      </a:r>
                    </a:p>
                  </a:txBody>
                  <a:tcPr marL="133350" marR="133350" marT="95250" marB="76200" anchor="t">
                    <a:solidFill>
                      <a:srgbClr val="EDF2EF"/>
                    </a:solidFill>
                  </a:tcPr>
                </a:tc>
                <a:tc>
                  <a:txBody>
                    <a:bodyPr/>
                    <a:lstStyle/>
                    <a:p>
                      <a:r>
                        <a:rPr sz="1800">
                          <a:solidFill>
                            <a:srgbClr val="203640"/>
                          </a:solidFill>
                          <a:latin typeface="Hiragino Sans"/>
                          <a:ea typeface="Hiragino Sans"/>
                          <a:cs typeface="Hiragino Sans"/>
                        </a:rPr>
                        <a:t>対象ID、権限、数値・時間、版を検査して更新する</a:t>
                      </a:r>
                    </a:p>
                  </a:txBody>
                  <a:tcPr marL="133350" marR="133350" marT="95250" marB="76200" anchor="t">
                    <a:solidFill>
                      <a:srgbClr val="EDF2EF"/>
                    </a:solidFill>
                  </a:tcPr>
                </a:tc>
              </a:tr>
              <a:tr h="769620">
                <a:tc>
                  <a:txBody>
                    <a:bodyPr/>
                    <a:lstStyle/>
                    <a:p>
                      <a:r>
                        <a:rPr sz="1800">
                          <a:solidFill>
                            <a:srgbClr val="203640"/>
                          </a:solidFill>
                          <a:latin typeface="Hiragino Sans"/>
                          <a:ea typeface="Hiragino Sans"/>
                          <a:cs typeface="Hiragino Sans"/>
                        </a:rPr>
                        <a:t>業務記録とUI</a:t>
                      </a:r>
                    </a:p>
                  </a:txBody>
                  <a:tcPr marL="133350" marR="133350" marT="95250" marB="76200" anchor="t">
                    <a:solidFill>
                      <a:srgbClr val="FFFFFF"/>
                    </a:solidFill>
                  </a:tcPr>
                </a:tc>
                <a:tc>
                  <a:txBody>
                    <a:bodyPr/>
                    <a:lstStyle/>
                    <a:p>
                      <a:r>
                        <a:rPr sz="1800">
                          <a:solidFill>
                            <a:srgbClr val="203640"/>
                          </a:solidFill>
                          <a:latin typeface="Hiragino Sans"/>
                          <a:ea typeface="Hiragino Sans"/>
                          <a:cs typeface="Hiragino Sans"/>
                        </a:rPr>
                        <a:t>証拠、実行ID、前後の状態、結果と費用を紐づける</a:t>
                      </a:r>
                    </a:p>
                  </a:txBody>
                  <a:tcPr marL="133350" marR="133350" marT="95250" marB="76200" anchor="t">
                    <a:solidFill>
                      <a:srgbClr val="FFFFFF"/>
                    </a:solidFill>
                  </a:tcPr>
                </a:tc>
              </a:tr>
            </a:tbl>
          </a:graphicData>
        </a:graphic>
      </p:graphicFrame>
    </p:spTree>
    <p:extLst>
      <p:ext uri="{BB962C8B-B14F-4D97-AF65-F5344CB8AC3E}">
        <p14:creationId xmlns:p14="http://schemas.microsoft.com/office/powerpoint/2010/main" val="1182924125"/>
      </p:ext>
    </p:extLst>
  </p:cSld>
</p:sld>
</file>

<file path=ppt/slides/slide13.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6" name="text-13-0">
            <a:extLst xmlns:a="http://schemas.openxmlformats.org/drawingml/2006/main">
              <a:ext uri="{FF2B5EF4-FFF2-40B4-BE49-F238E27FC236}">
                <a16:creationId xmlns:a16="http://schemas.microsoft.com/office/drawing/2014/main" id="{9E6F1938-8E59-4571-A51C-A2979F630EB3}"/>
              </a:ext>
            </a:extLst>
          </p:cNvPr>
          <p:cNvSpPr>
            <a:spLocks xmlns:a="http://schemas.openxmlformats.org/drawingml/2006/main" noGrp="1"/>
          </p:cNvSpPr>
          <p:nvPr/>
        </p:nvSpPr>
        <p:spPr>
          <a:xfrm xmlns:a="http://schemas.openxmlformats.org/drawingml/2006/main">
            <a:off x="609600" y="409575"/>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32B3A"/>
                </a:solidFill>
                <a:latin typeface="Hiragino Sans"/>
                <a:ea typeface="Hiragino Sans"/>
                <a:cs typeface="Hiragino Sans"/>
              </a:defRPr>
            </a:pPr>
            <a:r>
              <a:rPr sz="3300" b="1">
                <a:solidFill>
                  <a:srgbClr val="132B3A"/>
                </a:solidFill>
                <a:latin typeface="Hiragino Sans"/>
                <a:ea typeface="Hiragino Sans"/>
                <a:cs typeface="Hiragino Sans"/>
              </a:rPr>
              <a:t>OrcaRouterで実装する使い分け</a:t>
            </a:r>
          </a:p>
        </p:txBody>
      </p:sp>
      <p:sp>
        <p:nvSpPr>
          <p:cNvPr id="2" name="text-13-1">
            <a:extLst xmlns:a="http://schemas.openxmlformats.org/drawingml/2006/main">
              <a:ext uri="{FF2B5EF4-FFF2-40B4-BE49-F238E27FC236}">
                <a16:creationId xmlns:a16="http://schemas.microsoft.com/office/drawing/2014/main" id="{7C3D2C88-846C-4A4E-92AF-EE4B87189CE2}"/>
              </a:ext>
            </a:extLst>
          </p:cNvPr>
          <p:cNvSpPr>
            <a:spLocks xmlns:a="http://schemas.openxmlformats.org/drawingml/2006/main" noGrp="1"/>
          </p:cNvSpPr>
          <p:nvPr/>
        </p:nvSpPr>
        <p:spPr>
          <a:xfrm xmlns:a="http://schemas.openxmlformats.org/drawingml/2006/main">
            <a:off x="11077575" y="6391275"/>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D6B73"/>
                </a:solidFill>
                <a:latin typeface="Hiragino Sans"/>
                <a:ea typeface="Hiragino Sans"/>
                <a:cs typeface="Hiragino Sans"/>
              </a:defRPr>
            </a:pPr>
            <a:r>
              <a:rPr sz="1275" b="0">
                <a:solidFill>
                  <a:srgbClr val="5D6B73"/>
                </a:solidFill>
                <a:latin typeface="Hiragino Sans"/>
                <a:ea typeface="Hiragino Sans"/>
                <a:cs typeface="Hiragino Sans"/>
              </a:rPr>
              <a:t>13</a:t>
            </a:r>
          </a:p>
        </p:txBody>
      </p:sp>
      <p:sp>
        <p:nvSpPr>
          <p:cNvPr id="3" name="text-13-2">
            <a:extLst xmlns:a="http://schemas.openxmlformats.org/drawingml/2006/main">
              <a:ext uri="{FF2B5EF4-FFF2-40B4-BE49-F238E27FC236}">
                <a16:creationId xmlns:a16="http://schemas.microsoft.com/office/drawing/2014/main" id="{894F9D47-640B-45F3-88CC-C3D66E106044}"/>
              </a:ext>
            </a:extLst>
          </p:cNvPr>
          <p:cNvSpPr>
            <a:spLocks xmlns:a="http://schemas.openxmlformats.org/drawingml/2006/main" noGrp="1"/>
          </p:cNvSpPr>
          <p:nvPr/>
        </p:nvSpPr>
        <p:spPr>
          <a:xfrm xmlns:a="http://schemas.openxmlformats.org/drawingml/2006/main">
            <a:off x="609600" y="6238875"/>
            <a:ext cx="10144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D6B73"/>
                </a:solidFill>
                <a:latin typeface="Hiragino Sans"/>
                <a:ea typeface="Hiragino Sans"/>
                <a:cs typeface="Hiragino Sans"/>
              </a:defRPr>
            </a:pPr>
            <a:r>
              <a:rPr sz="1275" b="0">
                <a:solidFill>
                  <a:srgbClr val="5D6B73"/>
                </a:solidFill>
                <a:latin typeface="Hiragino Sans"/>
                <a:ea typeface="Hiragino Sans"/>
                <a:cs typeface="Hiragino Sans"/>
              </a:rPr>
              <a:t>複数モデルの機能は公開資料で確認。提供アカウントの動作・料金は未検証。</a:t>
            </a:r>
          </a:p>
        </p:txBody>
      </p:sp>
      <p:graphicFrame>
        <p:nvGraphicFramePr>
          <p:cNvPr id="9" name=""/>
          <p:cNvGraphicFramePr/>
          <p:nvPr/>
        </p:nvGraphicFramePr>
        <p:xfrm>
          <a:off xmlns:a="http://schemas.openxmlformats.org/drawingml/2006/main" x="609600" y="1457325"/>
          <a:ext xmlns:a="http://schemas.openxmlformats.org/drawingml/2006/main" cx="10972800" cy="3724275"/>
        </p:xfrm>
        <a:graphic xmlns:a="http://schemas.openxmlformats.org/drawingml/2006/main">
          <a:graphicData uri="http://schemas.openxmlformats.org/drawingml/2006/table">
            <a:tbl>
              <a:tblPr/>
              <a:tblGrid>
                <a:gridCol w="2857500"/>
                <a:gridCol w="4057650"/>
                <a:gridCol w="4057650"/>
              </a:tblGrid>
              <a:tr h="533400">
                <a:tc>
                  <a:txBody>
                    <a:bodyPr/>
                    <a:lstStyle/>
                    <a:p>
                      <a:r>
                        <a:rPr sz="1800" b="1">
                          <a:solidFill>
                            <a:srgbClr val="FFFFFF"/>
                          </a:solidFill>
                          <a:latin typeface="Hiragino Sans"/>
                          <a:ea typeface="Hiragino Sans"/>
                          <a:cs typeface="Hiragino Sans"/>
                        </a:rPr>
                        <a:t>処理</a:t>
                      </a:r>
                    </a:p>
                  </a:txBody>
                  <a:tcPr marL="133350" marR="133350" marT="95250" marB="76200" anchor="t">
                    <a:solidFill>
                      <a:srgbClr val="132B3A"/>
                    </a:solidFill>
                  </a:tcPr>
                </a:tc>
                <a:tc>
                  <a:txBody>
                    <a:bodyPr/>
                    <a:lstStyle/>
                    <a:p>
                      <a:r>
                        <a:rPr sz="1800" b="1">
                          <a:solidFill>
                            <a:srgbClr val="FFFFFF"/>
                          </a:solidFill>
                          <a:latin typeface="Hiragino Sans"/>
                          <a:ea typeface="Hiragino Sans"/>
                          <a:cs typeface="Hiragino Sans"/>
                        </a:rPr>
                        <a:t>方針</a:t>
                      </a:r>
                    </a:p>
                  </a:txBody>
                  <a:tcPr marL="133350" marR="133350" marT="95250" marB="76200" anchor="t">
                    <a:solidFill>
                      <a:srgbClr val="132B3A"/>
                    </a:solidFill>
                  </a:tcPr>
                </a:tc>
                <a:tc>
                  <a:txBody>
                    <a:bodyPr/>
                    <a:lstStyle/>
                    <a:p>
                      <a:r>
                        <a:rPr sz="1800" b="1">
                          <a:solidFill>
                            <a:srgbClr val="FFFFFF"/>
                          </a:solidFill>
                          <a:latin typeface="Hiragino Sans"/>
                          <a:ea typeface="Hiragino Sans"/>
                          <a:cs typeface="Hiragino Sans"/>
                        </a:rPr>
                        <a:t>確かめること</a:t>
                      </a:r>
                    </a:p>
                  </a:txBody>
                  <a:tcPr marL="133350" marR="133350" marT="95250" marB="76200" anchor="t">
                    <a:solidFill>
                      <a:srgbClr val="132B3A"/>
                    </a:solidFill>
                  </a:tcPr>
                </a:tc>
              </a:tr>
              <a:tr h="797719">
                <a:tc>
                  <a:txBody>
                    <a:bodyPr/>
                    <a:lstStyle/>
                    <a:p>
                      <a:r>
                        <a:rPr sz="1800">
                          <a:solidFill>
                            <a:srgbClr val="203640"/>
                          </a:solidFill>
                          <a:latin typeface="Hiragino Sans"/>
                          <a:ea typeface="Hiragino Sans"/>
                          <a:cs typeface="Hiragino Sans"/>
                        </a:rPr>
                        <a:t>定型返信の抽出</a:t>
                      </a:r>
                    </a:p>
                  </a:txBody>
                  <a:tcPr marL="133350" marR="133350" marT="95250" marB="76200" anchor="t">
                    <a:solidFill>
                      <a:srgbClr val="FFFFFF"/>
                    </a:solidFill>
                  </a:tcPr>
                </a:tc>
                <a:tc>
                  <a:txBody>
                    <a:bodyPr/>
                    <a:lstStyle/>
                    <a:p>
                      <a:r>
                        <a:rPr sz="1800">
                          <a:solidFill>
                            <a:srgbClr val="203640"/>
                          </a:solidFill>
                          <a:latin typeface="Hiragino Sans"/>
                          <a:ea typeface="Hiragino Sans"/>
                          <a:cs typeface="Hiragino Sans"/>
                        </a:rPr>
                        <a:t>軽量モデルを候補にする</a:t>
                      </a:r>
                    </a:p>
                  </a:txBody>
                  <a:tcPr marL="133350" marR="133350" marT="95250" marB="76200" anchor="t">
                    <a:solidFill>
                      <a:srgbClr val="FFFFFF"/>
                    </a:solidFill>
                  </a:tcPr>
                </a:tc>
                <a:tc>
                  <a:txBody>
                    <a:bodyPr/>
                    <a:lstStyle/>
                    <a:p>
                      <a:r>
                        <a:rPr sz="1800">
                          <a:solidFill>
                            <a:srgbClr val="203640"/>
                          </a:solidFill>
                          <a:latin typeface="Hiragino Sans"/>
                          <a:ea typeface="Hiragino Sans"/>
                          <a:cs typeface="Hiragino Sans"/>
                        </a:rPr>
                        <a:t>必須項目・型・時間を検査</a:t>
                      </a:r>
                    </a:p>
                  </a:txBody>
                  <a:tcPr marL="133350" marR="133350" marT="95250" marB="76200" anchor="t">
                    <a:solidFill>
                      <a:srgbClr val="FFFFFF"/>
                    </a:solidFill>
                  </a:tcPr>
                </a:tc>
              </a:tr>
              <a:tr h="797719">
                <a:tc>
                  <a:txBody>
                    <a:bodyPr/>
                    <a:lstStyle/>
                    <a:p>
                      <a:r>
                        <a:rPr sz="1800">
                          <a:solidFill>
                            <a:srgbClr val="203640"/>
                          </a:solidFill>
                          <a:latin typeface="Hiragino Sans"/>
                          <a:ea typeface="Hiragino Sans"/>
                          <a:cs typeface="Hiragino Sans"/>
                        </a:rPr>
                        <a:t>複雑な条件の解釈</a:t>
                      </a:r>
                    </a:p>
                  </a:txBody>
                  <a:tcPr marL="133350" marR="133350" marT="95250" marB="76200" anchor="t">
                    <a:solidFill>
                      <a:srgbClr val="EDF2EF"/>
                    </a:solidFill>
                  </a:tcPr>
                </a:tc>
                <a:tc>
                  <a:txBody>
                    <a:bodyPr/>
                    <a:lstStyle/>
                    <a:p>
                      <a:r>
                        <a:rPr sz="1800">
                          <a:solidFill>
                            <a:srgbClr val="203640"/>
                          </a:solidFill>
                          <a:latin typeface="Hiragino Sans"/>
                          <a:ea typeface="Hiragino Sans"/>
                          <a:cs typeface="Hiragino Sans"/>
                        </a:rPr>
                        <a:t>必要な場合に高性能モデルへ</a:t>
                      </a:r>
                    </a:p>
                  </a:txBody>
                  <a:tcPr marL="133350" marR="133350" marT="95250" marB="76200" anchor="t">
                    <a:solidFill>
                      <a:srgbClr val="EDF2EF"/>
                    </a:solidFill>
                  </a:tcPr>
                </a:tc>
                <a:tc>
                  <a:txBody>
                    <a:bodyPr/>
                    <a:lstStyle/>
                    <a:p>
                      <a:r>
                        <a:rPr sz="1800">
                          <a:solidFill>
                            <a:srgbClr val="203640"/>
                          </a:solidFill>
                          <a:latin typeface="Hiragino Sans"/>
                          <a:ea typeface="Hiragino Sans"/>
                          <a:cs typeface="Hiragino Sans"/>
                        </a:rPr>
                        <a:t>矛盾や検査失敗など切替理由</a:t>
                      </a:r>
                    </a:p>
                  </a:txBody>
                  <a:tcPr marL="133350" marR="133350" marT="95250" marB="76200" anchor="t">
                    <a:solidFill>
                      <a:srgbClr val="EDF2EF"/>
                    </a:solidFill>
                  </a:tcPr>
                </a:tc>
              </a:tr>
              <a:tr h="797719">
                <a:tc>
                  <a:txBody>
                    <a:bodyPr/>
                    <a:lstStyle/>
                    <a:p>
                      <a:r>
                        <a:rPr sz="1800">
                          <a:solidFill>
                            <a:srgbClr val="203640"/>
                          </a:solidFill>
                          <a:latin typeface="Hiragino Sans"/>
                          <a:ea typeface="Hiragino Sans"/>
                          <a:cs typeface="Hiragino Sans"/>
                        </a:rPr>
                        <a:t>計算・制約検査</a:t>
                      </a:r>
                    </a:p>
                  </a:txBody>
                  <a:tcPr marL="133350" marR="133350" marT="95250" marB="76200" anchor="t">
                    <a:solidFill>
                      <a:srgbClr val="FFFFFF"/>
                    </a:solidFill>
                  </a:tcPr>
                </a:tc>
                <a:tc>
                  <a:txBody>
                    <a:bodyPr/>
                    <a:lstStyle/>
                    <a:p>
                      <a:r>
                        <a:rPr sz="1800">
                          <a:solidFill>
                            <a:srgbClr val="203640"/>
                          </a:solidFill>
                          <a:latin typeface="Hiragino Sans"/>
                          <a:ea typeface="Hiragino Sans"/>
                          <a:cs typeface="Hiragino Sans"/>
                        </a:rPr>
                        <a:t>通常のプログラムを使う</a:t>
                      </a:r>
                    </a:p>
                  </a:txBody>
                  <a:tcPr marL="133350" marR="133350" marT="95250" marB="76200" anchor="t">
                    <a:solidFill>
                      <a:srgbClr val="FFFFFF"/>
                    </a:solidFill>
                  </a:tcPr>
                </a:tc>
                <a:tc>
                  <a:txBody>
                    <a:bodyPr/>
                    <a:lstStyle/>
                    <a:p>
                      <a:r>
                        <a:rPr sz="1800">
                          <a:solidFill>
                            <a:srgbClr val="203640"/>
                          </a:solidFill>
                          <a:latin typeface="Hiragino Sans"/>
                          <a:ea typeface="Hiragino Sans"/>
                          <a:cs typeface="Hiragino Sans"/>
                        </a:rPr>
                        <a:t>AI費用を発生させない</a:t>
                      </a:r>
                    </a:p>
                  </a:txBody>
                  <a:tcPr marL="133350" marR="133350" marT="95250" marB="76200" anchor="t">
                    <a:solidFill>
                      <a:srgbClr val="FFFFFF"/>
                    </a:solidFill>
                  </a:tcPr>
                </a:tc>
              </a:tr>
              <a:tr h="797719">
                <a:tc>
                  <a:txBody>
                    <a:bodyPr/>
                    <a:lstStyle/>
                    <a:p>
                      <a:r>
                        <a:rPr sz="1800">
                          <a:solidFill>
                            <a:srgbClr val="203640"/>
                          </a:solidFill>
                          <a:latin typeface="Hiragino Sans"/>
                          <a:ea typeface="Hiragino Sans"/>
                          <a:cs typeface="Hiragino Sans"/>
                        </a:rPr>
                        <a:t>追加モデルの検証</a:t>
                      </a:r>
                    </a:p>
                  </a:txBody>
                  <a:tcPr marL="133350" marR="133350" marT="95250" marB="76200" anchor="t">
                    <a:solidFill>
                      <a:srgbClr val="EDF2EF"/>
                    </a:solidFill>
                  </a:tcPr>
                </a:tc>
                <a:tc>
                  <a:txBody>
                    <a:bodyPr/>
                    <a:lstStyle/>
                    <a:p>
                      <a:r>
                        <a:rPr sz="1800">
                          <a:solidFill>
                            <a:srgbClr val="203640"/>
                          </a:solidFill>
                          <a:latin typeface="Hiragino Sans"/>
                          <a:ea typeface="Hiragino Sans"/>
                          <a:cs typeface="Hiragino Sans"/>
                        </a:rPr>
                        <a:t>改善が出る箇所だけ導入</a:t>
                      </a:r>
                    </a:p>
                  </a:txBody>
                  <a:tcPr marL="133350" marR="133350" marT="95250" marB="76200" anchor="t">
                    <a:solidFill>
                      <a:srgbClr val="EDF2EF"/>
                    </a:solidFill>
                  </a:tcPr>
                </a:tc>
                <a:tc>
                  <a:txBody>
                    <a:bodyPr/>
                    <a:lstStyle/>
                    <a:p>
                      <a:r>
                        <a:rPr sz="1800">
                          <a:solidFill>
                            <a:srgbClr val="203640"/>
                          </a:solidFill>
                          <a:latin typeface="Hiragino Sans"/>
                          <a:ea typeface="Hiragino Sans"/>
                          <a:cs typeface="Hiragino Sans"/>
                        </a:rPr>
                        <a:t>費用と遅延を含めて比較</a:t>
                      </a:r>
                    </a:p>
                  </a:txBody>
                  <a:tcPr marL="133350" marR="133350" marT="95250" marB="76200" anchor="t">
                    <a:solidFill>
                      <a:srgbClr val="EDF2EF"/>
                    </a:solidFill>
                  </a:tcPr>
                </a:tc>
              </a:tr>
            </a:tbl>
          </a:graphicData>
        </a:graphic>
      </p:graphicFrame>
      <p:sp>
        <p:nvSpPr>
          <p:cNvPr id="5" name="text-13-3">
            <a:extLst xmlns:a="http://schemas.openxmlformats.org/drawingml/2006/main">
              <a:ext uri="{FF2B5EF4-FFF2-40B4-BE49-F238E27FC236}">
                <a16:creationId xmlns:a16="http://schemas.microsoft.com/office/drawing/2014/main" id="{4B18EBF1-66DB-4F7A-A899-72349018F402}"/>
              </a:ext>
            </a:extLst>
          </p:cNvPr>
          <p:cNvSpPr>
            <a:spLocks xmlns:a="http://schemas.openxmlformats.org/drawingml/2006/main" noGrp="1"/>
          </p:cNvSpPr>
          <p:nvPr/>
        </p:nvSpPr>
        <p:spPr>
          <a:xfrm xmlns:a="http://schemas.openxmlformats.org/drawingml/2006/main">
            <a:off x="609600" y="5410200"/>
            <a:ext cx="10810875"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203640"/>
                </a:solidFill>
                <a:latin typeface="Hiragino Sans"/>
                <a:ea typeface="Hiragino Sans"/>
                <a:cs typeface="Hiragino Sans"/>
              </a:defRPr>
            </a:pPr>
            <a:r>
              <a:rPr sz="1800" b="0">
                <a:solidFill>
                  <a:srgbClr val="203640"/>
                </a:solidFill>
                <a:latin typeface="Hiragino Sans"/>
                <a:ea typeface="Hiragino Sans"/>
                <a:cs typeface="Hiragino Sans"/>
              </a:rPr>
              <a:t>ネイティブの振り分けが使えない場合は、アプリ側でモデルを選択。</a:t>
            </a:r>
          </a:p>
          <a:p xmlns:a="http://schemas.openxmlformats.org/drawingml/2006/main">
            <a:pPr>
              <a:defRPr sz="1800" b="0">
                <a:solidFill>
                  <a:srgbClr val="203640"/>
                </a:solidFill>
                <a:latin typeface="Hiragino Sans"/>
                <a:ea typeface="Hiragino Sans"/>
                <a:cs typeface="Hiragino Sans"/>
              </a:defRPr>
            </a:pPr>
            <a:r>
              <a:rPr sz="1800" b="0">
                <a:solidFill>
                  <a:srgbClr val="203640"/>
                </a:solidFill>
                <a:latin typeface="Hiragino Sans"/>
                <a:ea typeface="Hiragino Sans"/>
                <a:cs typeface="Hiragino Sans"/>
              </a:rPr>
              <a:t>全推論をOrcaRouter経由にし、選択主体を正確に表示する。</a:t>
            </a:r>
          </a:p>
        </p:txBody>
      </p:sp>
    </p:spTree>
    <p:extLst>
      <p:ext uri="{BB962C8B-B14F-4D97-AF65-F5344CB8AC3E}">
        <p14:creationId xmlns:p14="http://schemas.microsoft.com/office/powerpoint/2010/main" val="1610298281"/>
      </p:ext>
    </p:extLst>
  </p:cSld>
</p:sld>
</file>

<file path=ppt/slides/slide14.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6" name="text-14-0">
            <a:extLst xmlns:a="http://schemas.openxmlformats.org/drawingml/2006/main">
              <a:ext uri="{FF2B5EF4-FFF2-40B4-BE49-F238E27FC236}">
                <a16:creationId xmlns:a16="http://schemas.microsoft.com/office/drawing/2014/main" id="{B13DC3C7-0374-4D22-B446-78D94F424F75}"/>
              </a:ext>
            </a:extLst>
          </p:cNvPr>
          <p:cNvSpPr>
            <a:spLocks xmlns:a="http://schemas.openxmlformats.org/drawingml/2006/main" noGrp="1"/>
          </p:cNvSpPr>
          <p:nvPr/>
        </p:nvSpPr>
        <p:spPr>
          <a:xfrm xmlns:a="http://schemas.openxmlformats.org/drawingml/2006/main">
            <a:off x="609600" y="409575"/>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32B3A"/>
                </a:solidFill>
                <a:latin typeface="Hiragino Sans"/>
                <a:ea typeface="Hiragino Sans"/>
                <a:cs typeface="Hiragino Sans"/>
              </a:defRPr>
            </a:pPr>
            <a:r>
              <a:rPr sz="3300" b="1">
                <a:solidFill>
                  <a:srgbClr val="132B3A"/>
                </a:solidFill>
                <a:latin typeface="Hiragino Sans"/>
                <a:ea typeface="Hiragino Sans"/>
                <a:cs typeface="Hiragino Sans"/>
              </a:rPr>
              <a:t>最初の60〜90分で接続と計測を確かめる</a:t>
            </a:r>
          </a:p>
        </p:txBody>
      </p:sp>
      <p:sp>
        <p:nvSpPr>
          <p:cNvPr id="2" name="text-14-1">
            <a:extLst xmlns:a="http://schemas.openxmlformats.org/drawingml/2006/main">
              <a:ext uri="{FF2B5EF4-FFF2-40B4-BE49-F238E27FC236}">
                <a16:creationId xmlns:a16="http://schemas.microsoft.com/office/drawing/2014/main" id="{87D35991-0D1C-46BF-8470-984AD2C9E110}"/>
              </a:ext>
            </a:extLst>
          </p:cNvPr>
          <p:cNvSpPr>
            <a:spLocks xmlns:a="http://schemas.openxmlformats.org/drawingml/2006/main" noGrp="1"/>
          </p:cNvSpPr>
          <p:nvPr/>
        </p:nvSpPr>
        <p:spPr>
          <a:xfrm xmlns:a="http://schemas.openxmlformats.org/drawingml/2006/main">
            <a:off x="11077575" y="6391275"/>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D6B73"/>
                </a:solidFill>
                <a:latin typeface="Hiragino Sans"/>
                <a:ea typeface="Hiragino Sans"/>
                <a:cs typeface="Hiragino Sans"/>
              </a:defRPr>
            </a:pPr>
            <a:r>
              <a:rPr sz="1275" b="0">
                <a:solidFill>
                  <a:srgbClr val="5D6B73"/>
                </a:solidFill>
                <a:latin typeface="Hiragino Sans"/>
                <a:ea typeface="Hiragino Sans"/>
                <a:cs typeface="Hiragino Sans"/>
              </a:rPr>
              <a:t>14</a:t>
            </a:r>
          </a:p>
        </p:txBody>
      </p:sp>
      <p:sp>
        <p:nvSpPr>
          <p:cNvPr id="3" name="text-14-2">
            <a:extLst xmlns:a="http://schemas.openxmlformats.org/drawingml/2006/main">
              <a:ext uri="{FF2B5EF4-FFF2-40B4-BE49-F238E27FC236}">
                <a16:creationId xmlns:a16="http://schemas.microsoft.com/office/drawing/2014/main" id="{5051783A-909D-42CC-A1A3-811CC3EF45F8}"/>
              </a:ext>
            </a:extLst>
          </p:cNvPr>
          <p:cNvSpPr>
            <a:spLocks xmlns:a="http://schemas.openxmlformats.org/drawingml/2006/main" noGrp="1"/>
          </p:cNvSpPr>
          <p:nvPr/>
        </p:nvSpPr>
        <p:spPr>
          <a:xfrm xmlns:a="http://schemas.openxmlformats.org/drawingml/2006/main">
            <a:off x="609600" y="6238875"/>
            <a:ext cx="10144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D6B73"/>
                </a:solidFill>
                <a:latin typeface="Hiragino Sans"/>
                <a:ea typeface="Hiragino Sans"/>
                <a:cs typeface="Hiragino Sans"/>
              </a:defRPr>
            </a:pPr>
            <a:r>
              <a:rPr sz="1275" b="0">
                <a:solidFill>
                  <a:srgbClr val="5D6B73"/>
                </a:solidFill>
                <a:latin typeface="Hiragino Sans"/>
                <a:ea typeface="Hiragino Sans"/>
                <a:cs typeface="Hiragino Sans"/>
              </a:rPr>
              <a:t>チームがDay 1に行う検証計画。実施済みではない。</a:t>
            </a:r>
          </a:p>
        </p:txBody>
      </p:sp>
      <p:graphicFrame>
        <p:nvGraphicFramePr>
          <p:cNvPr id="9" name=""/>
          <p:cNvGraphicFramePr/>
          <p:nvPr/>
        </p:nvGraphicFramePr>
        <p:xfrm>
          <a:off xmlns:a="http://schemas.openxmlformats.org/drawingml/2006/main" x="609600" y="1457325"/>
          <a:ext xmlns:a="http://schemas.openxmlformats.org/drawingml/2006/main" cx="10972800" cy="3790950"/>
        </p:xfrm>
        <a:graphic xmlns:a="http://schemas.openxmlformats.org/drawingml/2006/main">
          <a:graphicData uri="http://schemas.openxmlformats.org/drawingml/2006/table">
            <a:tbl>
              <a:tblPr/>
              <a:tblGrid>
                <a:gridCol w="2952750"/>
                <a:gridCol w="8020050"/>
              </a:tblGrid>
              <a:tr h="533400">
                <a:tc>
                  <a:txBody>
                    <a:bodyPr/>
                    <a:lstStyle/>
                    <a:p>
                      <a:r>
                        <a:rPr sz="1875" b="1">
                          <a:solidFill>
                            <a:srgbClr val="FFFFFF"/>
                          </a:solidFill>
                          <a:latin typeface="Hiragino Sans"/>
                          <a:ea typeface="Hiragino Sans"/>
                          <a:cs typeface="Hiragino Sans"/>
                        </a:rPr>
                        <a:t>確認対象</a:t>
                      </a:r>
                    </a:p>
                  </a:txBody>
                  <a:tcPr marL="133350" marR="133350" marT="95250" marB="76200" anchor="t">
                    <a:solidFill>
                      <a:srgbClr val="132B3A"/>
                    </a:solidFill>
                  </a:tcPr>
                </a:tc>
                <a:tc>
                  <a:txBody>
                    <a:bodyPr/>
                    <a:lstStyle/>
                    <a:p>
                      <a:r>
                        <a:rPr sz="1875" b="1">
                          <a:solidFill>
                            <a:srgbClr val="FFFFFF"/>
                          </a:solidFill>
                          <a:latin typeface="Hiragino Sans"/>
                          <a:ea typeface="Hiragino Sans"/>
                          <a:cs typeface="Hiragino Sans"/>
                        </a:rPr>
                        <a:t>残す証拠</a:t>
                      </a:r>
                    </a:p>
                  </a:txBody>
                  <a:tcPr marL="133350" marR="133350" marT="95250" marB="76200" anchor="t">
                    <a:solidFill>
                      <a:srgbClr val="132B3A"/>
                    </a:solidFill>
                  </a:tcPr>
                </a:tc>
              </a:tr>
              <a:tr h="814388">
                <a:tc>
                  <a:txBody>
                    <a:bodyPr/>
                    <a:lstStyle/>
                    <a:p>
                      <a:r>
                        <a:rPr sz="1875">
                          <a:solidFill>
                            <a:srgbClr val="203640"/>
                          </a:solidFill>
                          <a:latin typeface="Hiragino Sans"/>
                          <a:ea typeface="Hiragino Sans"/>
                          <a:cs typeface="Hiragino Sans"/>
                        </a:rPr>
                        <a:t>接続とモデル</a:t>
                      </a:r>
                    </a:p>
                  </a:txBody>
                  <a:tcPr marL="133350" marR="133350" marT="95250" marB="76200" anchor="t">
                    <a:solidFill>
                      <a:srgbClr val="FFFFFF"/>
                    </a:solidFill>
                  </a:tcPr>
                </a:tc>
                <a:tc>
                  <a:txBody>
                    <a:bodyPr/>
                    <a:lstStyle/>
                    <a:p>
                      <a:r>
                        <a:rPr sz="1875">
                          <a:solidFill>
                            <a:srgbClr val="203640"/>
                          </a:solidFill>
                          <a:latin typeface="Hiragino Sans"/>
                          <a:ea typeface="Hiragino Sans"/>
                          <a:cs typeface="Hiragino Sans"/>
                        </a:rPr>
                        <a:t>API成功、利用モデル、残高、制限、構造化出力</a:t>
                      </a:r>
                    </a:p>
                  </a:txBody>
                  <a:tcPr marL="133350" marR="133350" marT="95250" marB="76200" anchor="t">
                    <a:solidFill>
                      <a:srgbClr val="FFFFFF"/>
                    </a:solidFill>
                  </a:tcPr>
                </a:tc>
              </a:tr>
              <a:tr h="814388">
                <a:tc>
                  <a:txBody>
                    <a:bodyPr/>
                    <a:lstStyle/>
                    <a:p>
                      <a:r>
                        <a:rPr sz="1875">
                          <a:solidFill>
                            <a:srgbClr val="203640"/>
                          </a:solidFill>
                          <a:latin typeface="Hiragino Sans"/>
                          <a:ea typeface="Hiragino Sans"/>
                          <a:cs typeface="Hiragino Sans"/>
                        </a:rPr>
                        <a:t>ルーティング</a:t>
                      </a:r>
                    </a:p>
                  </a:txBody>
                  <a:tcPr marL="133350" marR="133350" marT="95250" marB="76200" anchor="t">
                    <a:solidFill>
                      <a:srgbClr val="EDF2EF"/>
                    </a:solidFill>
                  </a:tcPr>
                </a:tc>
                <a:tc>
                  <a:txBody>
                    <a:bodyPr/>
                    <a:lstStyle/>
                    <a:p>
                      <a:r>
                        <a:rPr sz="1875">
                          <a:solidFill>
                            <a:srgbClr val="203640"/>
                          </a:solidFill>
                          <a:latin typeface="Hiragino Sans"/>
                          <a:ea typeface="Hiragino Sans"/>
                          <a:cs typeface="Hiragino Sans"/>
                        </a:rPr>
                        <a:t>単純入力と条件付き入力の実際の行き先と適用規則</a:t>
                      </a:r>
                    </a:p>
                  </a:txBody>
                  <a:tcPr marL="133350" marR="133350" marT="95250" marB="76200" anchor="t">
                    <a:solidFill>
                      <a:srgbClr val="EDF2EF"/>
                    </a:solidFill>
                  </a:tcPr>
                </a:tc>
              </a:tr>
              <a:tr h="814388">
                <a:tc>
                  <a:txBody>
                    <a:bodyPr/>
                    <a:lstStyle/>
                    <a:p>
                      <a:r>
                        <a:rPr sz="1875">
                          <a:solidFill>
                            <a:srgbClr val="203640"/>
                          </a:solidFill>
                          <a:latin typeface="Hiragino Sans"/>
                          <a:ea typeface="Hiragino Sans"/>
                          <a:cs typeface="Hiragino Sans"/>
                        </a:rPr>
                        <a:t>費用・速度</a:t>
                      </a:r>
                    </a:p>
                  </a:txBody>
                  <a:tcPr marL="133350" marR="133350" marT="95250" marB="76200" anchor="t">
                    <a:solidFill>
                      <a:srgbClr val="FFFFFF"/>
                    </a:solidFill>
                  </a:tcPr>
                </a:tc>
                <a:tc>
                  <a:txBody>
                    <a:bodyPr/>
                    <a:lstStyle/>
                    <a:p>
                      <a:r>
                        <a:rPr sz="1875">
                          <a:solidFill>
                            <a:srgbClr val="203640"/>
                          </a:solidFill>
                          <a:latin typeface="Hiragino Sans"/>
                          <a:ea typeface="Hiragino Sans"/>
                          <a:cs typeface="Hiragino Sans"/>
                        </a:rPr>
                        <a:t>リクエストID、モデル、トークン、遅延、料金の取得可否</a:t>
                      </a:r>
                    </a:p>
                  </a:txBody>
                  <a:tcPr marL="133350" marR="133350" marT="95250" marB="76200" anchor="t">
                    <a:solidFill>
                      <a:srgbClr val="FFFFFF"/>
                    </a:solidFill>
                  </a:tcPr>
                </a:tc>
              </a:tr>
              <a:tr h="814388">
                <a:tc>
                  <a:txBody>
                    <a:bodyPr/>
                    <a:lstStyle/>
                    <a:p>
                      <a:r>
                        <a:rPr sz="1875">
                          <a:solidFill>
                            <a:srgbClr val="203640"/>
                          </a:solidFill>
                          <a:latin typeface="Hiragino Sans"/>
                          <a:ea typeface="Hiragino Sans"/>
                          <a:cs typeface="Hiragino Sans"/>
                        </a:rPr>
                        <a:t>障害とデータ保持</a:t>
                      </a:r>
                    </a:p>
                  </a:txBody>
                  <a:tcPr marL="133350" marR="133350" marT="95250" marB="76200" anchor="t">
                    <a:solidFill>
                      <a:srgbClr val="EDF2EF"/>
                    </a:solidFill>
                  </a:tcPr>
                </a:tc>
                <a:tc>
                  <a:txBody>
                    <a:bodyPr/>
                    <a:lstStyle/>
                    <a:p>
                      <a:r>
                        <a:rPr sz="1875">
                          <a:solidFill>
                            <a:srgbClr val="203640"/>
                          </a:solidFill>
                          <a:latin typeface="Hiragino Sans"/>
                          <a:ea typeface="Hiragino Sans"/>
                          <a:cs typeface="Hiragino Sans"/>
                        </a:rPr>
                        <a:t>失敗時の動作、回数・予算上限、本文の保持設定</a:t>
                      </a:r>
                    </a:p>
                  </a:txBody>
                  <a:tcPr marL="133350" marR="133350" marT="95250" marB="76200" anchor="t">
                    <a:solidFill>
                      <a:srgbClr val="EDF2EF"/>
                    </a:solidFill>
                  </a:tcPr>
                </a:tc>
              </a:tr>
            </a:tbl>
          </a:graphicData>
        </a:graphic>
      </p:graphicFrame>
      <p:sp>
        <p:nvSpPr>
          <p:cNvPr id="5" name="text-14-3">
            <a:extLst xmlns:a="http://schemas.openxmlformats.org/drawingml/2006/main">
              <a:ext uri="{FF2B5EF4-FFF2-40B4-BE49-F238E27FC236}">
                <a16:creationId xmlns:a16="http://schemas.microsoft.com/office/drawing/2014/main" id="{7A85DC46-0BD8-48E7-9AE1-9DA6DA13DD20}"/>
              </a:ext>
            </a:extLst>
          </p:cNvPr>
          <p:cNvSpPr>
            <a:spLocks xmlns:a="http://schemas.openxmlformats.org/drawingml/2006/main" noGrp="1"/>
          </p:cNvSpPr>
          <p:nvPr/>
        </p:nvSpPr>
        <p:spPr>
          <a:xfrm xmlns:a="http://schemas.openxmlformats.org/drawingml/2006/main">
            <a:off x="609600" y="5562600"/>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BE542A"/>
                </a:solidFill>
                <a:latin typeface="Hiragino Sans"/>
                <a:ea typeface="Hiragino Sans"/>
                <a:cs typeface="Hiragino Sans"/>
              </a:defRPr>
            </a:pPr>
            <a:r>
              <a:rPr sz="2100" b="1">
                <a:solidFill>
                  <a:srgbClr val="BE542A"/>
                </a:solidFill>
                <a:latin typeface="Hiragino Sans"/>
                <a:ea typeface="Hiragino Sans"/>
                <a:cs typeface="Hiragino Sans"/>
              </a:rPr>
              <a:t>接続失敗は両案共通の障害。題材を変えても解消しない。</a:t>
            </a:r>
          </a:p>
        </p:txBody>
      </p:sp>
    </p:spTree>
    <p:extLst>
      <p:ext uri="{BB962C8B-B14F-4D97-AF65-F5344CB8AC3E}">
        <p14:creationId xmlns:p14="http://schemas.microsoft.com/office/powerpoint/2010/main" val="1847107309"/>
      </p:ext>
    </p:extLst>
  </p:cSld>
</p:sld>
</file>

<file path=ppt/slides/slide15.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6" name="text-15-0">
            <a:extLst xmlns:a="http://schemas.openxmlformats.org/drawingml/2006/main">
              <a:ext uri="{FF2B5EF4-FFF2-40B4-BE49-F238E27FC236}">
                <a16:creationId xmlns:a16="http://schemas.microsoft.com/office/drawing/2014/main" id="{C1588CF6-7336-49A5-856F-23460CDAC5CF}"/>
              </a:ext>
            </a:extLst>
          </p:cNvPr>
          <p:cNvSpPr>
            <a:spLocks xmlns:a="http://schemas.openxmlformats.org/drawingml/2006/main" noGrp="1"/>
          </p:cNvSpPr>
          <p:nvPr/>
        </p:nvSpPr>
        <p:spPr>
          <a:xfrm xmlns:a="http://schemas.openxmlformats.org/drawingml/2006/main">
            <a:off x="609600" y="409575"/>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32B3A"/>
                </a:solidFill>
                <a:latin typeface="Hiragino Sans"/>
                <a:ea typeface="Hiragino Sans"/>
                <a:cs typeface="Hiragino Sans"/>
              </a:defRPr>
            </a:pPr>
            <a:r>
              <a:rPr sz="3300" b="1">
                <a:solidFill>
                  <a:srgbClr val="132B3A"/>
                </a:solidFill>
                <a:latin typeface="Hiragino Sans"/>
                <a:ea typeface="Hiragino Sans"/>
                <a:cs typeface="Hiragino Sans"/>
              </a:rPr>
              <a:t>安全性は拒否・制約検査の動作で示す</a:t>
            </a:r>
          </a:p>
        </p:txBody>
      </p:sp>
      <p:sp>
        <p:nvSpPr>
          <p:cNvPr id="2" name="text-15-1">
            <a:extLst xmlns:a="http://schemas.openxmlformats.org/drawingml/2006/main">
              <a:ext uri="{FF2B5EF4-FFF2-40B4-BE49-F238E27FC236}">
                <a16:creationId xmlns:a16="http://schemas.microsoft.com/office/drawing/2014/main" id="{27FBDD0B-C74F-4ECB-8B21-6ADD475E9989}"/>
              </a:ext>
            </a:extLst>
          </p:cNvPr>
          <p:cNvSpPr>
            <a:spLocks xmlns:a="http://schemas.openxmlformats.org/drawingml/2006/main" noGrp="1"/>
          </p:cNvSpPr>
          <p:nvPr/>
        </p:nvSpPr>
        <p:spPr>
          <a:xfrm xmlns:a="http://schemas.openxmlformats.org/drawingml/2006/main">
            <a:off x="11077575" y="6391275"/>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D6B73"/>
                </a:solidFill>
                <a:latin typeface="Hiragino Sans"/>
                <a:ea typeface="Hiragino Sans"/>
                <a:cs typeface="Hiragino Sans"/>
              </a:defRPr>
            </a:pPr>
            <a:r>
              <a:rPr sz="1275" b="0">
                <a:solidFill>
                  <a:srgbClr val="5D6B73"/>
                </a:solidFill>
                <a:latin typeface="Hiragino Sans"/>
                <a:ea typeface="Hiragino Sans"/>
                <a:cs typeface="Hiragino Sans"/>
              </a:rPr>
              <a:t>15</a:t>
            </a:r>
          </a:p>
        </p:txBody>
      </p:sp>
      <p:sp>
        <p:nvSpPr>
          <p:cNvPr id="3" name="text-15-2">
            <a:extLst xmlns:a="http://schemas.openxmlformats.org/drawingml/2006/main">
              <a:ext uri="{FF2B5EF4-FFF2-40B4-BE49-F238E27FC236}">
                <a16:creationId xmlns:a16="http://schemas.microsoft.com/office/drawing/2014/main" id="{E6E58F70-EEA0-4B6E-9F38-1A7E62900DB6}"/>
              </a:ext>
            </a:extLst>
          </p:cNvPr>
          <p:cNvSpPr>
            <a:spLocks xmlns:a="http://schemas.openxmlformats.org/drawingml/2006/main" noGrp="1"/>
          </p:cNvSpPr>
          <p:nvPr/>
        </p:nvSpPr>
        <p:spPr>
          <a:xfrm xmlns:a="http://schemas.openxmlformats.org/drawingml/2006/main">
            <a:off x="609600" y="6238875"/>
            <a:ext cx="10144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D6B73"/>
                </a:solidFill>
                <a:latin typeface="Hiragino Sans"/>
                <a:ea typeface="Hiragino Sans"/>
                <a:cs typeface="Hiragino Sans"/>
              </a:defRPr>
            </a:pPr>
            <a:r>
              <a:rPr sz="1275" b="0">
                <a:solidFill>
                  <a:srgbClr val="5D6B73"/>
                </a:solidFill>
                <a:latin typeface="Hiragino Sans"/>
                <a:ea typeface="Hiragino Sans"/>
                <a:cs typeface="Hiragino Sans"/>
              </a:rPr>
              <a:t>架空データを使用。実従業員・実取引先への連絡は今回の範囲外。</a:t>
            </a:r>
          </a:p>
        </p:txBody>
      </p:sp>
      <p:graphicFrame>
        <p:nvGraphicFramePr>
          <p:cNvPr id="9" name=""/>
          <p:cNvGraphicFramePr/>
          <p:nvPr/>
        </p:nvGraphicFramePr>
        <p:xfrm>
          <a:off xmlns:a="http://schemas.openxmlformats.org/drawingml/2006/main" x="609600" y="1457325"/>
          <a:ext xmlns:a="http://schemas.openxmlformats.org/drawingml/2006/main" cx="10972800" cy="3810000"/>
        </p:xfrm>
        <a:graphic xmlns:a="http://schemas.openxmlformats.org/drawingml/2006/main">
          <a:graphicData uri="http://schemas.openxmlformats.org/drawingml/2006/table">
            <a:tbl>
              <a:tblPr/>
              <a:tblGrid>
                <a:gridCol w="4000500"/>
                <a:gridCol w="6972300"/>
              </a:tblGrid>
              <a:tr h="533400">
                <a:tc>
                  <a:txBody>
                    <a:bodyPr/>
                    <a:lstStyle/>
                    <a:p>
                      <a:r>
                        <a:rPr sz="1875" b="1">
                          <a:solidFill>
                            <a:srgbClr val="FFFFFF"/>
                          </a:solidFill>
                          <a:latin typeface="Hiragino Sans"/>
                          <a:ea typeface="Hiragino Sans"/>
                          <a:cs typeface="Hiragino Sans"/>
                        </a:rPr>
                        <a:t>入力・状況</a:t>
                      </a:r>
                    </a:p>
                  </a:txBody>
                  <a:tcPr marL="133350" marR="133350" marT="95250" marB="76200" anchor="t">
                    <a:solidFill>
                      <a:srgbClr val="132B3A"/>
                    </a:solidFill>
                  </a:tcPr>
                </a:tc>
                <a:tc>
                  <a:txBody>
                    <a:bodyPr/>
                    <a:lstStyle/>
                    <a:p>
                      <a:r>
                        <a:rPr sz="1875" b="1">
                          <a:solidFill>
                            <a:srgbClr val="FFFFFF"/>
                          </a:solidFill>
                          <a:latin typeface="Hiragino Sans"/>
                          <a:ea typeface="Hiragino Sans"/>
                          <a:cs typeface="Hiragino Sans"/>
                        </a:rPr>
                        <a:t>期待する動作</a:t>
                      </a:r>
                    </a:p>
                  </a:txBody>
                  <a:tcPr marL="133350" marR="133350" marT="95250" marB="76200" anchor="t">
                    <a:solidFill>
                      <a:srgbClr val="132B3A"/>
                    </a:solidFill>
                  </a:tcPr>
                </a:tc>
              </a:tr>
              <a:tr h="819150">
                <a:tc>
                  <a:txBody>
                    <a:bodyPr/>
                    <a:lstStyle/>
                    <a:p>
                      <a:r>
                        <a:rPr sz="1875">
                          <a:solidFill>
                            <a:srgbClr val="203640"/>
                          </a:solidFill>
                          <a:latin typeface="Hiragino Sans"/>
                          <a:ea typeface="Hiragino Sans"/>
                          <a:cs typeface="Hiragino Sans"/>
                        </a:rPr>
                        <a:t>他人の連絡先を要求する返信</a:t>
                      </a:r>
                    </a:p>
                  </a:txBody>
                  <a:tcPr marL="133350" marR="133350" marT="95250" marB="76200" anchor="t">
                    <a:solidFill>
                      <a:srgbClr val="FFFFFF"/>
                    </a:solidFill>
                  </a:tcPr>
                </a:tc>
                <a:tc>
                  <a:txBody>
                    <a:bodyPr/>
                    <a:lstStyle/>
                    <a:p>
                      <a:r>
                        <a:rPr sz="1875">
                          <a:solidFill>
                            <a:srgbClr val="203640"/>
                          </a:solidFill>
                          <a:latin typeface="Hiragino Sans"/>
                          <a:ea typeface="Hiragino Sans"/>
                          <a:cs typeface="Hiragino Sans"/>
                        </a:rPr>
                        <a:t>情報を渡さない。外部の文面で権限を変更しない</a:t>
                      </a:r>
                    </a:p>
                  </a:txBody>
                  <a:tcPr marL="133350" marR="133350" marT="95250" marB="76200" anchor="t">
                    <a:solidFill>
                      <a:srgbClr val="FFFFFF"/>
                    </a:solidFill>
                  </a:tcPr>
                </a:tc>
              </a:tr>
              <a:tr h="819150">
                <a:tc>
                  <a:txBody>
                    <a:bodyPr/>
                    <a:lstStyle/>
                    <a:p>
                      <a:r>
                        <a:rPr sz="1875">
                          <a:solidFill>
                            <a:srgbClr val="203640"/>
                          </a:solidFill>
                          <a:latin typeface="Hiragino Sans"/>
                          <a:ea typeface="Hiragino Sans"/>
                          <a:cs typeface="Hiragino Sans"/>
                        </a:rPr>
                        <a:t>未許可の宛先・対象への操作</a:t>
                      </a:r>
                    </a:p>
                  </a:txBody>
                  <a:tcPr marL="133350" marR="133350" marT="95250" marB="76200" anchor="t">
                    <a:solidFill>
                      <a:srgbClr val="EDF2EF"/>
                    </a:solidFill>
                  </a:tcPr>
                </a:tc>
                <a:tc>
                  <a:txBody>
                    <a:bodyPr/>
                    <a:lstStyle/>
                    <a:p>
                      <a:r>
                        <a:rPr sz="1875">
                          <a:solidFill>
                            <a:srgbClr val="203640"/>
                          </a:solidFill>
                          <a:latin typeface="Hiragino Sans"/>
                          <a:ea typeface="Hiragino Sans"/>
                          <a:cs typeface="Hiragino Sans"/>
                        </a:rPr>
                        <a:t>IDから解決した許可済み対象に限定する</a:t>
                      </a:r>
                    </a:p>
                  </a:txBody>
                  <a:tcPr marL="133350" marR="133350" marT="95250" marB="76200" anchor="t">
                    <a:solidFill>
                      <a:srgbClr val="EDF2EF"/>
                    </a:solidFill>
                  </a:tcPr>
                </a:tc>
              </a:tr>
              <a:tr h="819150">
                <a:tc>
                  <a:txBody>
                    <a:bodyPr/>
                    <a:lstStyle/>
                    <a:p>
                      <a:r>
                        <a:rPr sz="1875">
                          <a:solidFill>
                            <a:srgbClr val="203640"/>
                          </a:solidFill>
                          <a:latin typeface="Hiragino Sans"/>
                          <a:ea typeface="Hiragino Sans"/>
                          <a:cs typeface="Hiragino Sans"/>
                        </a:rPr>
                        <a:t>実名・欠勤理由・取引先情報</a:t>
                      </a:r>
                    </a:p>
                  </a:txBody>
                  <a:tcPr marL="133350" marR="133350" marT="95250" marB="76200" anchor="t">
                    <a:solidFill>
                      <a:srgbClr val="FFFFFF"/>
                    </a:solidFill>
                  </a:tcPr>
                </a:tc>
                <a:tc>
                  <a:txBody>
                    <a:bodyPr/>
                    <a:lstStyle/>
                    <a:p>
                      <a:r>
                        <a:rPr sz="1875">
                          <a:solidFill>
                            <a:srgbClr val="203640"/>
                          </a:solidFill>
                          <a:latin typeface="Hiragino Sans"/>
                          <a:ea typeface="Hiragino Sans"/>
                          <a:cs typeface="Hiragino Sans"/>
                        </a:rPr>
                        <a:t>必要な情報だけ渡し、ログにも不要な本文を残さない</a:t>
                      </a:r>
                    </a:p>
                  </a:txBody>
                  <a:tcPr marL="133350" marR="133350" marT="95250" marB="76200" anchor="t">
                    <a:solidFill>
                      <a:srgbClr val="FFFFFF"/>
                    </a:solidFill>
                  </a:tcPr>
                </a:tc>
              </a:tr>
              <a:tr h="819150">
                <a:tc>
                  <a:txBody>
                    <a:bodyPr/>
                    <a:lstStyle/>
                    <a:p>
                      <a:r>
                        <a:rPr sz="1875">
                          <a:solidFill>
                            <a:srgbClr val="203640"/>
                          </a:solidFill>
                          <a:latin typeface="Hiragino Sans"/>
                          <a:ea typeface="Hiragino Sans"/>
                          <a:cs typeface="Hiragino Sans"/>
                        </a:rPr>
                        <a:t>モデルがルール変更を提案</a:t>
                      </a:r>
                    </a:p>
                  </a:txBody>
                  <a:tcPr marL="133350" marR="133350" marT="95250" marB="76200" anchor="t">
                    <a:solidFill>
                      <a:srgbClr val="EDF2EF"/>
                    </a:solidFill>
                  </a:tcPr>
                </a:tc>
                <a:tc>
                  <a:txBody>
                    <a:bodyPr/>
                    <a:lstStyle/>
                    <a:p>
                      <a:r>
                        <a:rPr sz="1875">
                          <a:solidFill>
                            <a:srgbClr val="203640"/>
                          </a:solidFill>
                          <a:latin typeface="Hiragino Sans"/>
                          <a:ea typeface="Hiragino Sans"/>
                          <a:cs typeface="Hiragino Sans"/>
                        </a:rPr>
                        <a:t>実行前のコードによる検査で拒否する</a:t>
                      </a:r>
                    </a:p>
                  </a:txBody>
                  <a:tcPr marL="133350" marR="133350" marT="95250" marB="76200" anchor="t">
                    <a:solidFill>
                      <a:srgbClr val="EDF2EF"/>
                    </a:solidFill>
                  </a:tcPr>
                </a:tc>
              </a:tr>
            </a:tbl>
          </a:graphicData>
        </a:graphic>
      </p:graphicFrame>
      <p:sp>
        <p:nvSpPr>
          <p:cNvPr id="5" name="text-15-3">
            <a:extLst xmlns:a="http://schemas.openxmlformats.org/drawingml/2006/main">
              <a:ext uri="{FF2B5EF4-FFF2-40B4-BE49-F238E27FC236}">
                <a16:creationId xmlns:a16="http://schemas.microsoft.com/office/drawing/2014/main" id="{6A72A82E-937E-4F53-AE85-315746E8F194}"/>
              </a:ext>
            </a:extLst>
          </p:cNvPr>
          <p:cNvSpPr>
            <a:spLocks xmlns:a="http://schemas.openxmlformats.org/drawingml/2006/main" noGrp="1"/>
          </p:cNvSpPr>
          <p:nvPr/>
        </p:nvSpPr>
        <p:spPr>
          <a:xfrm xmlns:a="http://schemas.openxmlformats.org/drawingml/2006/main">
            <a:off x="609600" y="5553075"/>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203640"/>
                </a:solidFill>
                <a:latin typeface="Hiragino Sans"/>
                <a:ea typeface="Hiragino Sans"/>
                <a:cs typeface="Hiragino Sans"/>
              </a:defRPr>
            </a:pPr>
            <a:r>
              <a:rPr sz="1800" b="0">
                <a:solidFill>
                  <a:srgbClr val="203640"/>
                </a:solidFill>
                <a:latin typeface="Hiragino Sans"/>
                <a:ea typeface="Hiragino Sans"/>
                <a:cs typeface="Hiragino Sans"/>
              </a:rPr>
              <a:t>APIキーはサーバー側。画面には内部思考でなく、行動と検証根拠を表示。</a:t>
            </a:r>
          </a:p>
        </p:txBody>
      </p:sp>
    </p:spTree>
    <p:extLst>
      <p:ext uri="{BB962C8B-B14F-4D97-AF65-F5344CB8AC3E}">
        <p14:creationId xmlns:p14="http://schemas.microsoft.com/office/powerpoint/2010/main" val="1125740517"/>
      </p:ext>
    </p:extLst>
  </p:cSld>
</p:sld>
</file>

<file path=ppt/slides/slide16.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5" name="text-16-0">
            <a:extLst xmlns:a="http://schemas.openxmlformats.org/drawingml/2006/main">
              <a:ext uri="{FF2B5EF4-FFF2-40B4-BE49-F238E27FC236}">
                <a16:creationId xmlns:a16="http://schemas.microsoft.com/office/drawing/2014/main" id="{4321BF43-78CB-427F-BE9C-63C7260C7E25}"/>
              </a:ext>
            </a:extLst>
          </p:cNvPr>
          <p:cNvSpPr>
            <a:spLocks xmlns:a="http://schemas.openxmlformats.org/drawingml/2006/main" noGrp="1"/>
          </p:cNvSpPr>
          <p:nvPr/>
        </p:nvSpPr>
        <p:spPr>
          <a:xfrm xmlns:a="http://schemas.openxmlformats.org/drawingml/2006/main">
            <a:off x="609600" y="409575"/>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32B3A"/>
                </a:solidFill>
                <a:latin typeface="Hiragino Sans"/>
                <a:ea typeface="Hiragino Sans"/>
                <a:cs typeface="Hiragino Sans"/>
              </a:defRPr>
            </a:pPr>
            <a:r>
              <a:rPr sz="3300" b="1">
                <a:solidFill>
                  <a:srgbClr val="132B3A"/>
                </a:solidFill>
                <a:latin typeface="Hiragino Sans"/>
                <a:ea typeface="Hiragino Sans"/>
                <a:cs typeface="Hiragino Sans"/>
              </a:rPr>
              <a:t>堅牢性は重複・競合・不明な結果で検証する</a:t>
            </a:r>
          </a:p>
        </p:txBody>
      </p:sp>
      <p:sp>
        <p:nvSpPr>
          <p:cNvPr id="2" name="text-16-1">
            <a:extLst xmlns:a="http://schemas.openxmlformats.org/drawingml/2006/main">
              <a:ext uri="{FF2B5EF4-FFF2-40B4-BE49-F238E27FC236}">
                <a16:creationId xmlns:a16="http://schemas.microsoft.com/office/drawing/2014/main" id="{E98C4A62-5C69-4A95-B7BD-DC5F9FDAB415}"/>
              </a:ext>
            </a:extLst>
          </p:cNvPr>
          <p:cNvSpPr>
            <a:spLocks xmlns:a="http://schemas.openxmlformats.org/drawingml/2006/main" noGrp="1"/>
          </p:cNvSpPr>
          <p:nvPr/>
        </p:nvSpPr>
        <p:spPr>
          <a:xfrm xmlns:a="http://schemas.openxmlformats.org/drawingml/2006/main">
            <a:off x="11077575" y="6391275"/>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D6B73"/>
                </a:solidFill>
                <a:latin typeface="Hiragino Sans"/>
                <a:ea typeface="Hiragino Sans"/>
                <a:cs typeface="Hiragino Sans"/>
              </a:defRPr>
            </a:pPr>
            <a:r>
              <a:rPr sz="1275" b="0">
                <a:solidFill>
                  <a:srgbClr val="5D6B73"/>
                </a:solidFill>
                <a:latin typeface="Hiragino Sans"/>
                <a:ea typeface="Hiragino Sans"/>
                <a:cs typeface="Hiragino Sans"/>
              </a:rPr>
              <a:t>16</a:t>
            </a:r>
          </a:p>
        </p:txBody>
      </p:sp>
      <p:sp>
        <p:nvSpPr>
          <p:cNvPr id="3" name="text-16-2">
            <a:extLst xmlns:a="http://schemas.openxmlformats.org/drawingml/2006/main">
              <a:ext uri="{FF2B5EF4-FFF2-40B4-BE49-F238E27FC236}">
                <a16:creationId xmlns:a16="http://schemas.microsoft.com/office/drawing/2014/main" id="{2A612976-6ABA-4207-AAFE-C56918EC8B7B}"/>
              </a:ext>
            </a:extLst>
          </p:cNvPr>
          <p:cNvSpPr>
            <a:spLocks xmlns:a="http://schemas.openxmlformats.org/drawingml/2006/main" noGrp="1"/>
          </p:cNvSpPr>
          <p:nvPr/>
        </p:nvSpPr>
        <p:spPr>
          <a:xfrm xmlns:a="http://schemas.openxmlformats.org/drawingml/2006/main">
            <a:off x="609600" y="6238875"/>
            <a:ext cx="10144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D6B73"/>
                </a:solidFill>
                <a:latin typeface="Hiragino Sans"/>
                <a:ea typeface="Hiragino Sans"/>
                <a:cs typeface="Hiragino Sans"/>
              </a:defRPr>
            </a:pPr>
            <a:r>
              <a:rPr sz="1275" b="0">
                <a:solidFill>
                  <a:srgbClr val="5D6B73"/>
                </a:solidFill>
                <a:latin typeface="Hiragino Sans"/>
                <a:ea typeface="Hiragino Sans"/>
                <a:cs typeface="Hiragino Sans"/>
              </a:rPr>
              <a:t>ログを残すだけでなく、実際に二重確定や誤更新を防げるか確認する。</a:t>
            </a:r>
          </a:p>
        </p:txBody>
      </p:sp>
      <p:graphicFrame>
        <p:nvGraphicFramePr>
          <p:cNvPr id="8" name=""/>
          <p:cNvGraphicFramePr/>
          <p:nvPr/>
        </p:nvGraphicFramePr>
        <p:xfrm>
          <a:off xmlns:a="http://schemas.openxmlformats.org/drawingml/2006/main" x="609600" y="1457325"/>
          <a:ext xmlns:a="http://schemas.openxmlformats.org/drawingml/2006/main" cx="10972800" cy="4381500"/>
        </p:xfrm>
        <a:graphic xmlns:a="http://schemas.openxmlformats.org/drawingml/2006/main">
          <a:graphicData uri="http://schemas.openxmlformats.org/drawingml/2006/table">
            <a:tbl>
              <a:tblPr/>
              <a:tblGrid>
                <a:gridCol w="3714750"/>
                <a:gridCol w="7258050"/>
              </a:tblGrid>
              <a:tr h="533400">
                <a:tc>
                  <a:txBody>
                    <a:bodyPr/>
                    <a:lstStyle/>
                    <a:p>
                      <a:r>
                        <a:rPr sz="1800" b="1">
                          <a:solidFill>
                            <a:srgbClr val="FFFFFF"/>
                          </a:solidFill>
                          <a:latin typeface="Hiragino Sans"/>
                          <a:ea typeface="Hiragino Sans"/>
                          <a:cs typeface="Hiragino Sans"/>
                        </a:rPr>
                        <a:t>失敗ケース</a:t>
                      </a:r>
                    </a:p>
                  </a:txBody>
                  <a:tcPr marL="133350" marR="133350" marT="95250" marB="76200" anchor="t">
                    <a:solidFill>
                      <a:srgbClr val="132B3A"/>
                    </a:solidFill>
                  </a:tcPr>
                </a:tc>
                <a:tc>
                  <a:txBody>
                    <a:bodyPr/>
                    <a:lstStyle/>
                    <a:p>
                      <a:r>
                        <a:rPr sz="1800" b="1">
                          <a:solidFill>
                            <a:srgbClr val="FFFFFF"/>
                          </a:solidFill>
                          <a:latin typeface="Hiragino Sans"/>
                          <a:ea typeface="Hiragino Sans"/>
                          <a:cs typeface="Hiragino Sans"/>
                        </a:rPr>
                        <a:t>実装する対処</a:t>
                      </a:r>
                    </a:p>
                  </a:txBody>
                  <a:tcPr marL="133350" marR="133350" marT="95250" marB="76200" anchor="t">
                    <a:solidFill>
                      <a:srgbClr val="132B3A"/>
                    </a:solidFill>
                  </a:tcPr>
                </a:tc>
              </a:tr>
              <a:tr h="769620">
                <a:tc>
                  <a:txBody>
                    <a:bodyPr/>
                    <a:lstStyle/>
                    <a:p>
                      <a:r>
                        <a:rPr sz="1800">
                          <a:solidFill>
                            <a:srgbClr val="203640"/>
                          </a:solidFill>
                          <a:latin typeface="Hiragino Sans"/>
                          <a:ea typeface="Hiragino Sans"/>
                          <a:cs typeface="Hiragino Sans"/>
                        </a:rPr>
                        <a:t>同じ返信を2回受信</a:t>
                      </a:r>
                    </a:p>
                  </a:txBody>
                  <a:tcPr marL="133350" marR="133350" marT="95250" marB="76200" anchor="t">
                    <a:solidFill>
                      <a:srgbClr val="FFFFFF"/>
                    </a:solidFill>
                  </a:tcPr>
                </a:tc>
                <a:tc>
                  <a:txBody>
                    <a:bodyPr/>
                    <a:lstStyle/>
                    <a:p>
                      <a:r>
                        <a:rPr sz="1800">
                          <a:solidFill>
                            <a:srgbClr val="203640"/>
                          </a:solidFill>
                          <a:latin typeface="Hiragino Sans"/>
                          <a:ea typeface="Hiragino Sans"/>
                          <a:cs typeface="Hiragino Sans"/>
                        </a:rPr>
                        <a:t>イベントIDで重複を除き、同じ操作を一度だけ実行</a:t>
                      </a:r>
                    </a:p>
                  </a:txBody>
                  <a:tcPr marL="133350" marR="133350" marT="95250" marB="76200" anchor="t">
                    <a:solidFill>
                      <a:srgbClr val="FFFFFF"/>
                    </a:solidFill>
                  </a:tcPr>
                </a:tc>
              </a:tr>
              <a:tr h="769620">
                <a:tc>
                  <a:txBody>
                    <a:bodyPr/>
                    <a:lstStyle/>
                    <a:p>
                      <a:r>
                        <a:rPr sz="1800">
                          <a:solidFill>
                            <a:srgbClr val="203640"/>
                          </a:solidFill>
                          <a:latin typeface="Hiragino Sans"/>
                          <a:ea typeface="Hiragino Sans"/>
                          <a:cs typeface="Hiragino Sans"/>
                        </a:rPr>
                        <a:t>同じ枠に複数人が承諾</a:t>
                      </a:r>
                    </a:p>
                  </a:txBody>
                  <a:tcPr marL="133350" marR="133350" marT="95250" marB="76200" anchor="t">
                    <a:solidFill>
                      <a:srgbClr val="EDF2EF"/>
                    </a:solidFill>
                  </a:tcPr>
                </a:tc>
                <a:tc>
                  <a:txBody>
                    <a:bodyPr/>
                    <a:lstStyle/>
                    <a:p>
                      <a:r>
                        <a:rPr sz="1800">
                          <a:solidFill>
                            <a:srgbClr val="203640"/>
                          </a:solidFill>
                          <a:latin typeface="Hiragino Sans"/>
                          <a:ea typeface="Hiragino Sans"/>
                          <a:cs typeface="Hiragino Sans"/>
                        </a:rPr>
                        <a:t>最新状態と枠の一意性を確認して確定</a:t>
                      </a:r>
                    </a:p>
                  </a:txBody>
                  <a:tcPr marL="133350" marR="133350" marT="95250" marB="76200" anchor="t">
                    <a:solidFill>
                      <a:srgbClr val="EDF2EF"/>
                    </a:solidFill>
                  </a:tcPr>
                </a:tc>
              </a:tr>
              <a:tr h="769620">
                <a:tc>
                  <a:txBody>
                    <a:bodyPr/>
                    <a:lstStyle/>
                    <a:p>
                      <a:r>
                        <a:rPr sz="1800">
                          <a:solidFill>
                            <a:srgbClr val="203640"/>
                          </a:solidFill>
                          <a:latin typeface="Hiragino Sans"/>
                          <a:ea typeface="Hiragino Sans"/>
                          <a:cs typeface="Hiragino Sans"/>
                        </a:rPr>
                        <a:t>更新後に応答が消える</a:t>
                      </a:r>
                    </a:p>
                  </a:txBody>
                  <a:tcPr marL="133350" marR="133350" marT="95250" marB="76200" anchor="t">
                    <a:solidFill>
                      <a:srgbClr val="FFFFFF"/>
                    </a:solidFill>
                  </a:tcPr>
                </a:tc>
                <a:tc>
                  <a:txBody>
                    <a:bodyPr/>
                    <a:lstStyle/>
                    <a:p>
                      <a:r>
                        <a:rPr sz="1800">
                          <a:solidFill>
                            <a:srgbClr val="203640"/>
                          </a:solidFill>
                          <a:latin typeface="Hiragino Sans"/>
                          <a:ea typeface="Hiragino Sans"/>
                          <a:cs typeface="Hiragino Sans"/>
                        </a:rPr>
                        <a:t>実行IDで結果を照会。成否不明のまま再実行しない</a:t>
                      </a:r>
                    </a:p>
                  </a:txBody>
                  <a:tcPr marL="133350" marR="133350" marT="95250" marB="76200" anchor="t">
                    <a:solidFill>
                      <a:srgbClr val="FFFFFF"/>
                    </a:solidFill>
                  </a:tcPr>
                </a:tc>
              </a:tr>
              <a:tr h="769620">
                <a:tc>
                  <a:txBody>
                    <a:bodyPr/>
                    <a:lstStyle/>
                    <a:p>
                      <a:r>
                        <a:rPr sz="1800">
                          <a:solidFill>
                            <a:srgbClr val="203640"/>
                          </a:solidFill>
                          <a:latin typeface="Hiragino Sans"/>
                          <a:ea typeface="Hiragino Sans"/>
                          <a:cs typeface="Hiragino Sans"/>
                        </a:rPr>
                        <a:t>途中で人が編集</a:t>
                      </a:r>
                    </a:p>
                  </a:txBody>
                  <a:tcPr marL="133350" marR="133350" marT="95250" marB="76200" anchor="t">
                    <a:solidFill>
                      <a:srgbClr val="EDF2EF"/>
                    </a:solidFill>
                  </a:tcPr>
                </a:tc>
                <a:tc>
                  <a:txBody>
                    <a:bodyPr/>
                    <a:lstStyle/>
                    <a:p>
                      <a:r>
                        <a:rPr sz="1800">
                          <a:solidFill>
                            <a:srgbClr val="203640"/>
                          </a:solidFill>
                          <a:latin typeface="Hiragino Sans"/>
                          <a:ea typeface="Hiragino Sans"/>
                          <a:cs typeface="Hiragino Sans"/>
                        </a:rPr>
                        <a:t>対象の版を確認し、古い状態で上書きしない</a:t>
                      </a:r>
                    </a:p>
                  </a:txBody>
                  <a:tcPr marL="133350" marR="133350" marT="95250" marB="76200" anchor="t">
                    <a:solidFill>
                      <a:srgbClr val="EDF2EF"/>
                    </a:solidFill>
                  </a:tcPr>
                </a:tc>
              </a:tr>
              <a:tr h="769620">
                <a:tc>
                  <a:txBody>
                    <a:bodyPr/>
                    <a:lstStyle/>
                    <a:p>
                      <a:r>
                        <a:rPr sz="1800">
                          <a:solidFill>
                            <a:srgbClr val="203640"/>
                          </a:solidFill>
                          <a:latin typeface="Hiragino Sans"/>
                          <a:ea typeface="Hiragino Sans"/>
                          <a:cs typeface="Hiragino Sans"/>
                        </a:rPr>
                        <a:t>期限後に承諾が届く</a:t>
                      </a:r>
                    </a:p>
                  </a:txBody>
                  <a:tcPr marL="133350" marR="133350" marT="95250" marB="76200" anchor="t">
                    <a:solidFill>
                      <a:srgbClr val="FFFFFF"/>
                    </a:solidFill>
                  </a:tcPr>
                </a:tc>
                <a:tc>
                  <a:txBody>
                    <a:bodyPr/>
                    <a:lstStyle/>
                    <a:p>
                      <a:r>
                        <a:rPr sz="1800">
                          <a:solidFill>
                            <a:srgbClr val="203640"/>
                          </a:solidFill>
                          <a:latin typeface="Hiragino Sans"/>
                          <a:ea typeface="Hiragino Sans"/>
                          <a:cs typeface="Hiragino Sans"/>
                        </a:rPr>
                        <a:t>期限切れとして扱い、確定済み枠を変更しない</a:t>
                      </a:r>
                    </a:p>
                  </a:txBody>
                  <a:tcPr marL="133350" marR="133350" marT="95250" marB="76200" anchor="t">
                    <a:solidFill>
                      <a:srgbClr val="FFFFFF"/>
                    </a:solidFill>
                  </a:tcPr>
                </a:tc>
              </a:tr>
            </a:tbl>
          </a:graphicData>
        </a:graphic>
      </p:graphicFrame>
    </p:spTree>
    <p:extLst>
      <p:ext uri="{BB962C8B-B14F-4D97-AF65-F5344CB8AC3E}">
        <p14:creationId xmlns:p14="http://schemas.microsoft.com/office/powerpoint/2010/main" val="773541986"/>
      </p:ext>
    </p:extLst>
  </p:cSld>
</p:sld>
</file>

<file path=ppt/slides/slide17.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10" name="text-17-0">
            <a:extLst xmlns:a="http://schemas.openxmlformats.org/drawingml/2006/main">
              <a:ext uri="{FF2B5EF4-FFF2-40B4-BE49-F238E27FC236}">
                <a16:creationId xmlns:a16="http://schemas.microsoft.com/office/drawing/2014/main" id="{F7DDADEC-E44B-4FFE-BEAA-47C0CBF63493}"/>
              </a:ext>
            </a:extLst>
          </p:cNvPr>
          <p:cNvSpPr>
            <a:spLocks xmlns:a="http://schemas.openxmlformats.org/drawingml/2006/main" noGrp="1"/>
          </p:cNvSpPr>
          <p:nvPr/>
        </p:nvSpPr>
        <p:spPr>
          <a:xfrm xmlns:a="http://schemas.openxmlformats.org/drawingml/2006/main">
            <a:off x="609600" y="409575"/>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32B3A"/>
                </a:solidFill>
                <a:latin typeface="Hiragino Sans"/>
                <a:ea typeface="Hiragino Sans"/>
                <a:cs typeface="Hiragino Sans"/>
              </a:defRPr>
            </a:pPr>
            <a:r>
              <a:rPr sz="3300" b="1">
                <a:solidFill>
                  <a:srgbClr val="132B3A"/>
                </a:solidFill>
                <a:latin typeface="Hiragino Sans"/>
                <a:ea typeface="Hiragino Sans"/>
                <a:cs typeface="Hiragino Sans"/>
              </a:rPr>
              <a:t>回数・予算・期限でループを終える</a:t>
            </a:r>
          </a:p>
        </p:txBody>
      </p:sp>
      <p:sp>
        <p:nvSpPr>
          <p:cNvPr id="2" name="text-17-1">
            <a:extLst xmlns:a="http://schemas.openxmlformats.org/drawingml/2006/main">
              <a:ext uri="{FF2B5EF4-FFF2-40B4-BE49-F238E27FC236}">
                <a16:creationId xmlns:a16="http://schemas.microsoft.com/office/drawing/2014/main" id="{269AF456-5F32-4AE4-9CAE-F5285476DEE4}"/>
              </a:ext>
            </a:extLst>
          </p:cNvPr>
          <p:cNvSpPr>
            <a:spLocks xmlns:a="http://schemas.openxmlformats.org/drawingml/2006/main" noGrp="1"/>
          </p:cNvSpPr>
          <p:nvPr/>
        </p:nvSpPr>
        <p:spPr>
          <a:xfrm xmlns:a="http://schemas.openxmlformats.org/drawingml/2006/main">
            <a:off x="11077575" y="6391275"/>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D6B73"/>
                </a:solidFill>
                <a:latin typeface="Hiragino Sans"/>
                <a:ea typeface="Hiragino Sans"/>
                <a:cs typeface="Hiragino Sans"/>
              </a:defRPr>
            </a:pPr>
            <a:r>
              <a:rPr sz="1275" b="0">
                <a:solidFill>
                  <a:srgbClr val="5D6B73"/>
                </a:solidFill>
                <a:latin typeface="Hiragino Sans"/>
                <a:ea typeface="Hiragino Sans"/>
                <a:cs typeface="Hiragino Sans"/>
              </a:rPr>
              <a:t>17</a:t>
            </a:r>
          </a:p>
        </p:txBody>
      </p:sp>
      <p:sp>
        <p:nvSpPr>
          <p:cNvPr id="3" name="text-17-2">
            <a:extLst xmlns:a="http://schemas.openxmlformats.org/drawingml/2006/main">
              <a:ext uri="{FF2B5EF4-FFF2-40B4-BE49-F238E27FC236}">
                <a16:creationId xmlns:a16="http://schemas.microsoft.com/office/drawing/2014/main" id="{C49ABEF2-470E-4E27-8138-2EA3A110F85D}"/>
              </a:ext>
            </a:extLst>
          </p:cNvPr>
          <p:cNvSpPr>
            <a:spLocks xmlns:a="http://schemas.openxmlformats.org/drawingml/2006/main" noGrp="1"/>
          </p:cNvSpPr>
          <p:nvPr/>
        </p:nvSpPr>
        <p:spPr>
          <a:xfrm xmlns:a="http://schemas.openxmlformats.org/drawingml/2006/main">
            <a:off x="609600" y="6238875"/>
            <a:ext cx="10144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D6B73"/>
                </a:solidFill>
                <a:latin typeface="Hiragino Sans"/>
                <a:ea typeface="Hiragino Sans"/>
                <a:cs typeface="Hiragino Sans"/>
              </a:defRPr>
            </a:pPr>
            <a:r>
              <a:rPr sz="1275" b="0">
                <a:solidFill>
                  <a:srgbClr val="5D6B73"/>
                </a:solidFill>
                <a:latin typeface="Hiragino Sans"/>
                <a:ea typeface="Hiragino Sans"/>
                <a:cs typeface="Hiragino Sans"/>
              </a:rPr>
              <a:t>回数は暫定設計値。予算額・返信期限はDay 1にチームで設定する。</a:t>
            </a:r>
          </a:p>
        </p:txBody>
      </p:sp>
      <p:sp>
        <p:nvSpPr>
          <p:cNvPr id="4" name="text-17-3">
            <a:extLst xmlns:a="http://schemas.openxmlformats.org/drawingml/2006/main">
              <a:ext uri="{FF2B5EF4-FFF2-40B4-BE49-F238E27FC236}">
                <a16:creationId xmlns:a16="http://schemas.microsoft.com/office/drawing/2014/main" id="{0867996E-E7AA-4C67-A244-F24C6AFED866}"/>
              </a:ext>
            </a:extLst>
          </p:cNvPr>
          <p:cNvSpPr>
            <a:spLocks xmlns:a="http://schemas.openxmlformats.org/drawingml/2006/main" noGrp="1"/>
          </p:cNvSpPr>
          <p:nvPr/>
        </p:nvSpPr>
        <p:spPr>
          <a:xfrm xmlns:a="http://schemas.openxmlformats.org/drawingml/2006/main">
            <a:off x="609600" y="1552575"/>
            <a:ext cx="2057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BE542A"/>
                </a:solidFill>
                <a:latin typeface="Hiragino Sans"/>
                <a:ea typeface="Hiragino Sans"/>
                <a:cs typeface="Hiragino Sans"/>
              </a:defRPr>
            </a:pPr>
            <a:r>
              <a:rPr sz="2175" b="1">
                <a:solidFill>
                  <a:srgbClr val="BE542A"/>
                </a:solidFill>
                <a:latin typeface="Hiragino Sans"/>
                <a:ea typeface="Hiragino Sans"/>
                <a:cs typeface="Hiragino Sans"/>
              </a:rPr>
              <a:t>回数の上限</a:t>
            </a:r>
          </a:p>
        </p:txBody>
      </p:sp>
      <p:sp>
        <p:nvSpPr>
          <p:cNvPr id="5" name="text-17-4">
            <a:extLst xmlns:a="http://schemas.openxmlformats.org/drawingml/2006/main">
              <a:ext uri="{FF2B5EF4-FFF2-40B4-BE49-F238E27FC236}">
                <a16:creationId xmlns:a16="http://schemas.microsoft.com/office/drawing/2014/main" id="{F3B196AC-67A2-46DC-AC85-77CBB567C00F}"/>
              </a:ext>
            </a:extLst>
          </p:cNvPr>
          <p:cNvSpPr>
            <a:spLocks xmlns:a="http://schemas.openxmlformats.org/drawingml/2006/main" noGrp="1"/>
          </p:cNvSpPr>
          <p:nvPr/>
        </p:nvSpPr>
        <p:spPr>
          <a:xfrm xmlns:a="http://schemas.openxmlformats.org/drawingml/2006/main">
            <a:off x="2876550" y="1552575"/>
            <a:ext cx="87058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203640"/>
                </a:solidFill>
                <a:latin typeface="Hiragino Sans"/>
                <a:ea typeface="Hiragino Sans"/>
                <a:cs typeface="Hiragino Sans"/>
              </a:defRPr>
            </a:pPr>
            <a:r>
              <a:rPr sz="2025" b="0">
                <a:solidFill>
                  <a:srgbClr val="203640"/>
                </a:solidFill>
                <a:latin typeface="Hiragino Sans"/>
                <a:ea typeface="Hiragino Sans"/>
                <a:cs typeface="Hiragino Sans"/>
              </a:rPr>
              <a:t>モデル呼び出しは1案件10回まで。</a:t>
            </a:r>
          </a:p>
          <a:p xmlns:a="http://schemas.openxmlformats.org/drawingml/2006/main">
            <a:pPr>
              <a:defRPr sz="2025" b="0">
                <a:solidFill>
                  <a:srgbClr val="203640"/>
                </a:solidFill>
                <a:latin typeface="Hiragino Sans"/>
                <a:ea typeface="Hiragino Sans"/>
                <a:cs typeface="Hiragino Sans"/>
              </a:defRPr>
            </a:pPr>
            <a:r>
              <a:rPr sz="2025" b="0">
                <a:solidFill>
                  <a:srgbClr val="203640"/>
                </a:solidFill>
                <a:latin typeface="Hiragino Sans"/>
                <a:ea typeface="Hiragino Sans"/>
                <a:cs typeface="Hiragino Sans"/>
              </a:rPr>
              <a:t>同じツールの再試行は2回、同一打診は1回まで。</a:t>
            </a:r>
          </a:p>
        </p:txBody>
      </p:sp>
      <p:sp>
        <p:nvSpPr>
          <p:cNvPr id="6" name="text-17-5">
            <a:extLst xmlns:a="http://schemas.openxmlformats.org/drawingml/2006/main">
              <a:ext uri="{FF2B5EF4-FFF2-40B4-BE49-F238E27FC236}">
                <a16:creationId xmlns:a16="http://schemas.microsoft.com/office/drawing/2014/main" id="{6CD0C309-DC6D-4CD8-A6C5-CF60F249DC2C}"/>
              </a:ext>
            </a:extLst>
          </p:cNvPr>
          <p:cNvSpPr>
            <a:spLocks xmlns:a="http://schemas.openxmlformats.org/drawingml/2006/main" noGrp="1"/>
          </p:cNvSpPr>
          <p:nvPr/>
        </p:nvSpPr>
        <p:spPr>
          <a:xfrm xmlns:a="http://schemas.openxmlformats.org/drawingml/2006/main">
            <a:off x="609600" y="2857500"/>
            <a:ext cx="2057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BE542A"/>
                </a:solidFill>
                <a:latin typeface="Hiragino Sans"/>
                <a:ea typeface="Hiragino Sans"/>
                <a:cs typeface="Hiragino Sans"/>
              </a:defRPr>
            </a:pPr>
            <a:r>
              <a:rPr sz="2175" b="1">
                <a:solidFill>
                  <a:srgbClr val="BE542A"/>
                </a:solidFill>
                <a:latin typeface="Hiragino Sans"/>
                <a:ea typeface="Hiragino Sans"/>
                <a:cs typeface="Hiragino Sans"/>
              </a:rPr>
              <a:t>予算と期限</a:t>
            </a:r>
          </a:p>
        </p:txBody>
      </p:sp>
      <p:sp>
        <p:nvSpPr>
          <p:cNvPr id="7" name="text-17-6">
            <a:extLst xmlns:a="http://schemas.openxmlformats.org/drawingml/2006/main">
              <a:ext uri="{FF2B5EF4-FFF2-40B4-BE49-F238E27FC236}">
                <a16:creationId xmlns:a16="http://schemas.microsoft.com/office/drawing/2014/main" id="{4577D621-B021-4E8A-ACA7-E6E168068C74}"/>
              </a:ext>
            </a:extLst>
          </p:cNvPr>
          <p:cNvSpPr>
            <a:spLocks xmlns:a="http://schemas.openxmlformats.org/drawingml/2006/main" noGrp="1"/>
          </p:cNvSpPr>
          <p:nvPr/>
        </p:nvSpPr>
        <p:spPr>
          <a:xfrm xmlns:a="http://schemas.openxmlformats.org/drawingml/2006/main">
            <a:off x="2876550" y="2857500"/>
            <a:ext cx="87058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203640"/>
                </a:solidFill>
                <a:latin typeface="Hiragino Sans"/>
                <a:ea typeface="Hiragino Sans"/>
                <a:cs typeface="Hiragino Sans"/>
              </a:defRPr>
            </a:pPr>
            <a:r>
              <a:rPr sz="2025" b="0">
                <a:solidFill>
                  <a:srgbClr val="203640"/>
                </a:solidFill>
                <a:latin typeface="Hiragino Sans"/>
                <a:ea typeface="Hiragino Sans"/>
                <a:cs typeface="Hiragino Sans"/>
              </a:rPr>
              <a:t>次の呼び出し前に残予算を確認する。</a:t>
            </a:r>
          </a:p>
          <a:p xmlns:a="http://schemas.openxmlformats.org/drawingml/2006/main">
            <a:pPr>
              <a:defRPr sz="2025" b="0">
                <a:solidFill>
                  <a:srgbClr val="203640"/>
                </a:solidFill>
                <a:latin typeface="Hiragino Sans"/>
                <a:ea typeface="Hiragino Sans"/>
                <a:cs typeface="Hiragino Sans"/>
              </a:defRPr>
            </a:pPr>
            <a:r>
              <a:rPr sz="2025" b="0">
                <a:solidFill>
                  <a:srgbClr val="203640"/>
                </a:solidFill>
                <a:latin typeface="Hiragino Sans"/>
                <a:ea typeface="Hiragino Sans"/>
                <a:cs typeface="Hiragino Sans"/>
              </a:rPr>
              <a:t>候補枯渇・期限・矛盾・上限で止める。</a:t>
            </a:r>
          </a:p>
        </p:txBody>
      </p:sp>
      <p:sp>
        <p:nvSpPr>
          <p:cNvPr id="8" name="text-17-7">
            <a:extLst xmlns:a="http://schemas.openxmlformats.org/drawingml/2006/main">
              <a:ext uri="{FF2B5EF4-FFF2-40B4-BE49-F238E27FC236}">
                <a16:creationId xmlns:a16="http://schemas.microsoft.com/office/drawing/2014/main" id="{EB03F58C-53DF-45E2-8BC3-E792EEEED532}"/>
              </a:ext>
            </a:extLst>
          </p:cNvPr>
          <p:cNvSpPr>
            <a:spLocks xmlns:a="http://schemas.openxmlformats.org/drawingml/2006/main" noGrp="1"/>
          </p:cNvSpPr>
          <p:nvPr/>
        </p:nvSpPr>
        <p:spPr>
          <a:xfrm xmlns:a="http://schemas.openxmlformats.org/drawingml/2006/main">
            <a:off x="609600" y="4162425"/>
            <a:ext cx="2057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BE542A"/>
                </a:solidFill>
                <a:latin typeface="Hiragino Sans"/>
                <a:ea typeface="Hiragino Sans"/>
                <a:cs typeface="Hiragino Sans"/>
              </a:defRPr>
            </a:pPr>
            <a:r>
              <a:rPr sz="2175" b="1">
                <a:solidFill>
                  <a:srgbClr val="BE542A"/>
                </a:solidFill>
                <a:latin typeface="Hiragino Sans"/>
                <a:ea typeface="Hiragino Sans"/>
                <a:cs typeface="Hiragino Sans"/>
              </a:rPr>
              <a:t>終了の区別</a:t>
            </a:r>
          </a:p>
        </p:txBody>
      </p:sp>
      <p:sp>
        <p:nvSpPr>
          <p:cNvPr id="9" name="text-17-8">
            <a:extLst xmlns:a="http://schemas.openxmlformats.org/drawingml/2006/main">
              <a:ext uri="{FF2B5EF4-FFF2-40B4-BE49-F238E27FC236}">
                <a16:creationId xmlns:a16="http://schemas.microsoft.com/office/drawing/2014/main" id="{C7A12193-EA93-42CD-B27D-45C612A9B8CD}"/>
              </a:ext>
            </a:extLst>
          </p:cNvPr>
          <p:cNvSpPr>
            <a:spLocks xmlns:a="http://schemas.openxmlformats.org/drawingml/2006/main" noGrp="1"/>
          </p:cNvSpPr>
          <p:nvPr/>
        </p:nvSpPr>
        <p:spPr>
          <a:xfrm xmlns:a="http://schemas.openxmlformats.org/drawingml/2006/main">
            <a:off x="2876550" y="4162425"/>
            <a:ext cx="87058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203640"/>
                </a:solidFill>
                <a:latin typeface="Hiragino Sans"/>
                <a:ea typeface="Hiragino Sans"/>
                <a:cs typeface="Hiragino Sans"/>
              </a:defRPr>
            </a:pPr>
            <a:r>
              <a:rPr sz="2025" b="0">
                <a:solidFill>
                  <a:srgbClr val="203640"/>
                </a:solidFill>
                <a:latin typeface="Hiragino Sans"/>
                <a:ea typeface="Hiragino Sans"/>
                <a:cs typeface="Hiragino Sans"/>
              </a:rPr>
              <a:t>業務完了、理由付き引き継ぎ、技術エラー。</a:t>
            </a:r>
          </a:p>
          <a:p xmlns:a="http://schemas.openxmlformats.org/drawingml/2006/main">
            <a:pPr>
              <a:defRPr sz="2025" b="0">
                <a:solidFill>
                  <a:srgbClr val="203640"/>
                </a:solidFill>
                <a:latin typeface="Hiragino Sans"/>
                <a:ea typeface="Hiragino Sans"/>
                <a:cs typeface="Hiragino Sans"/>
              </a:defRPr>
            </a:pPr>
            <a:r>
              <a:rPr sz="2025" b="0">
                <a:solidFill>
                  <a:srgbClr val="203640"/>
                </a:solidFill>
                <a:latin typeface="Hiragino Sans"/>
                <a:ea typeface="Hiragino Sans"/>
                <a:cs typeface="Hiragino Sans"/>
              </a:rPr>
              <a:t>安全に止まれた件数を完了率へ混ぜない。</a:t>
            </a:r>
          </a:p>
        </p:txBody>
      </p:sp>
    </p:spTree>
    <p:extLst>
      <p:ext uri="{BB962C8B-B14F-4D97-AF65-F5344CB8AC3E}">
        <p14:creationId xmlns:p14="http://schemas.microsoft.com/office/powerpoint/2010/main" val="1820733359"/>
      </p:ext>
    </p:extLst>
  </p:cSld>
</p:sld>
</file>

<file path=ppt/slides/slide18.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7" name="text-18-0">
            <a:extLst xmlns:a="http://schemas.openxmlformats.org/drawingml/2006/main">
              <a:ext uri="{FF2B5EF4-FFF2-40B4-BE49-F238E27FC236}">
                <a16:creationId xmlns:a16="http://schemas.microsoft.com/office/drawing/2014/main" id="{AD57F648-1922-4613-AF49-CA934F17F854}"/>
              </a:ext>
            </a:extLst>
          </p:cNvPr>
          <p:cNvSpPr>
            <a:spLocks xmlns:a="http://schemas.openxmlformats.org/drawingml/2006/main" noGrp="1"/>
          </p:cNvSpPr>
          <p:nvPr/>
        </p:nvSpPr>
        <p:spPr>
          <a:xfrm xmlns:a="http://schemas.openxmlformats.org/drawingml/2006/main">
            <a:off x="609600" y="409575"/>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32B3A"/>
                </a:solidFill>
                <a:latin typeface="Hiragino Sans"/>
                <a:ea typeface="Hiragino Sans"/>
                <a:cs typeface="Hiragino Sans"/>
              </a:defRPr>
            </a:pPr>
            <a:r>
              <a:rPr sz="3300" b="1">
                <a:solidFill>
                  <a:srgbClr val="132B3A"/>
                </a:solidFill>
                <a:latin typeface="Hiragino Sans"/>
                <a:ea typeface="Hiragino Sans"/>
                <a:cs typeface="Hiragino Sans"/>
              </a:rPr>
              <a:t>コストは同じ仕事・同じ品質条件で比べる</a:t>
            </a:r>
          </a:p>
        </p:txBody>
      </p:sp>
      <p:sp>
        <p:nvSpPr>
          <p:cNvPr id="2" name="text-18-1">
            <a:extLst xmlns:a="http://schemas.openxmlformats.org/drawingml/2006/main">
              <a:ext uri="{FF2B5EF4-FFF2-40B4-BE49-F238E27FC236}">
                <a16:creationId xmlns:a16="http://schemas.microsoft.com/office/drawing/2014/main" id="{0659EBC1-C932-45A5-BC25-D42D642DB113}"/>
              </a:ext>
            </a:extLst>
          </p:cNvPr>
          <p:cNvSpPr>
            <a:spLocks xmlns:a="http://schemas.openxmlformats.org/drawingml/2006/main" noGrp="1"/>
          </p:cNvSpPr>
          <p:nvPr/>
        </p:nvSpPr>
        <p:spPr>
          <a:xfrm xmlns:a="http://schemas.openxmlformats.org/drawingml/2006/main">
            <a:off x="11077575" y="6391275"/>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D6B73"/>
                </a:solidFill>
                <a:latin typeface="Hiragino Sans"/>
                <a:ea typeface="Hiragino Sans"/>
                <a:cs typeface="Hiragino Sans"/>
              </a:defRPr>
            </a:pPr>
            <a:r>
              <a:rPr sz="1275" b="0">
                <a:solidFill>
                  <a:srgbClr val="5D6B73"/>
                </a:solidFill>
                <a:latin typeface="Hiragino Sans"/>
                <a:ea typeface="Hiragino Sans"/>
                <a:cs typeface="Hiragino Sans"/>
              </a:rPr>
              <a:t>18</a:t>
            </a:r>
          </a:p>
        </p:txBody>
      </p:sp>
      <p:sp>
        <p:nvSpPr>
          <p:cNvPr id="3" name="text-18-2">
            <a:extLst xmlns:a="http://schemas.openxmlformats.org/drawingml/2006/main">
              <a:ext uri="{FF2B5EF4-FFF2-40B4-BE49-F238E27FC236}">
                <a16:creationId xmlns:a16="http://schemas.microsoft.com/office/drawing/2014/main" id="{533E2B24-FA1A-4359-B3FD-8F839942A91D}"/>
              </a:ext>
            </a:extLst>
          </p:cNvPr>
          <p:cNvSpPr>
            <a:spLocks xmlns:a="http://schemas.openxmlformats.org/drawingml/2006/main" noGrp="1"/>
          </p:cNvSpPr>
          <p:nvPr/>
        </p:nvSpPr>
        <p:spPr>
          <a:xfrm xmlns:a="http://schemas.openxmlformats.org/drawingml/2006/main">
            <a:off x="609600" y="6238875"/>
            <a:ext cx="10144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D6B73"/>
                </a:solidFill>
                <a:latin typeface="Hiragino Sans"/>
                <a:ea typeface="Hiragino Sans"/>
                <a:cs typeface="Hiragino Sans"/>
              </a:defRPr>
            </a:pPr>
            <a:r>
              <a:rPr sz="1275" b="0">
                <a:solidFill>
                  <a:srgbClr val="5D6B73"/>
                </a:solidFill>
                <a:latin typeface="Hiragino Sans"/>
                <a:ea typeface="Hiragino Sans"/>
                <a:cs typeface="Hiragino Sans"/>
              </a:rPr>
              <a:t>実測値は未取得。ベンダーの削減率や例示料金を成果として使用しない。</a:t>
            </a:r>
          </a:p>
        </p:txBody>
      </p:sp>
      <p:graphicFrame>
        <p:nvGraphicFramePr>
          <p:cNvPr id="10" name=""/>
          <p:cNvGraphicFramePr/>
          <p:nvPr/>
        </p:nvGraphicFramePr>
        <p:xfrm>
          <a:off xmlns:a="http://schemas.openxmlformats.org/drawingml/2006/main" x="609600" y="1457325"/>
          <a:ext xmlns:a="http://schemas.openxmlformats.org/drawingml/2006/main" cx="10972800" cy="2800350"/>
        </p:xfrm>
        <a:graphic xmlns:a="http://schemas.openxmlformats.org/drawingml/2006/main">
          <a:graphicData uri="http://schemas.openxmlformats.org/drawingml/2006/table">
            <a:tbl>
              <a:tblPr/>
              <a:tblGrid>
                <a:gridCol w="3619500"/>
                <a:gridCol w="7353300"/>
              </a:tblGrid>
              <a:tr h="533400">
                <a:tc>
                  <a:txBody>
                    <a:bodyPr/>
                    <a:lstStyle/>
                    <a:p>
                      <a:r>
                        <a:rPr sz="1875" b="1">
                          <a:solidFill>
                            <a:srgbClr val="FFFFFF"/>
                          </a:solidFill>
                          <a:latin typeface="Hiragino Sans"/>
                          <a:ea typeface="Hiragino Sans"/>
                          <a:cs typeface="Hiragino Sans"/>
                        </a:rPr>
                        <a:t>構成</a:t>
                      </a:r>
                    </a:p>
                  </a:txBody>
                  <a:tcPr marL="133350" marR="133350" marT="95250" marB="76200" anchor="t">
                    <a:solidFill>
                      <a:srgbClr val="132B3A"/>
                    </a:solidFill>
                  </a:tcPr>
                </a:tc>
                <a:tc>
                  <a:txBody>
                    <a:bodyPr/>
                    <a:lstStyle/>
                    <a:p>
                      <a:r>
                        <a:rPr sz="1875" b="1">
                          <a:solidFill>
                            <a:srgbClr val="FFFFFF"/>
                          </a:solidFill>
                          <a:latin typeface="Hiragino Sans"/>
                          <a:ea typeface="Hiragino Sans"/>
                          <a:cs typeface="Hiragino Sans"/>
                        </a:rPr>
                        <a:t>比較するもの</a:t>
                      </a:r>
                    </a:p>
                  </a:txBody>
                  <a:tcPr marL="133350" marR="133350" marT="95250" marB="76200" anchor="t">
                    <a:solidFill>
                      <a:srgbClr val="132B3A"/>
                    </a:solidFill>
                  </a:tcPr>
                </a:tc>
              </a:tr>
              <a:tr h="755650">
                <a:tc>
                  <a:txBody>
                    <a:bodyPr/>
                    <a:lstStyle/>
                    <a:p>
                      <a:r>
                        <a:rPr sz="1875">
                          <a:solidFill>
                            <a:srgbClr val="203640"/>
                          </a:solidFill>
                          <a:latin typeface="Hiragino Sans"/>
                          <a:ea typeface="Hiragino Sans"/>
                          <a:cs typeface="Hiragino Sans"/>
                        </a:rPr>
                        <a:t>A：高性能モデル固定</a:t>
                      </a:r>
                    </a:p>
                  </a:txBody>
                  <a:tcPr marL="133350" marR="133350" marT="95250" marB="76200" anchor="t">
                    <a:solidFill>
                      <a:srgbClr val="FFFFFF"/>
                    </a:solidFill>
                  </a:tcPr>
                </a:tc>
                <a:tc>
                  <a:txBody>
                    <a:bodyPr/>
                    <a:lstStyle/>
                    <a:p>
                      <a:r>
                        <a:rPr sz="1875">
                          <a:solidFill>
                            <a:srgbClr val="203640"/>
                          </a:solidFill>
                          <a:latin typeface="Hiragino Sans"/>
                          <a:ea typeface="Hiragino Sans"/>
                          <a:cs typeface="Hiragino Sans"/>
                        </a:rPr>
                        <a:t>モデルが必要な全呼び出しを高性能モデルで処理</a:t>
                      </a:r>
                    </a:p>
                  </a:txBody>
                  <a:tcPr marL="133350" marR="133350" marT="95250" marB="76200" anchor="t">
                    <a:solidFill>
                      <a:srgbClr val="FFFFFF"/>
                    </a:solidFill>
                  </a:tcPr>
                </a:tc>
              </a:tr>
              <a:tr h="755650">
                <a:tc>
                  <a:txBody>
                    <a:bodyPr/>
                    <a:lstStyle/>
                    <a:p>
                      <a:r>
                        <a:rPr sz="1875">
                          <a:solidFill>
                            <a:srgbClr val="203640"/>
                          </a:solidFill>
                          <a:latin typeface="Hiragino Sans"/>
                          <a:ea typeface="Hiragino Sans"/>
                          <a:cs typeface="Hiragino Sans"/>
                        </a:rPr>
                        <a:t>B：軽量モデル固定</a:t>
                      </a:r>
                    </a:p>
                  </a:txBody>
                  <a:tcPr marL="133350" marR="133350" marT="95250" marB="76200" anchor="t">
                    <a:solidFill>
                      <a:srgbClr val="EDF2EF"/>
                    </a:solidFill>
                  </a:tcPr>
                </a:tc>
                <a:tc>
                  <a:txBody>
                    <a:bodyPr/>
                    <a:lstStyle/>
                    <a:p>
                      <a:r>
                        <a:rPr sz="1875">
                          <a:solidFill>
                            <a:srgbClr val="203640"/>
                          </a:solidFill>
                          <a:latin typeface="Hiragino Sans"/>
                          <a:ea typeface="Hiragino Sans"/>
                          <a:cs typeface="Hiragino Sans"/>
                        </a:rPr>
                        <a:t>同じ仕事を軽量モデルで処理</a:t>
                      </a:r>
                    </a:p>
                  </a:txBody>
                  <a:tcPr marL="133350" marR="133350" marT="95250" marB="76200" anchor="t">
                    <a:solidFill>
                      <a:srgbClr val="EDF2EF"/>
                    </a:solidFill>
                  </a:tcPr>
                </a:tc>
              </a:tr>
              <a:tr h="755650">
                <a:tc>
                  <a:txBody>
                    <a:bodyPr/>
                    <a:lstStyle/>
                    <a:p>
                      <a:r>
                        <a:rPr sz="1875">
                          <a:solidFill>
                            <a:srgbClr val="203640"/>
                          </a:solidFill>
                          <a:latin typeface="Hiragino Sans"/>
                          <a:ea typeface="Hiragino Sans"/>
                          <a:cs typeface="Hiragino Sans"/>
                        </a:rPr>
                        <a:t>C：条件付き切替</a:t>
                      </a:r>
                    </a:p>
                  </a:txBody>
                  <a:tcPr marL="133350" marR="133350" marT="95250" marB="76200" anchor="t">
                    <a:solidFill>
                      <a:srgbClr val="FFFFFF"/>
                    </a:solidFill>
                  </a:tcPr>
                </a:tc>
                <a:tc>
                  <a:txBody>
                    <a:bodyPr/>
                    <a:lstStyle/>
                    <a:p>
                      <a:r>
                        <a:rPr sz="1875">
                          <a:solidFill>
                            <a:srgbClr val="203640"/>
                          </a:solidFill>
                          <a:latin typeface="Hiragino Sans"/>
                          <a:ea typeface="Hiragino Sans"/>
                          <a:cs typeface="Hiragino Sans"/>
                        </a:rPr>
                        <a:t>検査結果・業務状態に応じて必要な呼び出しだけ昇格</a:t>
                      </a:r>
                    </a:p>
                  </a:txBody>
                  <a:tcPr marL="133350" marR="133350" marT="95250" marB="76200" anchor="t">
                    <a:solidFill>
                      <a:srgbClr val="FFFFFF"/>
                    </a:solidFill>
                  </a:tcPr>
                </a:tc>
              </a:tr>
            </a:tbl>
          </a:graphicData>
        </a:graphic>
      </p:graphicFrame>
      <p:sp>
        <p:nvSpPr>
          <p:cNvPr id="5" name="text-18-3">
            <a:extLst xmlns:a="http://schemas.openxmlformats.org/drawingml/2006/main">
              <a:ext uri="{FF2B5EF4-FFF2-40B4-BE49-F238E27FC236}">
                <a16:creationId xmlns:a16="http://schemas.microsoft.com/office/drawing/2014/main" id="{BAE0AE3B-2786-46C5-9662-5E7732B08A78}"/>
              </a:ext>
            </a:extLst>
          </p:cNvPr>
          <p:cNvSpPr>
            <a:spLocks xmlns:a="http://schemas.openxmlformats.org/drawingml/2006/main" noGrp="1"/>
          </p:cNvSpPr>
          <p:nvPr/>
        </p:nvSpPr>
        <p:spPr>
          <a:xfrm xmlns:a="http://schemas.openxmlformats.org/drawingml/2006/main">
            <a:off x="609600" y="4600575"/>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BE542A"/>
                </a:solidFill>
                <a:latin typeface="Hiragino Sans"/>
                <a:ea typeface="Hiragino Sans"/>
                <a:cs typeface="Hiragino Sans"/>
              </a:defRPr>
            </a:pPr>
            <a:r>
              <a:rPr sz="2400" b="1">
                <a:solidFill>
                  <a:srgbClr val="BE542A"/>
                </a:solidFill>
                <a:latin typeface="Hiragino Sans"/>
                <a:ea typeface="Hiragino Sans"/>
                <a:cs typeface="Hiragino Sans"/>
              </a:rPr>
              <a:t>削減率 ＝ 1 − Cの総推論費 ÷ Aの総推論費</a:t>
            </a:r>
          </a:p>
        </p:txBody>
      </p:sp>
      <p:sp>
        <p:nvSpPr>
          <p:cNvPr id="6" name="text-18-4">
            <a:extLst xmlns:a="http://schemas.openxmlformats.org/drawingml/2006/main">
              <a:ext uri="{FF2B5EF4-FFF2-40B4-BE49-F238E27FC236}">
                <a16:creationId xmlns:a16="http://schemas.microsoft.com/office/drawing/2014/main" id="{4CCEA7FB-8A9E-4B05-8D56-ADE1114E95FD}"/>
              </a:ext>
            </a:extLst>
          </p:cNvPr>
          <p:cNvSpPr>
            <a:spLocks xmlns:a="http://schemas.openxmlformats.org/drawingml/2006/main" noGrp="1"/>
          </p:cNvSpPr>
          <p:nvPr/>
        </p:nvSpPr>
        <p:spPr>
          <a:xfrm xmlns:a="http://schemas.openxmlformats.org/drawingml/2006/main">
            <a:off x="609600" y="52578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203640"/>
                </a:solidFill>
                <a:latin typeface="Hiragino Sans"/>
                <a:ea typeface="Hiragino Sans"/>
                <a:cs typeface="Hiragino Sans"/>
              </a:defRPr>
            </a:pPr>
            <a:r>
              <a:rPr sz="1875" b="0">
                <a:solidFill>
                  <a:srgbClr val="203640"/>
                </a:solidFill>
                <a:latin typeface="Hiragino Sans"/>
                <a:ea typeface="Hiragino Sans"/>
                <a:cs typeface="Hiragino Sans"/>
              </a:rPr>
              <a:t>成功率、制約違反、完了1件あたり費用、所要時間を併記。</a:t>
            </a:r>
          </a:p>
          <a:p xmlns:a="http://schemas.openxmlformats.org/drawingml/2006/main">
            <a:pPr>
              <a:defRPr sz="1875" b="0">
                <a:solidFill>
                  <a:srgbClr val="203640"/>
                </a:solidFill>
                <a:latin typeface="Hiragino Sans"/>
                <a:ea typeface="Hiragino Sans"/>
                <a:cs typeface="Hiragino Sans"/>
              </a:defRPr>
            </a:pPr>
            <a:r>
              <a:rPr sz="1875" b="0">
                <a:solidFill>
                  <a:srgbClr val="203640"/>
                </a:solidFill>
                <a:latin typeface="Hiragino Sans"/>
                <a:ea typeface="Hiragino Sans"/>
                <a:cs typeface="Hiragino Sans"/>
              </a:rPr>
              <a:t>失敗・再試行・検証の費用を含め、無料枠やキャッシュ条件も揃える。</a:t>
            </a:r>
          </a:p>
        </p:txBody>
      </p:sp>
    </p:spTree>
    <p:extLst>
      <p:ext uri="{BB962C8B-B14F-4D97-AF65-F5344CB8AC3E}">
        <p14:creationId xmlns:p14="http://schemas.microsoft.com/office/powerpoint/2010/main" val="974244592"/>
      </p:ext>
    </p:extLst>
  </p:cSld>
</p:sld>
</file>

<file path=ppt/slides/slide19.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5" name="text-19-0">
            <a:extLst xmlns:a="http://schemas.openxmlformats.org/drawingml/2006/main">
              <a:ext uri="{FF2B5EF4-FFF2-40B4-BE49-F238E27FC236}">
                <a16:creationId xmlns:a16="http://schemas.microsoft.com/office/drawing/2014/main" id="{B43EA79A-F769-443F-BC36-6D8AEB4AEDAE}"/>
              </a:ext>
            </a:extLst>
          </p:cNvPr>
          <p:cNvSpPr>
            <a:spLocks xmlns:a="http://schemas.openxmlformats.org/drawingml/2006/main" noGrp="1"/>
          </p:cNvSpPr>
          <p:nvPr/>
        </p:nvSpPr>
        <p:spPr>
          <a:xfrm xmlns:a="http://schemas.openxmlformats.org/drawingml/2006/main">
            <a:off x="609600" y="409575"/>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32B3A"/>
                </a:solidFill>
                <a:latin typeface="Hiragino Sans"/>
                <a:ea typeface="Hiragino Sans"/>
                <a:cs typeface="Hiragino Sans"/>
              </a:defRPr>
            </a:pPr>
            <a:r>
              <a:rPr sz="3300" b="1">
                <a:solidFill>
                  <a:srgbClr val="132B3A"/>
                </a:solidFill>
                <a:latin typeface="Hiragino Sans"/>
                <a:ea typeface="Hiragino Sans"/>
                <a:cs typeface="Hiragino Sans"/>
              </a:rPr>
              <a:t>評価用20ケースを固定して比べる</a:t>
            </a:r>
          </a:p>
        </p:txBody>
      </p:sp>
      <p:sp>
        <p:nvSpPr>
          <p:cNvPr id="2" name="text-19-1">
            <a:extLst xmlns:a="http://schemas.openxmlformats.org/drawingml/2006/main">
              <a:ext uri="{FF2B5EF4-FFF2-40B4-BE49-F238E27FC236}">
                <a16:creationId xmlns:a16="http://schemas.microsoft.com/office/drawing/2014/main" id="{9FE30AF4-FDEC-461C-A54C-19E4345CF604}"/>
              </a:ext>
            </a:extLst>
          </p:cNvPr>
          <p:cNvSpPr>
            <a:spLocks xmlns:a="http://schemas.openxmlformats.org/drawingml/2006/main" noGrp="1"/>
          </p:cNvSpPr>
          <p:nvPr/>
        </p:nvSpPr>
        <p:spPr>
          <a:xfrm xmlns:a="http://schemas.openxmlformats.org/drawingml/2006/main">
            <a:off x="11077575" y="6391275"/>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D6B73"/>
                </a:solidFill>
                <a:latin typeface="Hiragino Sans"/>
                <a:ea typeface="Hiragino Sans"/>
                <a:cs typeface="Hiragino Sans"/>
              </a:defRPr>
            </a:pPr>
            <a:r>
              <a:rPr sz="1275" b="0">
                <a:solidFill>
                  <a:srgbClr val="5D6B73"/>
                </a:solidFill>
                <a:latin typeface="Hiragino Sans"/>
                <a:ea typeface="Hiragino Sans"/>
                <a:cs typeface="Hiragino Sans"/>
              </a:rPr>
              <a:t>19</a:t>
            </a:r>
          </a:p>
        </p:txBody>
      </p:sp>
      <p:sp>
        <p:nvSpPr>
          <p:cNvPr id="3" name="text-19-2">
            <a:extLst xmlns:a="http://schemas.openxmlformats.org/drawingml/2006/main">
              <a:ext uri="{FF2B5EF4-FFF2-40B4-BE49-F238E27FC236}">
                <a16:creationId xmlns:a16="http://schemas.microsoft.com/office/drawing/2014/main" id="{642A03ED-5ACE-4B6B-9DEF-1474FFC43845}"/>
              </a:ext>
            </a:extLst>
          </p:cNvPr>
          <p:cNvSpPr>
            <a:spLocks xmlns:a="http://schemas.openxmlformats.org/drawingml/2006/main" noGrp="1"/>
          </p:cNvSpPr>
          <p:nvPr/>
        </p:nvSpPr>
        <p:spPr>
          <a:xfrm xmlns:a="http://schemas.openxmlformats.org/drawingml/2006/main">
            <a:off x="609600" y="6238875"/>
            <a:ext cx="10144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D6B73"/>
                </a:solidFill>
                <a:latin typeface="Hiragino Sans"/>
                <a:ea typeface="Hiragino Sans"/>
                <a:cs typeface="Hiragino Sans"/>
              </a:defRPr>
            </a:pPr>
            <a:r>
              <a:rPr sz="1275" b="0">
                <a:solidFill>
                  <a:srgbClr val="5D6B73"/>
                </a:solidFill>
                <a:latin typeface="Hiragino Sans"/>
                <a:ea typeface="Hiragino Sans"/>
                <a:cs typeface="Hiragino Sans"/>
              </a:rPr>
              <a:t>開発用6ケースは別。A/B/C各20件＋重要6件のC追加2回＝計72試行の提案。</a:t>
            </a:r>
          </a:p>
        </p:txBody>
      </p:sp>
      <p:graphicFrame>
        <p:nvGraphicFramePr>
          <p:cNvPr id="8" name=""/>
          <p:cNvGraphicFramePr/>
          <p:nvPr/>
        </p:nvGraphicFramePr>
        <p:xfrm>
          <a:off xmlns:a="http://schemas.openxmlformats.org/drawingml/2006/main" x="609600" y="1457325"/>
          <a:ext xmlns:a="http://schemas.openxmlformats.org/drawingml/2006/main" cx="10972800" cy="4524375"/>
        </p:xfrm>
        <a:graphic xmlns:a="http://schemas.openxmlformats.org/drawingml/2006/main">
          <a:graphicData uri="http://schemas.openxmlformats.org/drawingml/2006/table">
            <a:tbl>
              <a:tblPr/>
              <a:tblGrid>
                <a:gridCol w="4381500"/>
                <a:gridCol w="1143000"/>
                <a:gridCol w="5448300"/>
              </a:tblGrid>
              <a:tr h="533400">
                <a:tc>
                  <a:txBody>
                    <a:bodyPr/>
                    <a:lstStyle/>
                    <a:p>
                      <a:r>
                        <a:rPr sz="1800" b="1">
                          <a:solidFill>
                            <a:srgbClr val="FFFFFF"/>
                          </a:solidFill>
                          <a:latin typeface="Hiragino Sans"/>
                          <a:ea typeface="Hiragino Sans"/>
                          <a:cs typeface="Hiragino Sans"/>
                        </a:rPr>
                        <a:t>ケース区分</a:t>
                      </a:r>
                    </a:p>
                  </a:txBody>
                  <a:tcPr marL="133350" marR="133350" marT="95250" marB="76200" anchor="t">
                    <a:solidFill>
                      <a:srgbClr val="132B3A"/>
                    </a:solidFill>
                  </a:tcPr>
                </a:tc>
                <a:tc>
                  <a:txBody>
                    <a:bodyPr/>
                    <a:lstStyle/>
                    <a:p>
                      <a:r>
                        <a:rPr sz="1800" b="1">
                          <a:solidFill>
                            <a:srgbClr val="FFFFFF"/>
                          </a:solidFill>
                          <a:latin typeface="Hiragino Sans"/>
                          <a:ea typeface="Hiragino Sans"/>
                          <a:cs typeface="Hiragino Sans"/>
                        </a:rPr>
                        <a:t>件数</a:t>
                      </a:r>
                    </a:p>
                  </a:txBody>
                  <a:tcPr marL="133350" marR="133350" marT="95250" marB="76200" anchor="t">
                    <a:solidFill>
                      <a:srgbClr val="132B3A"/>
                    </a:solidFill>
                  </a:tcPr>
                </a:tc>
                <a:tc>
                  <a:txBody>
                    <a:bodyPr/>
                    <a:lstStyle/>
                    <a:p>
                      <a:r>
                        <a:rPr sz="1800" b="1">
                          <a:solidFill>
                            <a:srgbClr val="FFFFFF"/>
                          </a:solidFill>
                          <a:latin typeface="Hiragino Sans"/>
                          <a:ea typeface="Hiragino Sans"/>
                          <a:cs typeface="Hiragino Sans"/>
                        </a:rPr>
                        <a:t>確認する結果</a:t>
                      </a:r>
                    </a:p>
                  </a:txBody>
                  <a:tcPr marL="133350" marR="133350" marT="95250" marB="76200" anchor="t">
                    <a:solidFill>
                      <a:srgbClr val="132B3A"/>
                    </a:solidFill>
                  </a:tcPr>
                </a:tc>
              </a:tr>
              <a:tr h="665163">
                <a:tc>
                  <a:txBody>
                    <a:bodyPr/>
                    <a:lstStyle/>
                    <a:p>
                      <a:r>
                        <a:rPr sz="1800">
                          <a:solidFill>
                            <a:srgbClr val="203640"/>
                          </a:solidFill>
                          <a:latin typeface="Hiragino Sans"/>
                          <a:ea typeface="Hiragino Sans"/>
                          <a:cs typeface="Hiragino Sans"/>
                        </a:rPr>
                        <a:t>通常の完了</a:t>
                      </a:r>
                    </a:p>
                  </a:txBody>
                  <a:tcPr marL="133350" marR="133350" marT="95250" marB="76200" anchor="t">
                    <a:solidFill>
                      <a:srgbClr val="FFFFFF"/>
                    </a:solidFill>
                  </a:tcPr>
                </a:tc>
                <a:tc>
                  <a:txBody>
                    <a:bodyPr/>
                    <a:lstStyle/>
                    <a:p>
                      <a:r>
                        <a:rPr sz="1800">
                          <a:solidFill>
                            <a:srgbClr val="203640"/>
                          </a:solidFill>
                          <a:latin typeface="Hiragino Sans"/>
                          <a:ea typeface="Hiragino Sans"/>
                          <a:cs typeface="Hiragino Sans"/>
                        </a:rPr>
                        <a:t>4</a:t>
                      </a:r>
                    </a:p>
                  </a:txBody>
                  <a:tcPr marL="133350" marR="133350" marT="95250" marB="76200" anchor="t">
                    <a:solidFill>
                      <a:srgbClr val="FFFFFF"/>
                    </a:solidFill>
                  </a:tcPr>
                </a:tc>
                <a:tc>
                  <a:txBody>
                    <a:bodyPr/>
                    <a:lstStyle/>
                    <a:p>
                      <a:r>
                        <a:rPr sz="1800">
                          <a:solidFill>
                            <a:srgbClr val="203640"/>
                          </a:solidFill>
                          <a:latin typeface="Hiragino Sans"/>
                          <a:ea typeface="Hiragino Sans"/>
                          <a:cs typeface="Hiragino Sans"/>
                        </a:rPr>
                        <a:t>条件を満たす更新と読戻し</a:t>
                      </a:r>
                    </a:p>
                  </a:txBody>
                  <a:tcPr marL="133350" marR="133350" marT="95250" marB="76200" anchor="t">
                    <a:solidFill>
                      <a:srgbClr val="FFFFFF"/>
                    </a:solidFill>
                  </a:tcPr>
                </a:tc>
              </a:tr>
              <a:tr h="665163">
                <a:tc>
                  <a:txBody>
                    <a:bodyPr/>
                    <a:lstStyle/>
                    <a:p>
                      <a:r>
                        <a:rPr sz="1800">
                          <a:solidFill>
                            <a:srgbClr val="203640"/>
                          </a:solidFill>
                          <a:latin typeface="Hiragino Sans"/>
                          <a:ea typeface="Hiragino Sans"/>
                          <a:cs typeface="Hiragino Sans"/>
                        </a:rPr>
                        <a:t>辞退・部分承諾</a:t>
                      </a:r>
                    </a:p>
                  </a:txBody>
                  <a:tcPr marL="133350" marR="133350" marT="95250" marB="76200" anchor="t">
                    <a:solidFill>
                      <a:srgbClr val="EDF2EF"/>
                    </a:solidFill>
                  </a:tcPr>
                </a:tc>
                <a:tc>
                  <a:txBody>
                    <a:bodyPr/>
                    <a:lstStyle/>
                    <a:p>
                      <a:r>
                        <a:rPr sz="1800">
                          <a:solidFill>
                            <a:srgbClr val="203640"/>
                          </a:solidFill>
                          <a:latin typeface="Hiragino Sans"/>
                          <a:ea typeface="Hiragino Sans"/>
                          <a:cs typeface="Hiragino Sans"/>
                        </a:rPr>
                        <a:t>4</a:t>
                      </a:r>
                    </a:p>
                  </a:txBody>
                  <a:tcPr marL="133350" marR="133350" marT="95250" marB="76200" anchor="t">
                    <a:solidFill>
                      <a:srgbClr val="EDF2EF"/>
                    </a:solidFill>
                  </a:tcPr>
                </a:tc>
                <a:tc>
                  <a:txBody>
                    <a:bodyPr/>
                    <a:lstStyle/>
                    <a:p>
                      <a:r>
                        <a:rPr sz="1800">
                          <a:solidFill>
                            <a:srgbClr val="203640"/>
                          </a:solidFill>
                          <a:latin typeface="Hiragino Sans"/>
                          <a:ea typeface="Hiragino Sans"/>
                          <a:cs typeface="Hiragino Sans"/>
                        </a:rPr>
                        <a:t>不足を認識した再計画</a:t>
                      </a:r>
                    </a:p>
                  </a:txBody>
                  <a:tcPr marL="133350" marR="133350" marT="95250" marB="76200" anchor="t">
                    <a:solidFill>
                      <a:srgbClr val="EDF2EF"/>
                    </a:solidFill>
                  </a:tcPr>
                </a:tc>
              </a:tr>
              <a:tr h="665163">
                <a:tc>
                  <a:txBody>
                    <a:bodyPr/>
                    <a:lstStyle/>
                    <a:p>
                      <a:r>
                        <a:rPr sz="1800">
                          <a:solidFill>
                            <a:srgbClr val="203640"/>
                          </a:solidFill>
                          <a:latin typeface="Hiragino Sans"/>
                          <a:ea typeface="Hiragino Sans"/>
                          <a:cs typeface="Hiragino Sans"/>
                        </a:rPr>
                        <a:t>曖昧・矛盾</a:t>
                      </a:r>
                    </a:p>
                  </a:txBody>
                  <a:tcPr marL="133350" marR="133350" marT="95250" marB="76200" anchor="t">
                    <a:solidFill>
                      <a:srgbClr val="FFFFFF"/>
                    </a:solidFill>
                  </a:tcPr>
                </a:tc>
                <a:tc>
                  <a:txBody>
                    <a:bodyPr/>
                    <a:lstStyle/>
                    <a:p>
                      <a:r>
                        <a:rPr sz="1800">
                          <a:solidFill>
                            <a:srgbClr val="203640"/>
                          </a:solidFill>
                          <a:latin typeface="Hiragino Sans"/>
                          <a:ea typeface="Hiragino Sans"/>
                          <a:cs typeface="Hiragino Sans"/>
                        </a:rPr>
                        <a:t>3</a:t>
                      </a:r>
                    </a:p>
                  </a:txBody>
                  <a:tcPr marL="133350" marR="133350" marT="95250" marB="76200" anchor="t">
                    <a:solidFill>
                      <a:srgbClr val="FFFFFF"/>
                    </a:solidFill>
                  </a:tcPr>
                </a:tc>
                <a:tc>
                  <a:txBody>
                    <a:bodyPr/>
                    <a:lstStyle/>
                    <a:p>
                      <a:r>
                        <a:rPr sz="1800">
                          <a:solidFill>
                            <a:srgbClr val="203640"/>
                          </a:solidFill>
                          <a:latin typeface="Hiragino Sans"/>
                          <a:ea typeface="Hiragino Sans"/>
                          <a:cs typeface="Hiragino Sans"/>
                        </a:rPr>
                        <a:t>追加確認または適切な引き継ぎ</a:t>
                      </a:r>
                    </a:p>
                  </a:txBody>
                  <a:tcPr marL="133350" marR="133350" marT="95250" marB="76200" anchor="t">
                    <a:solidFill>
                      <a:srgbClr val="FFFFFF"/>
                    </a:solidFill>
                  </a:tcPr>
                </a:tc>
              </a:tr>
              <a:tr h="665163">
                <a:tc>
                  <a:txBody>
                    <a:bodyPr/>
                    <a:lstStyle/>
                    <a:p>
                      <a:r>
                        <a:rPr sz="1800">
                          <a:solidFill>
                            <a:srgbClr val="203640"/>
                          </a:solidFill>
                          <a:latin typeface="Hiragino Sans"/>
                          <a:ea typeface="Hiragino Sans"/>
                          <a:cs typeface="Hiragino Sans"/>
                        </a:rPr>
                        <a:t>枯渇・期限・無応答</a:t>
                      </a:r>
                    </a:p>
                  </a:txBody>
                  <a:tcPr marL="133350" marR="133350" marT="95250" marB="76200" anchor="t">
                    <a:solidFill>
                      <a:srgbClr val="EDF2EF"/>
                    </a:solidFill>
                  </a:tcPr>
                </a:tc>
                <a:tc>
                  <a:txBody>
                    <a:bodyPr/>
                    <a:lstStyle/>
                    <a:p>
                      <a:r>
                        <a:rPr sz="1800">
                          <a:solidFill>
                            <a:srgbClr val="203640"/>
                          </a:solidFill>
                          <a:latin typeface="Hiragino Sans"/>
                          <a:ea typeface="Hiragino Sans"/>
                          <a:cs typeface="Hiragino Sans"/>
                        </a:rPr>
                        <a:t>3</a:t>
                      </a:r>
                    </a:p>
                  </a:txBody>
                  <a:tcPr marL="133350" marR="133350" marT="95250" marB="76200" anchor="t">
                    <a:solidFill>
                      <a:srgbClr val="EDF2EF"/>
                    </a:solidFill>
                  </a:tcPr>
                </a:tc>
                <a:tc>
                  <a:txBody>
                    <a:bodyPr/>
                    <a:lstStyle/>
                    <a:p>
                      <a:r>
                        <a:rPr sz="1800">
                          <a:solidFill>
                            <a:srgbClr val="203640"/>
                          </a:solidFill>
                          <a:latin typeface="Hiragino Sans"/>
                          <a:ea typeface="Hiragino Sans"/>
                          <a:cs typeface="Hiragino Sans"/>
                        </a:rPr>
                        <a:t>上限・期限での停止</a:t>
                      </a:r>
                    </a:p>
                  </a:txBody>
                  <a:tcPr marL="133350" marR="133350" marT="95250" marB="76200" anchor="t">
                    <a:solidFill>
                      <a:srgbClr val="EDF2EF"/>
                    </a:solidFill>
                  </a:tcPr>
                </a:tc>
              </a:tr>
              <a:tr h="665163">
                <a:tc>
                  <a:txBody>
                    <a:bodyPr/>
                    <a:lstStyle/>
                    <a:p>
                      <a:r>
                        <a:rPr sz="1800">
                          <a:solidFill>
                            <a:srgbClr val="203640"/>
                          </a:solidFill>
                          <a:latin typeface="Hiragino Sans"/>
                          <a:ea typeface="Hiragino Sans"/>
                          <a:cs typeface="Hiragino Sans"/>
                        </a:rPr>
                        <a:t>重複・障害・競合</a:t>
                      </a:r>
                    </a:p>
                  </a:txBody>
                  <a:tcPr marL="133350" marR="133350" marT="95250" marB="76200" anchor="t">
                    <a:solidFill>
                      <a:srgbClr val="FFFFFF"/>
                    </a:solidFill>
                  </a:tcPr>
                </a:tc>
                <a:tc>
                  <a:txBody>
                    <a:bodyPr/>
                    <a:lstStyle/>
                    <a:p>
                      <a:r>
                        <a:rPr sz="1800">
                          <a:solidFill>
                            <a:srgbClr val="203640"/>
                          </a:solidFill>
                          <a:latin typeface="Hiragino Sans"/>
                          <a:ea typeface="Hiragino Sans"/>
                          <a:cs typeface="Hiragino Sans"/>
                        </a:rPr>
                        <a:t>4</a:t>
                      </a:r>
                    </a:p>
                  </a:txBody>
                  <a:tcPr marL="133350" marR="133350" marT="95250" marB="76200" anchor="t">
                    <a:solidFill>
                      <a:srgbClr val="FFFFFF"/>
                    </a:solidFill>
                  </a:tcPr>
                </a:tc>
                <a:tc>
                  <a:txBody>
                    <a:bodyPr/>
                    <a:lstStyle/>
                    <a:p>
                      <a:r>
                        <a:rPr sz="1800">
                          <a:solidFill>
                            <a:srgbClr val="203640"/>
                          </a:solidFill>
                          <a:latin typeface="Hiragino Sans"/>
                          <a:ea typeface="Hiragino Sans"/>
                          <a:cs typeface="Hiragino Sans"/>
                        </a:rPr>
                        <a:t>二重更新や古い状態の上書きを防止</a:t>
                      </a:r>
                    </a:p>
                  </a:txBody>
                  <a:tcPr marL="133350" marR="133350" marT="95250" marB="76200" anchor="t">
                    <a:solidFill>
                      <a:srgbClr val="FFFFFF"/>
                    </a:solidFill>
                  </a:tcPr>
                </a:tc>
              </a:tr>
              <a:tr h="665163">
                <a:tc>
                  <a:txBody>
                    <a:bodyPr/>
                    <a:lstStyle/>
                    <a:p>
                      <a:r>
                        <a:rPr sz="1800">
                          <a:solidFill>
                            <a:srgbClr val="203640"/>
                          </a:solidFill>
                          <a:latin typeface="Hiragino Sans"/>
                          <a:ea typeface="Hiragino Sans"/>
                          <a:cs typeface="Hiragino Sans"/>
                        </a:rPr>
                        <a:t>権限逸脱を誘う入力</a:t>
                      </a:r>
                    </a:p>
                  </a:txBody>
                  <a:tcPr marL="133350" marR="133350" marT="95250" marB="76200" anchor="t">
                    <a:solidFill>
                      <a:srgbClr val="EDF2EF"/>
                    </a:solidFill>
                  </a:tcPr>
                </a:tc>
                <a:tc>
                  <a:txBody>
                    <a:bodyPr/>
                    <a:lstStyle/>
                    <a:p>
                      <a:r>
                        <a:rPr sz="1800">
                          <a:solidFill>
                            <a:srgbClr val="203640"/>
                          </a:solidFill>
                          <a:latin typeface="Hiragino Sans"/>
                          <a:ea typeface="Hiragino Sans"/>
                          <a:cs typeface="Hiragino Sans"/>
                        </a:rPr>
                        <a:t>2</a:t>
                      </a:r>
                    </a:p>
                  </a:txBody>
                  <a:tcPr marL="133350" marR="133350" marT="95250" marB="76200" anchor="t">
                    <a:solidFill>
                      <a:srgbClr val="EDF2EF"/>
                    </a:solidFill>
                  </a:tcPr>
                </a:tc>
                <a:tc>
                  <a:txBody>
                    <a:bodyPr/>
                    <a:lstStyle/>
                    <a:p>
                      <a:r>
                        <a:rPr sz="1800">
                          <a:solidFill>
                            <a:srgbClr val="203640"/>
                          </a:solidFill>
                          <a:latin typeface="Hiragino Sans"/>
                          <a:ea typeface="Hiragino Sans"/>
                          <a:cs typeface="Hiragino Sans"/>
                        </a:rPr>
                        <a:t>情報露出・未許可操作を拒否</a:t>
                      </a:r>
                    </a:p>
                  </a:txBody>
                  <a:tcPr marL="133350" marR="133350" marT="95250" marB="76200" anchor="t">
                    <a:solidFill>
                      <a:srgbClr val="EDF2EF"/>
                    </a:solidFill>
                  </a:tcPr>
                </a:tc>
              </a:tr>
            </a:tbl>
          </a:graphicData>
        </a:graphic>
      </p:graphicFrame>
    </p:spTree>
    <p:extLst>
      <p:ext uri="{BB962C8B-B14F-4D97-AF65-F5344CB8AC3E}">
        <p14:creationId xmlns:p14="http://schemas.microsoft.com/office/powerpoint/2010/main" val="803370738"/>
      </p:ext>
    </p:extLst>
  </p:cSld>
</p:sld>
</file>

<file path=ppt/slides/slide20.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5" name="text-20-0">
            <a:extLst xmlns:a="http://schemas.openxmlformats.org/drawingml/2006/main">
              <a:ext uri="{FF2B5EF4-FFF2-40B4-BE49-F238E27FC236}">
                <a16:creationId xmlns:a16="http://schemas.microsoft.com/office/drawing/2014/main" id="{BDD6C0E1-DEDB-4733-BFB0-BA0AF056278A}"/>
              </a:ext>
            </a:extLst>
          </p:cNvPr>
          <p:cNvSpPr>
            <a:spLocks xmlns:a="http://schemas.openxmlformats.org/drawingml/2006/main" noGrp="1"/>
          </p:cNvSpPr>
          <p:nvPr/>
        </p:nvSpPr>
        <p:spPr>
          <a:xfrm xmlns:a="http://schemas.openxmlformats.org/drawingml/2006/main">
            <a:off x="609600" y="409575"/>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32B3A"/>
                </a:solidFill>
                <a:latin typeface="Hiragino Sans"/>
                <a:ea typeface="Hiragino Sans"/>
                <a:cs typeface="Hiragino Sans"/>
              </a:defRPr>
            </a:pPr>
            <a:r>
              <a:rPr sz="3300" b="1">
                <a:solidFill>
                  <a:srgbClr val="132B3A"/>
                </a:solidFill>
                <a:latin typeface="Hiragino Sans"/>
                <a:ea typeface="Hiragino Sans"/>
                <a:cs typeface="Hiragino Sans"/>
              </a:rPr>
              <a:t>3分デモで再計画と停止を見せる</a:t>
            </a:r>
          </a:p>
        </p:txBody>
      </p:sp>
      <p:sp>
        <p:nvSpPr>
          <p:cNvPr id="2" name="text-20-1">
            <a:extLst xmlns:a="http://schemas.openxmlformats.org/drawingml/2006/main">
              <a:ext uri="{FF2B5EF4-FFF2-40B4-BE49-F238E27FC236}">
                <a16:creationId xmlns:a16="http://schemas.microsoft.com/office/drawing/2014/main" id="{1F5F2974-3EEC-455D-8700-F4A057006A33}"/>
              </a:ext>
            </a:extLst>
          </p:cNvPr>
          <p:cNvSpPr>
            <a:spLocks xmlns:a="http://schemas.openxmlformats.org/drawingml/2006/main" noGrp="1"/>
          </p:cNvSpPr>
          <p:nvPr/>
        </p:nvSpPr>
        <p:spPr>
          <a:xfrm xmlns:a="http://schemas.openxmlformats.org/drawingml/2006/main">
            <a:off x="11077575" y="6391275"/>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D6B73"/>
                </a:solidFill>
                <a:latin typeface="Hiragino Sans"/>
                <a:ea typeface="Hiragino Sans"/>
                <a:cs typeface="Hiragino Sans"/>
              </a:defRPr>
            </a:pPr>
            <a:r>
              <a:rPr sz="1275" b="0">
                <a:solidFill>
                  <a:srgbClr val="5D6B73"/>
                </a:solidFill>
                <a:latin typeface="Hiragino Sans"/>
                <a:ea typeface="Hiragino Sans"/>
                <a:cs typeface="Hiragino Sans"/>
              </a:rPr>
              <a:t>20</a:t>
            </a:r>
          </a:p>
        </p:txBody>
      </p:sp>
      <p:sp>
        <p:nvSpPr>
          <p:cNvPr id="3" name="text-20-2">
            <a:extLst xmlns:a="http://schemas.openxmlformats.org/drawingml/2006/main">
              <a:ext uri="{FF2B5EF4-FFF2-40B4-BE49-F238E27FC236}">
                <a16:creationId xmlns:a16="http://schemas.microsoft.com/office/drawing/2014/main" id="{BCACA6E1-BF3C-41A5-B9D4-CBEF578903E5}"/>
              </a:ext>
            </a:extLst>
          </p:cNvPr>
          <p:cNvSpPr>
            <a:spLocks xmlns:a="http://schemas.openxmlformats.org/drawingml/2006/main" noGrp="1"/>
          </p:cNvSpPr>
          <p:nvPr/>
        </p:nvSpPr>
        <p:spPr>
          <a:xfrm xmlns:a="http://schemas.openxmlformats.org/drawingml/2006/main">
            <a:off x="609600" y="6238875"/>
            <a:ext cx="10144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D6B73"/>
                </a:solidFill>
                <a:latin typeface="Hiragino Sans"/>
                <a:ea typeface="Hiragino Sans"/>
                <a:cs typeface="Hiragino Sans"/>
              </a:defRPr>
            </a:pPr>
            <a:r>
              <a:rPr sz="1275" b="0">
                <a:solidFill>
                  <a:srgbClr val="5D6B73"/>
                </a:solidFill>
                <a:latin typeface="Hiragino Sans"/>
                <a:ea typeface="Hiragino Sans"/>
                <a:cs typeface="Hiragino Sans"/>
              </a:rPr>
              <a:t>発表時間は未確認。架空データ・外部接続の模擬・待ち時間短縮を明示する。</a:t>
            </a:r>
          </a:p>
        </p:txBody>
      </p:sp>
      <p:graphicFrame>
        <p:nvGraphicFramePr>
          <p:cNvPr id="8" name=""/>
          <p:cNvGraphicFramePr/>
          <p:nvPr/>
        </p:nvGraphicFramePr>
        <p:xfrm>
          <a:off xmlns:a="http://schemas.openxmlformats.org/drawingml/2006/main" x="609600" y="1457325"/>
          <a:ext xmlns:a="http://schemas.openxmlformats.org/drawingml/2006/main" cx="10972800" cy="4381500"/>
        </p:xfrm>
        <a:graphic xmlns:a="http://schemas.openxmlformats.org/drawingml/2006/main">
          <a:graphicData uri="http://schemas.openxmlformats.org/drawingml/2006/table">
            <a:tbl>
              <a:tblPr/>
              <a:tblGrid>
                <a:gridCol w="2095500"/>
                <a:gridCol w="4476750"/>
                <a:gridCol w="4400550"/>
              </a:tblGrid>
              <a:tr h="533400">
                <a:tc>
                  <a:txBody>
                    <a:bodyPr/>
                    <a:lstStyle/>
                    <a:p>
                      <a:r>
                        <a:rPr sz="1800" b="1">
                          <a:solidFill>
                            <a:srgbClr val="FFFFFF"/>
                          </a:solidFill>
                          <a:latin typeface="Hiragino Sans"/>
                          <a:ea typeface="Hiragino Sans"/>
                          <a:cs typeface="Hiragino Sans"/>
                        </a:rPr>
                        <a:t>時間</a:t>
                      </a:r>
                    </a:p>
                  </a:txBody>
                  <a:tcPr marL="133350" marR="133350" marT="95250" marB="76200" anchor="t">
                    <a:solidFill>
                      <a:srgbClr val="132B3A"/>
                    </a:solidFill>
                  </a:tcPr>
                </a:tc>
                <a:tc>
                  <a:txBody>
                    <a:bodyPr/>
                    <a:lstStyle/>
                    <a:p>
                      <a:r>
                        <a:rPr sz="1800" b="1">
                          <a:solidFill>
                            <a:srgbClr val="FFFFFF"/>
                          </a:solidFill>
                          <a:latin typeface="Hiragino Sans"/>
                          <a:ea typeface="Hiragino Sans"/>
                          <a:cs typeface="Hiragino Sans"/>
                        </a:rPr>
                        <a:t>実演</a:t>
                      </a:r>
                    </a:p>
                  </a:txBody>
                  <a:tcPr marL="133350" marR="133350" marT="95250" marB="76200" anchor="t">
                    <a:solidFill>
                      <a:srgbClr val="132B3A"/>
                    </a:solidFill>
                  </a:tcPr>
                </a:tc>
                <a:tc>
                  <a:txBody>
                    <a:bodyPr/>
                    <a:lstStyle/>
                    <a:p>
                      <a:r>
                        <a:rPr sz="1800" b="1">
                          <a:solidFill>
                            <a:srgbClr val="FFFFFF"/>
                          </a:solidFill>
                          <a:latin typeface="Hiragino Sans"/>
                          <a:ea typeface="Hiragino Sans"/>
                          <a:cs typeface="Hiragino Sans"/>
                        </a:rPr>
                        <a:t>見える証拠</a:t>
                      </a:r>
                    </a:p>
                  </a:txBody>
                  <a:tcPr marL="133350" marR="133350" marT="95250" marB="76200" anchor="t">
                    <a:solidFill>
                      <a:srgbClr val="132B3A"/>
                    </a:solidFill>
                  </a:tcPr>
                </a:tc>
              </a:tr>
              <a:tr h="769620">
                <a:tc>
                  <a:txBody>
                    <a:bodyPr/>
                    <a:lstStyle/>
                    <a:p>
                      <a:r>
                        <a:rPr sz="1800">
                          <a:solidFill>
                            <a:srgbClr val="203640"/>
                          </a:solidFill>
                          <a:latin typeface="Hiragino Sans"/>
                          <a:ea typeface="Hiragino Sans"/>
                          <a:cs typeface="Hiragino Sans"/>
                        </a:rPr>
                        <a:t>0:00〜0:20</a:t>
                      </a:r>
                    </a:p>
                  </a:txBody>
                  <a:tcPr marL="133350" marR="133350" marT="95250" marB="76200" anchor="t">
                    <a:solidFill>
                      <a:srgbClr val="FFFFFF"/>
                    </a:solidFill>
                  </a:tcPr>
                </a:tc>
                <a:tc>
                  <a:txBody>
                    <a:bodyPr/>
                    <a:lstStyle/>
                    <a:p>
                      <a:r>
                        <a:rPr sz="1800">
                          <a:solidFill>
                            <a:srgbClr val="203640"/>
                          </a:solidFill>
                          <a:latin typeface="Hiragino Sans"/>
                          <a:ea typeface="Hiragino Sans"/>
                          <a:cs typeface="Hiragino Sans"/>
                        </a:rPr>
                        <a:t>欠勤と店長の状況</a:t>
                      </a:r>
                    </a:p>
                  </a:txBody>
                  <a:tcPr marL="133350" marR="133350" marT="95250" marB="76200" anchor="t">
                    <a:solidFill>
                      <a:srgbClr val="FFFFFF"/>
                    </a:solidFill>
                  </a:tcPr>
                </a:tc>
                <a:tc>
                  <a:txBody>
                    <a:bodyPr/>
                    <a:lstStyle/>
                    <a:p>
                      <a:r>
                        <a:rPr sz="1800">
                          <a:solidFill>
                            <a:srgbClr val="203640"/>
                          </a:solidFill>
                          <a:latin typeface="Hiragino Sans"/>
                          <a:ea typeface="Hiragino Sans"/>
                          <a:cs typeface="Hiragino Sans"/>
                        </a:rPr>
                        <a:t>仕事の目的と事前の許可範囲</a:t>
                      </a:r>
                    </a:p>
                  </a:txBody>
                  <a:tcPr marL="133350" marR="133350" marT="95250" marB="76200" anchor="t">
                    <a:solidFill>
                      <a:srgbClr val="FFFFFF"/>
                    </a:solidFill>
                  </a:tcPr>
                </a:tc>
              </a:tr>
              <a:tr h="769620">
                <a:tc>
                  <a:txBody>
                    <a:bodyPr/>
                    <a:lstStyle/>
                    <a:p>
                      <a:r>
                        <a:rPr sz="1800">
                          <a:solidFill>
                            <a:srgbClr val="203640"/>
                          </a:solidFill>
                          <a:latin typeface="Hiragino Sans"/>
                          <a:ea typeface="Hiragino Sans"/>
                          <a:cs typeface="Hiragino Sans"/>
                        </a:rPr>
                        <a:t>0:20〜1:20</a:t>
                      </a:r>
                    </a:p>
                  </a:txBody>
                  <a:tcPr marL="133350" marR="133350" marT="95250" marB="76200" anchor="t">
                    <a:solidFill>
                      <a:srgbClr val="EDF2EF"/>
                    </a:solidFill>
                  </a:tcPr>
                </a:tc>
                <a:tc>
                  <a:txBody>
                    <a:bodyPr/>
                    <a:lstStyle/>
                    <a:p>
                      <a:r>
                        <a:rPr sz="1800">
                          <a:solidFill>
                            <a:srgbClr val="203640"/>
                          </a:solidFill>
                          <a:latin typeface="Hiragino Sans"/>
                          <a:ea typeface="Hiragino Sans"/>
                          <a:cs typeface="Hiragino Sans"/>
                        </a:rPr>
                        <a:t>辞退、部分承諾、再打診</a:t>
                      </a:r>
                    </a:p>
                  </a:txBody>
                  <a:tcPr marL="133350" marR="133350" marT="95250" marB="76200" anchor="t">
                    <a:solidFill>
                      <a:srgbClr val="EDF2EF"/>
                    </a:solidFill>
                  </a:tcPr>
                </a:tc>
                <a:tc>
                  <a:txBody>
                    <a:bodyPr/>
                    <a:lstStyle/>
                    <a:p>
                      <a:r>
                        <a:rPr sz="1800">
                          <a:solidFill>
                            <a:srgbClr val="203640"/>
                          </a:solidFill>
                          <a:latin typeface="Hiragino Sans"/>
                          <a:ea typeface="Hiragino Sans"/>
                          <a:cs typeface="Hiragino Sans"/>
                        </a:rPr>
                        <a:t>結果を観測した行動変更</a:t>
                      </a:r>
                    </a:p>
                  </a:txBody>
                  <a:tcPr marL="133350" marR="133350" marT="95250" marB="76200" anchor="t">
                    <a:solidFill>
                      <a:srgbClr val="EDF2EF"/>
                    </a:solidFill>
                  </a:tcPr>
                </a:tc>
              </a:tr>
              <a:tr h="769620">
                <a:tc>
                  <a:txBody>
                    <a:bodyPr/>
                    <a:lstStyle/>
                    <a:p>
                      <a:r>
                        <a:rPr sz="1800">
                          <a:solidFill>
                            <a:srgbClr val="203640"/>
                          </a:solidFill>
                          <a:latin typeface="Hiragino Sans"/>
                          <a:ea typeface="Hiragino Sans"/>
                          <a:cs typeface="Hiragino Sans"/>
                        </a:rPr>
                        <a:t>1:20〜1:50</a:t>
                      </a:r>
                    </a:p>
                  </a:txBody>
                  <a:tcPr marL="133350" marR="133350" marT="95250" marB="76200" anchor="t">
                    <a:solidFill>
                      <a:srgbClr val="FFFFFF"/>
                    </a:solidFill>
                  </a:tcPr>
                </a:tc>
                <a:tc>
                  <a:txBody>
                    <a:bodyPr/>
                    <a:lstStyle/>
                    <a:p>
                      <a:r>
                        <a:rPr sz="1800">
                          <a:solidFill>
                            <a:srgbClr val="203640"/>
                          </a:solidFill>
                          <a:latin typeface="Hiragino Sans"/>
                          <a:ea typeface="Hiragino Sans"/>
                          <a:cs typeface="Hiragino Sans"/>
                        </a:rPr>
                        <a:t>更新・読戻し・重複返信</a:t>
                      </a:r>
                    </a:p>
                  </a:txBody>
                  <a:tcPr marL="133350" marR="133350" marT="95250" marB="76200" anchor="t">
                    <a:solidFill>
                      <a:srgbClr val="FFFFFF"/>
                    </a:solidFill>
                  </a:tcPr>
                </a:tc>
                <a:tc>
                  <a:txBody>
                    <a:bodyPr/>
                    <a:lstStyle/>
                    <a:p>
                      <a:r>
                        <a:rPr sz="1800">
                          <a:solidFill>
                            <a:srgbClr val="203640"/>
                          </a:solidFill>
                          <a:latin typeface="Hiragino Sans"/>
                          <a:ea typeface="Hiragino Sans"/>
                          <a:cs typeface="Hiragino Sans"/>
                        </a:rPr>
                        <a:t>二重確定を防ぐ動作</a:t>
                      </a:r>
                    </a:p>
                  </a:txBody>
                  <a:tcPr marL="133350" marR="133350" marT="95250" marB="76200" anchor="t">
                    <a:solidFill>
                      <a:srgbClr val="FFFFFF"/>
                    </a:solidFill>
                  </a:tcPr>
                </a:tc>
              </a:tr>
              <a:tr h="769620">
                <a:tc>
                  <a:txBody>
                    <a:bodyPr/>
                    <a:lstStyle/>
                    <a:p>
                      <a:r>
                        <a:rPr sz="1800">
                          <a:solidFill>
                            <a:srgbClr val="203640"/>
                          </a:solidFill>
                          <a:latin typeface="Hiragino Sans"/>
                          <a:ea typeface="Hiragino Sans"/>
                          <a:cs typeface="Hiragino Sans"/>
                        </a:rPr>
                        <a:t>1:50〜2:20</a:t>
                      </a:r>
                    </a:p>
                  </a:txBody>
                  <a:tcPr marL="133350" marR="133350" marT="95250" marB="76200" anchor="t">
                    <a:solidFill>
                      <a:srgbClr val="EDF2EF"/>
                    </a:solidFill>
                  </a:tcPr>
                </a:tc>
                <a:tc>
                  <a:txBody>
                    <a:bodyPr/>
                    <a:lstStyle/>
                    <a:p>
                      <a:r>
                        <a:rPr sz="1800">
                          <a:solidFill>
                            <a:srgbClr val="203640"/>
                          </a:solidFill>
                          <a:latin typeface="Hiragino Sans"/>
                          <a:ea typeface="Hiragino Sans"/>
                          <a:cs typeface="Hiragino Sans"/>
                        </a:rPr>
                        <a:t>個人情報要求や候補枯渇</a:t>
                      </a:r>
                    </a:p>
                  </a:txBody>
                  <a:tcPr marL="133350" marR="133350" marT="95250" marB="76200" anchor="t">
                    <a:solidFill>
                      <a:srgbClr val="EDF2EF"/>
                    </a:solidFill>
                  </a:tcPr>
                </a:tc>
                <a:tc>
                  <a:txBody>
                    <a:bodyPr/>
                    <a:lstStyle/>
                    <a:p>
                      <a:r>
                        <a:rPr sz="1800">
                          <a:solidFill>
                            <a:srgbClr val="203640"/>
                          </a:solidFill>
                          <a:latin typeface="Hiragino Sans"/>
                          <a:ea typeface="Hiragino Sans"/>
                          <a:cs typeface="Hiragino Sans"/>
                        </a:rPr>
                        <a:t>権限検査と理由付き停止</a:t>
                      </a:r>
                    </a:p>
                  </a:txBody>
                  <a:tcPr marL="133350" marR="133350" marT="95250" marB="76200" anchor="t">
                    <a:solidFill>
                      <a:srgbClr val="EDF2EF"/>
                    </a:solidFill>
                  </a:tcPr>
                </a:tc>
              </a:tr>
              <a:tr h="769620">
                <a:tc>
                  <a:txBody>
                    <a:bodyPr/>
                    <a:lstStyle/>
                    <a:p>
                      <a:r>
                        <a:rPr sz="1800">
                          <a:solidFill>
                            <a:srgbClr val="203640"/>
                          </a:solidFill>
                          <a:latin typeface="Hiragino Sans"/>
                          <a:ea typeface="Hiragino Sans"/>
                          <a:cs typeface="Hiragino Sans"/>
                        </a:rPr>
                        <a:t>2:20〜3:00</a:t>
                      </a:r>
                    </a:p>
                  </a:txBody>
                  <a:tcPr marL="133350" marR="133350" marT="95250" marB="76200" anchor="t">
                    <a:solidFill>
                      <a:srgbClr val="FFFFFF"/>
                    </a:solidFill>
                  </a:tcPr>
                </a:tc>
                <a:tc>
                  <a:txBody>
                    <a:bodyPr/>
                    <a:lstStyle/>
                    <a:p>
                      <a:r>
                        <a:rPr sz="1800">
                          <a:solidFill>
                            <a:srgbClr val="203640"/>
                          </a:solidFill>
                          <a:latin typeface="Hiragino Sans"/>
                          <a:ea typeface="Hiragino Sans"/>
                          <a:cs typeface="Hiragino Sans"/>
                        </a:rPr>
                        <a:t>実測比較とライブログ</a:t>
                      </a:r>
                    </a:p>
                  </a:txBody>
                  <a:tcPr marL="133350" marR="133350" marT="95250" marB="76200" anchor="t">
                    <a:solidFill>
                      <a:srgbClr val="FFFFFF"/>
                    </a:solidFill>
                  </a:tcPr>
                </a:tc>
                <a:tc>
                  <a:txBody>
                    <a:bodyPr/>
                    <a:lstStyle/>
                    <a:p>
                      <a:r>
                        <a:rPr sz="1800">
                          <a:solidFill>
                            <a:srgbClr val="203640"/>
                          </a:solidFill>
                          <a:latin typeface="Hiragino Sans"/>
                          <a:ea typeface="Hiragino Sans"/>
                          <a:cs typeface="Hiragino Sans"/>
                        </a:rPr>
                        <a:t>品質・費用・ルーティングの役割</a:t>
                      </a:r>
                    </a:p>
                  </a:txBody>
                  <a:tcPr marL="133350" marR="133350" marT="95250" marB="76200" anchor="t">
                    <a:solidFill>
                      <a:srgbClr val="FFFFFF"/>
                    </a:solidFill>
                  </a:tcPr>
                </a:tc>
              </a:tr>
            </a:tbl>
          </a:graphicData>
        </a:graphic>
      </p:graphicFrame>
    </p:spTree>
    <p:extLst>
      <p:ext uri="{BB962C8B-B14F-4D97-AF65-F5344CB8AC3E}">
        <p14:creationId xmlns:p14="http://schemas.microsoft.com/office/powerpoint/2010/main" val="2017167578"/>
      </p:ext>
    </p:extLst>
  </p:cSld>
</p:sld>
</file>

<file path=ppt/slides/slide21.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5" name="text-21-0">
            <a:extLst xmlns:a="http://schemas.openxmlformats.org/drawingml/2006/main">
              <a:ext uri="{FF2B5EF4-FFF2-40B4-BE49-F238E27FC236}">
                <a16:creationId xmlns:a16="http://schemas.microsoft.com/office/drawing/2014/main" id="{D777CA7E-3A6C-4A4A-8C66-B317173F262C}"/>
              </a:ext>
            </a:extLst>
          </p:cNvPr>
          <p:cNvSpPr>
            <a:spLocks xmlns:a="http://schemas.openxmlformats.org/drawingml/2006/main" noGrp="1"/>
          </p:cNvSpPr>
          <p:nvPr/>
        </p:nvSpPr>
        <p:spPr>
          <a:xfrm xmlns:a="http://schemas.openxmlformats.org/drawingml/2006/main">
            <a:off x="609600" y="409575"/>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32B3A"/>
                </a:solidFill>
                <a:latin typeface="Hiragino Sans"/>
                <a:ea typeface="Hiragino Sans"/>
                <a:cs typeface="Hiragino Sans"/>
              </a:defRPr>
            </a:pPr>
            <a:r>
              <a:rPr sz="3300" b="1">
                <a:solidFill>
                  <a:srgbClr val="132B3A"/>
                </a:solidFill>
                <a:latin typeface="Hiragino Sans"/>
                <a:ea typeface="Hiragino Sans"/>
                <a:cs typeface="Hiragino Sans"/>
              </a:rPr>
              <a:t>4日間の到達点</a:t>
            </a:r>
          </a:p>
        </p:txBody>
      </p:sp>
      <p:sp>
        <p:nvSpPr>
          <p:cNvPr id="2" name="text-21-1">
            <a:extLst xmlns:a="http://schemas.openxmlformats.org/drawingml/2006/main">
              <a:ext uri="{FF2B5EF4-FFF2-40B4-BE49-F238E27FC236}">
                <a16:creationId xmlns:a16="http://schemas.microsoft.com/office/drawing/2014/main" id="{CF266DA7-BE73-4299-A93A-FE9C724D4DA7}"/>
              </a:ext>
            </a:extLst>
          </p:cNvPr>
          <p:cNvSpPr>
            <a:spLocks xmlns:a="http://schemas.openxmlformats.org/drawingml/2006/main" noGrp="1"/>
          </p:cNvSpPr>
          <p:nvPr/>
        </p:nvSpPr>
        <p:spPr>
          <a:xfrm xmlns:a="http://schemas.openxmlformats.org/drawingml/2006/main">
            <a:off x="11077575" y="6391275"/>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D6B73"/>
                </a:solidFill>
                <a:latin typeface="Hiragino Sans"/>
                <a:ea typeface="Hiragino Sans"/>
                <a:cs typeface="Hiragino Sans"/>
              </a:defRPr>
            </a:pPr>
            <a:r>
              <a:rPr sz="1275" b="0">
                <a:solidFill>
                  <a:srgbClr val="5D6B73"/>
                </a:solidFill>
                <a:latin typeface="Hiragino Sans"/>
                <a:ea typeface="Hiragino Sans"/>
                <a:cs typeface="Hiragino Sans"/>
              </a:rPr>
              <a:t>21</a:t>
            </a:r>
          </a:p>
        </p:txBody>
      </p:sp>
      <p:graphicFrame>
        <p:nvGraphicFramePr>
          <p:cNvPr id="7" name=""/>
          <p:cNvGraphicFramePr/>
          <p:nvPr/>
        </p:nvGraphicFramePr>
        <p:xfrm>
          <a:off xmlns:a="http://schemas.openxmlformats.org/drawingml/2006/main" x="609600" y="1457325"/>
          <a:ext xmlns:a="http://schemas.openxmlformats.org/drawingml/2006/main" cx="10972800" cy="3810000"/>
        </p:xfrm>
        <a:graphic xmlns:a="http://schemas.openxmlformats.org/drawingml/2006/main">
          <a:graphicData uri="http://schemas.openxmlformats.org/drawingml/2006/table">
            <a:tbl>
              <a:tblPr/>
              <a:tblGrid>
                <a:gridCol w="1619250"/>
                <a:gridCol w="4657725"/>
                <a:gridCol w="4695825"/>
              </a:tblGrid>
              <a:tr h="533400">
                <a:tc>
                  <a:txBody>
                    <a:bodyPr/>
                    <a:lstStyle/>
                    <a:p>
                      <a:r>
                        <a:rPr sz="1875" b="1">
                          <a:solidFill>
                            <a:srgbClr val="FFFFFF"/>
                          </a:solidFill>
                          <a:latin typeface="Hiragino Sans"/>
                          <a:ea typeface="Hiragino Sans"/>
                          <a:cs typeface="Hiragino Sans"/>
                        </a:rPr>
                        <a:t>日</a:t>
                      </a:r>
                    </a:p>
                  </a:txBody>
                  <a:tcPr marL="133350" marR="133350" marT="95250" marB="76200" anchor="t">
                    <a:solidFill>
                      <a:srgbClr val="132B3A"/>
                    </a:solidFill>
                  </a:tcPr>
                </a:tc>
                <a:tc>
                  <a:txBody>
                    <a:bodyPr/>
                    <a:lstStyle/>
                    <a:p>
                      <a:r>
                        <a:rPr sz="1875" b="1">
                          <a:solidFill>
                            <a:srgbClr val="FFFFFF"/>
                          </a:solidFill>
                          <a:latin typeface="Hiragino Sans"/>
                          <a:ea typeface="Hiragino Sans"/>
                          <a:cs typeface="Hiragino Sans"/>
                        </a:rPr>
                        <a:t>作る・確かめる</a:t>
                      </a:r>
                    </a:p>
                  </a:txBody>
                  <a:tcPr marL="133350" marR="133350" marT="95250" marB="76200" anchor="t">
                    <a:solidFill>
                      <a:srgbClr val="132B3A"/>
                    </a:solidFill>
                  </a:tcPr>
                </a:tc>
                <a:tc>
                  <a:txBody>
                    <a:bodyPr/>
                    <a:lstStyle/>
                    <a:p>
                      <a:r>
                        <a:rPr sz="1875" b="1">
                          <a:solidFill>
                            <a:srgbClr val="FFFFFF"/>
                          </a:solidFill>
                          <a:latin typeface="Hiragino Sans"/>
                          <a:ea typeface="Hiragino Sans"/>
                          <a:cs typeface="Hiragino Sans"/>
                        </a:rPr>
                        <a:t>終了時点の状態</a:t>
                      </a:r>
                    </a:p>
                  </a:txBody>
                  <a:tcPr marL="133350" marR="133350" marT="95250" marB="76200" anchor="t">
                    <a:solidFill>
                      <a:srgbClr val="132B3A"/>
                    </a:solidFill>
                  </a:tcPr>
                </a:tc>
              </a:tr>
              <a:tr h="819150">
                <a:tc>
                  <a:txBody>
                    <a:bodyPr/>
                    <a:lstStyle/>
                    <a:p>
                      <a:r>
                        <a:rPr sz="1875">
                          <a:solidFill>
                            <a:srgbClr val="203640"/>
                          </a:solidFill>
                          <a:latin typeface="Hiragino Sans"/>
                          <a:ea typeface="Hiragino Sans"/>
                          <a:cs typeface="Hiragino Sans"/>
                        </a:rPr>
                        <a:t>Day 1</a:t>
                      </a:r>
                    </a:p>
                  </a:txBody>
                  <a:tcPr marL="133350" marR="133350" marT="95250" marB="76200" anchor="t">
                    <a:solidFill>
                      <a:srgbClr val="FFFFFF"/>
                    </a:solidFill>
                  </a:tcPr>
                </a:tc>
                <a:tc>
                  <a:txBody>
                    <a:bodyPr/>
                    <a:lstStyle/>
                    <a:p>
                      <a:r>
                        <a:rPr sz="1875">
                          <a:solidFill>
                            <a:srgbClr val="203640"/>
                          </a:solidFill>
                          <a:latin typeface="Hiragino Sans"/>
                          <a:ea typeface="Hiragino Sans"/>
                          <a:cs typeface="Hiragino Sans"/>
                        </a:rPr>
                        <a:t>接続、ルール、架空データ、通し動作</a:t>
                      </a:r>
                    </a:p>
                  </a:txBody>
                  <a:tcPr marL="133350" marR="133350" marT="95250" marB="76200" anchor="t">
                    <a:solidFill>
                      <a:srgbClr val="FFFFFF"/>
                    </a:solidFill>
                  </a:tcPr>
                </a:tc>
                <a:tc>
                  <a:txBody>
                    <a:bodyPr/>
                    <a:lstStyle/>
                    <a:p>
                      <a:r>
                        <a:rPr sz="1875">
                          <a:solidFill>
                            <a:srgbClr val="203640"/>
                          </a:solidFill>
                          <a:latin typeface="Hiragino Sans"/>
                          <a:ea typeface="Hiragino Sans"/>
                          <a:cs typeface="Hiragino Sans"/>
                        </a:rPr>
                        <a:t>1件の受付から更新・読戻しまで動く</a:t>
                      </a:r>
                    </a:p>
                  </a:txBody>
                  <a:tcPr marL="133350" marR="133350" marT="95250" marB="76200" anchor="t">
                    <a:solidFill>
                      <a:srgbClr val="FFFFFF"/>
                    </a:solidFill>
                  </a:tcPr>
                </a:tc>
              </a:tr>
              <a:tr h="819150">
                <a:tc>
                  <a:txBody>
                    <a:bodyPr/>
                    <a:lstStyle/>
                    <a:p>
                      <a:r>
                        <a:rPr sz="1875">
                          <a:solidFill>
                            <a:srgbClr val="203640"/>
                          </a:solidFill>
                          <a:latin typeface="Hiragino Sans"/>
                          <a:ea typeface="Hiragino Sans"/>
                          <a:cs typeface="Hiragino Sans"/>
                        </a:rPr>
                        <a:t>Day 2</a:t>
                      </a:r>
                    </a:p>
                  </a:txBody>
                  <a:tcPr marL="133350" marR="133350" marT="95250" marB="76200" anchor="t">
                    <a:solidFill>
                      <a:srgbClr val="EDF2EF"/>
                    </a:solidFill>
                  </a:tcPr>
                </a:tc>
                <a:tc>
                  <a:txBody>
                    <a:bodyPr/>
                    <a:lstStyle/>
                    <a:p>
                      <a:r>
                        <a:rPr sz="1875">
                          <a:solidFill>
                            <a:srgbClr val="203640"/>
                          </a:solidFill>
                          <a:latin typeface="Hiragino Sans"/>
                          <a:ea typeface="Hiragino Sans"/>
                          <a:cs typeface="Hiragino Sans"/>
                        </a:rPr>
                        <a:t>再計画、期限、保存、重複防止</a:t>
                      </a:r>
                    </a:p>
                  </a:txBody>
                  <a:tcPr marL="133350" marR="133350" marT="95250" marB="76200" anchor="t">
                    <a:solidFill>
                      <a:srgbClr val="EDF2EF"/>
                    </a:solidFill>
                  </a:tcPr>
                </a:tc>
                <a:tc>
                  <a:txBody>
                    <a:bodyPr/>
                    <a:lstStyle/>
                    <a:p>
                      <a:r>
                        <a:rPr sz="1875">
                          <a:solidFill>
                            <a:srgbClr val="203640"/>
                          </a:solidFill>
                          <a:latin typeface="Hiragino Sans"/>
                          <a:ea typeface="Hiragino Sans"/>
                          <a:cs typeface="Hiragino Sans"/>
                        </a:rPr>
                        <a:t>主要デモと引き継ぎが繰り返し動く</a:t>
                      </a:r>
                    </a:p>
                  </a:txBody>
                  <a:tcPr marL="133350" marR="133350" marT="95250" marB="76200" anchor="t">
                    <a:solidFill>
                      <a:srgbClr val="EDF2EF"/>
                    </a:solidFill>
                  </a:tcPr>
                </a:tc>
              </a:tr>
              <a:tr h="819150">
                <a:tc>
                  <a:txBody>
                    <a:bodyPr/>
                    <a:lstStyle/>
                    <a:p>
                      <a:r>
                        <a:rPr sz="1875">
                          <a:solidFill>
                            <a:srgbClr val="203640"/>
                          </a:solidFill>
                          <a:latin typeface="Hiragino Sans"/>
                          <a:ea typeface="Hiragino Sans"/>
                          <a:cs typeface="Hiragino Sans"/>
                        </a:rPr>
                        <a:t>Day 3</a:t>
                      </a:r>
                    </a:p>
                  </a:txBody>
                  <a:tcPr marL="133350" marR="133350" marT="95250" marB="76200" anchor="t">
                    <a:solidFill>
                      <a:srgbClr val="FFFFFF"/>
                    </a:solidFill>
                  </a:tcPr>
                </a:tc>
                <a:tc>
                  <a:txBody>
                    <a:bodyPr/>
                    <a:lstStyle/>
                    <a:p>
                      <a:r>
                        <a:rPr sz="1875">
                          <a:solidFill>
                            <a:srgbClr val="203640"/>
                          </a:solidFill>
                          <a:latin typeface="Hiragino Sans"/>
                          <a:ea typeface="Hiragino Sans"/>
                          <a:cs typeface="Hiragino Sans"/>
                        </a:rPr>
                        <a:t>A/B/C評価、失敗修正、可視化</a:t>
                      </a:r>
                    </a:p>
                  </a:txBody>
                  <a:tcPr marL="133350" marR="133350" marT="95250" marB="76200" anchor="t">
                    <a:solidFill>
                      <a:srgbClr val="FFFFFF"/>
                    </a:solidFill>
                  </a:tcPr>
                </a:tc>
                <a:tc>
                  <a:txBody>
                    <a:bodyPr/>
                    <a:lstStyle/>
                    <a:p>
                      <a:r>
                        <a:rPr sz="1875">
                          <a:solidFill>
                            <a:srgbClr val="203640"/>
                          </a:solidFill>
                          <a:latin typeface="Hiragino Sans"/>
                          <a:ea typeface="Hiragino Sans"/>
                          <a:cs typeface="Hiragino Sans"/>
                        </a:rPr>
                        <a:t>実測表と失敗一覧がある</a:t>
                      </a:r>
                    </a:p>
                  </a:txBody>
                  <a:tcPr marL="133350" marR="133350" marT="95250" marB="76200" anchor="t">
                    <a:solidFill>
                      <a:srgbClr val="FFFFFF"/>
                    </a:solidFill>
                  </a:tcPr>
                </a:tc>
              </a:tr>
              <a:tr h="819150">
                <a:tc>
                  <a:txBody>
                    <a:bodyPr/>
                    <a:lstStyle/>
                    <a:p>
                      <a:r>
                        <a:rPr sz="1875">
                          <a:solidFill>
                            <a:srgbClr val="203640"/>
                          </a:solidFill>
                          <a:latin typeface="Hiragino Sans"/>
                          <a:ea typeface="Hiragino Sans"/>
                          <a:cs typeface="Hiragino Sans"/>
                        </a:rPr>
                        <a:t>Day 4</a:t>
                      </a:r>
                    </a:p>
                  </a:txBody>
                  <a:tcPr marL="133350" marR="133350" marT="95250" marB="76200" anchor="t">
                    <a:solidFill>
                      <a:srgbClr val="EDF2EF"/>
                    </a:solidFill>
                  </a:tcPr>
                </a:tc>
                <a:tc>
                  <a:txBody>
                    <a:bodyPr/>
                    <a:lstStyle/>
                    <a:p>
                      <a:r>
                        <a:rPr sz="1875">
                          <a:solidFill>
                            <a:srgbClr val="203640"/>
                          </a:solidFill>
                          <a:latin typeface="Hiragino Sans"/>
                          <a:ea typeface="Hiragino Sans"/>
                          <a:cs typeface="Hiragino Sans"/>
                        </a:rPr>
                        <a:t>機能固定、練習、再現確認、録画</a:t>
                      </a:r>
                    </a:p>
                  </a:txBody>
                  <a:tcPr marL="133350" marR="133350" marT="95250" marB="76200" anchor="t">
                    <a:solidFill>
                      <a:srgbClr val="EDF2EF"/>
                    </a:solidFill>
                  </a:tcPr>
                </a:tc>
                <a:tc>
                  <a:txBody>
                    <a:bodyPr/>
                    <a:lstStyle/>
                    <a:p>
                      <a:r>
                        <a:rPr sz="1875">
                          <a:solidFill>
                            <a:srgbClr val="203640"/>
                          </a:solidFill>
                          <a:latin typeface="Hiragino Sans"/>
                          <a:ea typeface="Hiragino Sans"/>
                          <a:cs typeface="Hiragino Sans"/>
                        </a:rPr>
                        <a:t>初期化して誰でもデモできる</a:t>
                      </a:r>
                    </a:p>
                  </a:txBody>
                  <a:tcPr marL="133350" marR="133350" marT="95250" marB="76200" anchor="t">
                    <a:solidFill>
                      <a:srgbClr val="EDF2EF"/>
                    </a:solidFill>
                  </a:tcPr>
                </a:tc>
              </a:tr>
            </a:tbl>
          </a:graphicData>
        </a:graphic>
      </p:graphicFrame>
      <p:sp>
        <p:nvSpPr>
          <p:cNvPr id="4" name="text-21-2">
            <a:extLst xmlns:a="http://schemas.openxmlformats.org/drawingml/2006/main">
              <a:ext uri="{FF2B5EF4-FFF2-40B4-BE49-F238E27FC236}">
                <a16:creationId xmlns:a16="http://schemas.microsoft.com/office/drawing/2014/main" id="{FC2E4701-1ED0-4AC6-BF4D-315E56DD21B0}"/>
              </a:ext>
            </a:extLst>
          </p:cNvPr>
          <p:cNvSpPr>
            <a:spLocks xmlns:a="http://schemas.openxmlformats.org/drawingml/2006/main" noGrp="1"/>
          </p:cNvSpPr>
          <p:nvPr/>
        </p:nvSpPr>
        <p:spPr>
          <a:xfrm xmlns:a="http://schemas.openxmlformats.org/drawingml/2006/main">
            <a:off x="609600" y="552450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BE542A"/>
                </a:solidFill>
                <a:latin typeface="Hiragino Sans"/>
                <a:ea typeface="Hiragino Sans"/>
                <a:cs typeface="Hiragino Sans"/>
              </a:defRPr>
            </a:pPr>
            <a:r>
              <a:rPr sz="2025" b="1">
                <a:solidFill>
                  <a:srgbClr val="BE542A"/>
                </a:solidFill>
                <a:latin typeface="Hiragino Sans"/>
                <a:ea typeface="Hiragino Sans"/>
                <a:cs typeface="Hiragino Sans"/>
              </a:rPr>
              <a:t>遅れたら連携・候補数・装飾を削る。制約検査・停止・実測を残す。</a:t>
            </a:r>
          </a:p>
        </p:txBody>
      </p:sp>
    </p:spTree>
    <p:extLst>
      <p:ext uri="{BB962C8B-B14F-4D97-AF65-F5344CB8AC3E}">
        <p14:creationId xmlns:p14="http://schemas.microsoft.com/office/powerpoint/2010/main" val="709637370"/>
      </p:ext>
    </p:extLst>
  </p:cSld>
</p:sld>
</file>

<file path=ppt/slides/slide22.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6" name="text-22-0">
            <a:extLst xmlns:a="http://schemas.openxmlformats.org/drawingml/2006/main">
              <a:ext uri="{FF2B5EF4-FFF2-40B4-BE49-F238E27FC236}">
                <a16:creationId xmlns:a16="http://schemas.microsoft.com/office/drawing/2014/main" id="{F44496D3-9C75-42B5-BD52-2082FFFA5990}"/>
              </a:ext>
            </a:extLst>
          </p:cNvPr>
          <p:cNvSpPr>
            <a:spLocks xmlns:a="http://schemas.openxmlformats.org/drawingml/2006/main" noGrp="1"/>
          </p:cNvSpPr>
          <p:nvPr/>
        </p:nvSpPr>
        <p:spPr>
          <a:xfrm xmlns:a="http://schemas.openxmlformats.org/drawingml/2006/main">
            <a:off x="609600" y="409575"/>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32B3A"/>
                </a:solidFill>
                <a:latin typeface="Hiragino Sans"/>
                <a:ea typeface="Hiragino Sans"/>
                <a:cs typeface="Hiragino Sans"/>
              </a:defRPr>
            </a:pPr>
            <a:r>
              <a:rPr sz="3300" b="1">
                <a:solidFill>
                  <a:srgbClr val="132B3A"/>
                </a:solidFill>
                <a:latin typeface="Hiragino Sans"/>
                <a:ea typeface="Hiragino Sans"/>
                <a:cs typeface="Hiragino Sans"/>
              </a:rPr>
              <a:t>役割と共通データを初日に決める</a:t>
            </a:r>
          </a:p>
        </p:txBody>
      </p:sp>
      <p:sp>
        <p:nvSpPr>
          <p:cNvPr id="2" name="text-22-1">
            <a:extLst xmlns:a="http://schemas.openxmlformats.org/drawingml/2006/main">
              <a:ext uri="{FF2B5EF4-FFF2-40B4-BE49-F238E27FC236}">
                <a16:creationId xmlns:a16="http://schemas.microsoft.com/office/drawing/2014/main" id="{E8229B37-811A-4DB7-B409-4F96EDC02A3F}"/>
              </a:ext>
            </a:extLst>
          </p:cNvPr>
          <p:cNvSpPr>
            <a:spLocks xmlns:a="http://schemas.openxmlformats.org/drawingml/2006/main" noGrp="1"/>
          </p:cNvSpPr>
          <p:nvPr/>
        </p:nvSpPr>
        <p:spPr>
          <a:xfrm xmlns:a="http://schemas.openxmlformats.org/drawingml/2006/main">
            <a:off x="11077575" y="6391275"/>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D6B73"/>
                </a:solidFill>
                <a:latin typeface="Hiragino Sans"/>
                <a:ea typeface="Hiragino Sans"/>
                <a:cs typeface="Hiragino Sans"/>
              </a:defRPr>
            </a:pPr>
            <a:r>
              <a:rPr sz="1275" b="0">
                <a:solidFill>
                  <a:srgbClr val="5D6B73"/>
                </a:solidFill>
                <a:latin typeface="Hiragino Sans"/>
                <a:ea typeface="Hiragino Sans"/>
                <a:cs typeface="Hiragino Sans"/>
              </a:rPr>
              <a:t>22</a:t>
            </a:r>
          </a:p>
        </p:txBody>
      </p:sp>
      <p:sp>
        <p:nvSpPr>
          <p:cNvPr id="3" name="text-22-2">
            <a:extLst xmlns:a="http://schemas.openxmlformats.org/drawingml/2006/main">
              <a:ext uri="{FF2B5EF4-FFF2-40B4-BE49-F238E27FC236}">
                <a16:creationId xmlns:a16="http://schemas.microsoft.com/office/drawing/2014/main" id="{81EDFDAB-CE11-454F-9980-7B18E012E45B}"/>
              </a:ext>
            </a:extLst>
          </p:cNvPr>
          <p:cNvSpPr>
            <a:spLocks xmlns:a="http://schemas.openxmlformats.org/drawingml/2006/main" noGrp="1"/>
          </p:cNvSpPr>
          <p:nvPr/>
        </p:nvSpPr>
        <p:spPr>
          <a:xfrm xmlns:a="http://schemas.openxmlformats.org/drawingml/2006/main">
            <a:off x="609600" y="6238875"/>
            <a:ext cx="10144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D6B73"/>
                </a:solidFill>
                <a:latin typeface="Hiragino Sans"/>
                <a:ea typeface="Hiragino Sans"/>
                <a:cs typeface="Hiragino Sans"/>
              </a:defRPr>
            </a:pPr>
            <a:r>
              <a:rPr sz="1275" b="0">
                <a:solidFill>
                  <a:srgbClr val="5D6B73"/>
                </a:solidFill>
                <a:latin typeface="Hiragino Sans"/>
                <a:ea typeface="Hiragino Sans"/>
                <a:cs typeface="Hiragino Sans"/>
              </a:rPr>
              <a:t>チーム人数は未確認。担当領域を置き、少人数なら兼務する。</a:t>
            </a:r>
          </a:p>
        </p:txBody>
      </p:sp>
      <p:graphicFrame>
        <p:nvGraphicFramePr>
          <p:cNvPr id="9" name=""/>
          <p:cNvGraphicFramePr/>
          <p:nvPr/>
        </p:nvGraphicFramePr>
        <p:xfrm>
          <a:off xmlns:a="http://schemas.openxmlformats.org/drawingml/2006/main" x="609600" y="1457325"/>
          <a:ext xmlns:a="http://schemas.openxmlformats.org/drawingml/2006/main" cx="10972800" cy="3457575"/>
        </p:xfrm>
        <a:graphic xmlns:a="http://schemas.openxmlformats.org/drawingml/2006/main">
          <a:graphicData uri="http://schemas.openxmlformats.org/drawingml/2006/table">
            <a:tbl>
              <a:tblPr/>
              <a:tblGrid>
                <a:gridCol w="4000500"/>
                <a:gridCol w="6972300"/>
              </a:tblGrid>
              <a:tr h="533400">
                <a:tc>
                  <a:txBody>
                    <a:bodyPr/>
                    <a:lstStyle/>
                    <a:p>
                      <a:r>
                        <a:rPr sz="1875" b="1">
                          <a:solidFill>
                            <a:srgbClr val="FFFFFF"/>
                          </a:solidFill>
                          <a:latin typeface="Hiragino Sans"/>
                          <a:ea typeface="Hiragino Sans"/>
                          <a:cs typeface="Hiragino Sans"/>
                        </a:rPr>
                        <a:t>担当領域</a:t>
                      </a:r>
                    </a:p>
                  </a:txBody>
                  <a:tcPr marL="133350" marR="133350" marT="95250" marB="76200" anchor="t">
                    <a:solidFill>
                      <a:srgbClr val="132B3A"/>
                    </a:solidFill>
                  </a:tcPr>
                </a:tc>
                <a:tc>
                  <a:txBody>
                    <a:bodyPr/>
                    <a:lstStyle/>
                    <a:p>
                      <a:r>
                        <a:rPr sz="1875" b="1">
                          <a:solidFill>
                            <a:srgbClr val="FFFFFF"/>
                          </a:solidFill>
                          <a:latin typeface="Hiragino Sans"/>
                          <a:ea typeface="Hiragino Sans"/>
                          <a:cs typeface="Hiragino Sans"/>
                        </a:rPr>
                        <a:t>持つ責任</a:t>
                      </a:r>
                    </a:p>
                  </a:txBody>
                  <a:tcPr marL="133350" marR="133350" marT="95250" marB="76200" anchor="t">
                    <a:solidFill>
                      <a:srgbClr val="132B3A"/>
                    </a:solidFill>
                  </a:tcPr>
                </a:tc>
              </a:tr>
              <a:tr h="731044">
                <a:tc>
                  <a:txBody>
                    <a:bodyPr/>
                    <a:lstStyle/>
                    <a:p>
                      <a:r>
                        <a:rPr sz="1875">
                          <a:solidFill>
                            <a:srgbClr val="203640"/>
                          </a:solidFill>
                          <a:latin typeface="Hiragino Sans"/>
                          <a:ea typeface="Hiragino Sans"/>
                          <a:cs typeface="Hiragino Sans"/>
                        </a:rPr>
                        <a:t>進行・デモ・原稿</a:t>
                      </a:r>
                    </a:p>
                  </a:txBody>
                  <a:tcPr marL="133350" marR="133350" marT="95250" marB="76200" anchor="t">
                    <a:solidFill>
                      <a:srgbClr val="FFFFFF"/>
                    </a:solidFill>
                  </a:tcPr>
                </a:tc>
                <a:tc>
                  <a:txBody>
                    <a:bodyPr/>
                    <a:lstStyle/>
                    <a:p>
                      <a:r>
                        <a:rPr sz="1875">
                          <a:solidFill>
                            <a:srgbClr val="203640"/>
                          </a:solidFill>
                          <a:latin typeface="Hiragino Sans"/>
                          <a:ea typeface="Hiragino Sans"/>
                          <a:cs typeface="Hiragino Sans"/>
                        </a:rPr>
                        <a:t>範囲、採否、発表時間、架空ケースの整合</a:t>
                      </a:r>
                    </a:p>
                  </a:txBody>
                  <a:tcPr marL="133350" marR="133350" marT="95250" marB="76200" anchor="t">
                    <a:solidFill>
                      <a:srgbClr val="FFFFFF"/>
                    </a:solidFill>
                  </a:tcPr>
                </a:tc>
              </a:tr>
              <a:tr h="731044">
                <a:tc>
                  <a:txBody>
                    <a:bodyPr/>
                    <a:lstStyle/>
                    <a:p>
                      <a:r>
                        <a:rPr sz="1875">
                          <a:solidFill>
                            <a:srgbClr val="203640"/>
                          </a:solidFill>
                          <a:latin typeface="Hiragino Sans"/>
                          <a:ea typeface="Hiragino Sans"/>
                          <a:cs typeface="Hiragino Sans"/>
                        </a:rPr>
                        <a:t>エージェント・OrcaRouter</a:t>
                      </a:r>
                    </a:p>
                  </a:txBody>
                  <a:tcPr marL="133350" marR="133350" marT="95250" marB="76200" anchor="t">
                    <a:solidFill>
                      <a:srgbClr val="EDF2EF"/>
                    </a:solidFill>
                  </a:tcPr>
                </a:tc>
                <a:tc>
                  <a:txBody>
                    <a:bodyPr/>
                    <a:lstStyle/>
                    <a:p>
                      <a:r>
                        <a:rPr sz="1875">
                          <a:solidFill>
                            <a:srgbClr val="203640"/>
                          </a:solidFill>
                          <a:latin typeface="Hiragino Sans"/>
                          <a:ea typeface="Hiragino Sans"/>
                          <a:cs typeface="Hiragino Sans"/>
                        </a:rPr>
                        <a:t>自然文理解、行動選択、モデル設定・費用</a:t>
                      </a:r>
                    </a:p>
                  </a:txBody>
                  <a:tcPr marL="133350" marR="133350" marT="95250" marB="76200" anchor="t">
                    <a:solidFill>
                      <a:srgbClr val="EDF2EF"/>
                    </a:solidFill>
                  </a:tcPr>
                </a:tc>
              </a:tr>
              <a:tr h="731044">
                <a:tc>
                  <a:txBody>
                    <a:bodyPr/>
                    <a:lstStyle/>
                    <a:p>
                      <a:r>
                        <a:rPr sz="1875">
                          <a:solidFill>
                            <a:srgbClr val="203640"/>
                          </a:solidFill>
                          <a:latin typeface="Hiragino Sans"/>
                          <a:ea typeface="Hiragino Sans"/>
                          <a:cs typeface="Hiragino Sans"/>
                        </a:rPr>
                        <a:t>状態・ツール・検査</a:t>
                      </a:r>
                    </a:p>
                  </a:txBody>
                  <a:tcPr marL="133350" marR="133350" marT="95250" marB="76200" anchor="t">
                    <a:solidFill>
                      <a:srgbClr val="FFFFFF"/>
                    </a:solidFill>
                  </a:tcPr>
                </a:tc>
                <a:tc>
                  <a:txBody>
                    <a:bodyPr/>
                    <a:lstStyle/>
                    <a:p>
                      <a:r>
                        <a:rPr sz="1875">
                          <a:solidFill>
                            <a:srgbClr val="203640"/>
                          </a:solidFill>
                          <a:latin typeface="Hiragino Sans"/>
                          <a:ea typeface="Hiragino Sans"/>
                          <a:cs typeface="Hiragino Sans"/>
                        </a:rPr>
                        <a:t>権限、版、更新、重複、停止・再開</a:t>
                      </a:r>
                    </a:p>
                  </a:txBody>
                  <a:tcPr marL="133350" marR="133350" marT="95250" marB="76200" anchor="t">
                    <a:solidFill>
                      <a:srgbClr val="FFFFFF"/>
                    </a:solidFill>
                  </a:tcPr>
                </a:tc>
              </a:tr>
              <a:tr h="731044">
                <a:tc>
                  <a:txBody>
                    <a:bodyPr/>
                    <a:lstStyle/>
                    <a:p>
                      <a:r>
                        <a:rPr sz="1875">
                          <a:solidFill>
                            <a:srgbClr val="203640"/>
                          </a:solidFill>
                          <a:latin typeface="Hiragino Sans"/>
                          <a:ea typeface="Hiragino Sans"/>
                          <a:cs typeface="Hiragino Sans"/>
                        </a:rPr>
                        <a:t>UI・評価</a:t>
                      </a:r>
                    </a:p>
                  </a:txBody>
                  <a:tcPr marL="133350" marR="133350" marT="95250" marB="76200" anchor="t">
                    <a:solidFill>
                      <a:srgbClr val="EDF2EF"/>
                    </a:solidFill>
                  </a:tcPr>
                </a:tc>
                <a:tc>
                  <a:txBody>
                    <a:bodyPr/>
                    <a:lstStyle/>
                    <a:p>
                      <a:r>
                        <a:rPr sz="1875">
                          <a:solidFill>
                            <a:srgbClr val="203640"/>
                          </a:solidFill>
                          <a:latin typeface="Hiragino Sans"/>
                          <a:ea typeface="Hiragino Sans"/>
                          <a:cs typeface="Hiragino Sans"/>
                        </a:rPr>
                        <a:t>結果とログ、初期化、ケース実行、比較表</a:t>
                      </a:r>
                    </a:p>
                  </a:txBody>
                  <a:tcPr marL="133350" marR="133350" marT="95250" marB="76200" anchor="t">
                    <a:solidFill>
                      <a:srgbClr val="EDF2EF"/>
                    </a:solidFill>
                  </a:tcPr>
                </a:tc>
              </a:tr>
            </a:tbl>
          </a:graphicData>
        </a:graphic>
      </p:graphicFrame>
      <p:sp>
        <p:nvSpPr>
          <p:cNvPr id="5" name="text-22-3">
            <a:extLst xmlns:a="http://schemas.openxmlformats.org/drawingml/2006/main">
              <a:ext uri="{FF2B5EF4-FFF2-40B4-BE49-F238E27FC236}">
                <a16:creationId xmlns:a16="http://schemas.microsoft.com/office/drawing/2014/main" id="{B55DA9C8-EE72-416C-AE9D-D44B4E9C27EA}"/>
              </a:ext>
            </a:extLst>
          </p:cNvPr>
          <p:cNvSpPr>
            <a:spLocks xmlns:a="http://schemas.openxmlformats.org/drawingml/2006/main" noGrp="1"/>
          </p:cNvSpPr>
          <p:nvPr/>
        </p:nvSpPr>
        <p:spPr>
          <a:xfrm xmlns:a="http://schemas.openxmlformats.org/drawingml/2006/main">
            <a:off x="609600" y="5305425"/>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203640"/>
                </a:solidFill>
                <a:latin typeface="Hiragino Sans"/>
                <a:ea typeface="Hiragino Sans"/>
                <a:cs typeface="Hiragino Sans"/>
              </a:defRPr>
            </a:pPr>
            <a:r>
              <a:rPr sz="1875" b="0">
                <a:solidFill>
                  <a:srgbClr val="203640"/>
                </a:solidFill>
                <a:latin typeface="Hiragino Sans"/>
                <a:ea typeface="Hiragino Sans"/>
                <a:cs typeface="Hiragino Sans"/>
              </a:rPr>
              <a:t>共通データ：案件ID、イベントID、対象と版、状態、許可操作、</a:t>
            </a:r>
          </a:p>
          <a:p xmlns:a="http://schemas.openxmlformats.org/drawingml/2006/main">
            <a:pPr>
              <a:defRPr sz="1875" b="0">
                <a:solidFill>
                  <a:srgbClr val="203640"/>
                </a:solidFill>
                <a:latin typeface="Hiragino Sans"/>
                <a:ea typeface="Hiragino Sans"/>
                <a:cs typeface="Hiragino Sans"/>
              </a:defRPr>
            </a:pPr>
            <a:r>
              <a:rPr sz="1875" b="0">
                <a:solidFill>
                  <a:srgbClr val="203640"/>
                </a:solidFill>
                <a:latin typeface="Hiragino Sans"/>
                <a:ea typeface="Hiragino Sans"/>
                <a:cs typeface="Hiragino Sans"/>
              </a:rPr>
              <a:t>残予算、期限、証拠ID、結果コード、時刻、通貨、使用モデル。</a:t>
            </a:r>
          </a:p>
        </p:txBody>
      </p:sp>
    </p:spTree>
    <p:extLst>
      <p:ext uri="{BB962C8B-B14F-4D97-AF65-F5344CB8AC3E}">
        <p14:creationId xmlns:p14="http://schemas.microsoft.com/office/powerpoint/2010/main" val="738838780"/>
      </p:ext>
    </p:extLst>
  </p:cSld>
</p:sld>
</file>

<file path=ppt/slides/slide23.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4" name="text-23-0">
            <a:extLst xmlns:a="http://schemas.openxmlformats.org/drawingml/2006/main">
              <a:ext uri="{FF2B5EF4-FFF2-40B4-BE49-F238E27FC236}">
                <a16:creationId xmlns:a16="http://schemas.microsoft.com/office/drawing/2014/main" id="{721F9135-FABA-473F-ABAE-1C69EED76AFF}"/>
              </a:ext>
            </a:extLst>
          </p:cNvPr>
          <p:cNvSpPr>
            <a:spLocks xmlns:a="http://schemas.openxmlformats.org/drawingml/2006/main" noGrp="1"/>
          </p:cNvSpPr>
          <p:nvPr/>
        </p:nvSpPr>
        <p:spPr>
          <a:xfrm xmlns:a="http://schemas.openxmlformats.org/drawingml/2006/main">
            <a:off x="609600" y="409575"/>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32B3A"/>
                </a:solidFill>
                <a:latin typeface="Hiragino Sans"/>
                <a:ea typeface="Hiragino Sans"/>
                <a:cs typeface="Hiragino Sans"/>
              </a:defRPr>
            </a:pPr>
            <a:r>
              <a:rPr sz="3300" b="1">
                <a:solidFill>
                  <a:srgbClr val="132B3A"/>
                </a:solidFill>
                <a:latin typeface="Hiragino Sans"/>
                <a:ea typeface="Hiragino Sans"/>
                <a:cs typeface="Hiragino Sans"/>
              </a:rPr>
              <a:t>題材の切替はDay 1中間で判断する</a:t>
            </a:r>
          </a:p>
        </p:txBody>
      </p:sp>
      <p:sp>
        <p:nvSpPr>
          <p:cNvPr id="2" name="text-23-1">
            <a:extLst xmlns:a="http://schemas.openxmlformats.org/drawingml/2006/main">
              <a:ext uri="{FF2B5EF4-FFF2-40B4-BE49-F238E27FC236}">
                <a16:creationId xmlns:a16="http://schemas.microsoft.com/office/drawing/2014/main" id="{D034262E-D460-4F40-830E-D4C08C7F7A92}"/>
              </a:ext>
            </a:extLst>
          </p:cNvPr>
          <p:cNvSpPr>
            <a:spLocks xmlns:a="http://schemas.openxmlformats.org/drawingml/2006/main" noGrp="1"/>
          </p:cNvSpPr>
          <p:nvPr/>
        </p:nvSpPr>
        <p:spPr>
          <a:xfrm xmlns:a="http://schemas.openxmlformats.org/drawingml/2006/main">
            <a:off x="11077575" y="6391275"/>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D6B73"/>
                </a:solidFill>
                <a:latin typeface="Hiragino Sans"/>
                <a:ea typeface="Hiragino Sans"/>
                <a:cs typeface="Hiragino Sans"/>
              </a:defRPr>
            </a:pPr>
            <a:r>
              <a:rPr sz="1275" b="0">
                <a:solidFill>
                  <a:srgbClr val="5D6B73"/>
                </a:solidFill>
                <a:latin typeface="Hiragino Sans"/>
                <a:ea typeface="Hiragino Sans"/>
                <a:cs typeface="Hiragino Sans"/>
              </a:rPr>
              <a:t>23</a:t>
            </a:r>
          </a:p>
        </p:txBody>
      </p:sp>
      <p:graphicFrame>
        <p:nvGraphicFramePr>
          <p:cNvPr id="6" name=""/>
          <p:cNvGraphicFramePr/>
          <p:nvPr/>
        </p:nvGraphicFramePr>
        <p:xfrm>
          <a:off xmlns:a="http://schemas.openxmlformats.org/drawingml/2006/main" x="609600" y="1457325"/>
          <a:ext xmlns:a="http://schemas.openxmlformats.org/drawingml/2006/main" cx="10972800" cy="4381500"/>
        </p:xfrm>
        <a:graphic xmlns:a="http://schemas.openxmlformats.org/drawingml/2006/main">
          <a:graphicData uri="http://schemas.openxmlformats.org/drawingml/2006/table">
            <a:tbl>
              <a:tblPr/>
              <a:tblGrid>
                <a:gridCol w="4095750"/>
                <a:gridCol w="6877050"/>
              </a:tblGrid>
              <a:tr h="533400">
                <a:tc>
                  <a:txBody>
                    <a:bodyPr/>
                    <a:lstStyle/>
                    <a:p>
                      <a:r>
                        <a:rPr sz="1800" b="1">
                          <a:solidFill>
                            <a:srgbClr val="FFFFFF"/>
                          </a:solidFill>
                          <a:latin typeface="Hiragino Sans"/>
                          <a:ea typeface="Hiragino Sans"/>
                          <a:cs typeface="Hiragino Sans"/>
                        </a:rPr>
                        <a:t>状況</a:t>
                      </a:r>
                    </a:p>
                  </a:txBody>
                  <a:tcPr marL="133350" marR="133350" marT="95250" marB="76200" anchor="t">
                    <a:solidFill>
                      <a:srgbClr val="132B3A"/>
                    </a:solidFill>
                  </a:tcPr>
                </a:tc>
                <a:tc>
                  <a:txBody>
                    <a:bodyPr/>
                    <a:lstStyle/>
                    <a:p>
                      <a:r>
                        <a:rPr sz="1800" b="1">
                          <a:solidFill>
                            <a:srgbClr val="FFFFFF"/>
                          </a:solidFill>
                          <a:latin typeface="Hiragino Sans"/>
                          <a:ea typeface="Hiragino Sans"/>
                          <a:cs typeface="Hiragino Sans"/>
                        </a:rPr>
                        <a:t>判断</a:t>
                      </a:r>
                    </a:p>
                  </a:txBody>
                  <a:tcPr marL="133350" marR="133350" marT="95250" marB="76200" anchor="t">
                    <a:solidFill>
                      <a:srgbClr val="132B3A"/>
                    </a:solidFill>
                  </a:tcPr>
                </a:tc>
              </a:tr>
              <a:tr h="769620">
                <a:tc>
                  <a:txBody>
                    <a:bodyPr/>
                    <a:lstStyle/>
                    <a:p>
                      <a:r>
                        <a:rPr sz="1800">
                          <a:solidFill>
                            <a:srgbClr val="203640"/>
                          </a:solidFill>
                          <a:latin typeface="Hiragino Sans"/>
                          <a:ea typeface="Hiragino Sans"/>
                          <a:cs typeface="Hiragino Sans"/>
                        </a:rPr>
                        <a:t>05の通し動作が成立</a:t>
                      </a:r>
                    </a:p>
                  </a:txBody>
                  <a:tcPr marL="133350" marR="133350" marT="95250" marB="76200" anchor="t">
                    <a:solidFill>
                      <a:srgbClr val="FFFFFF"/>
                    </a:solidFill>
                  </a:tcPr>
                </a:tc>
                <a:tc>
                  <a:txBody>
                    <a:bodyPr/>
                    <a:lstStyle/>
                    <a:p>
                      <a:r>
                        <a:rPr sz="1800">
                          <a:solidFill>
                            <a:srgbClr val="203640"/>
                          </a:solidFill>
                          <a:latin typeface="Hiragino Sans"/>
                          <a:ea typeface="Hiragino Sans"/>
                          <a:cs typeface="Hiragino Sans"/>
                        </a:rPr>
                        <a:t>05を固定し、再計画・評価へ進む</a:t>
                      </a:r>
                    </a:p>
                  </a:txBody>
                  <a:tcPr marL="133350" marR="133350" marT="95250" marB="76200" anchor="t">
                    <a:solidFill>
                      <a:srgbClr val="FFFFFF"/>
                    </a:solidFill>
                  </a:tcPr>
                </a:tc>
              </a:tr>
              <a:tr h="769620">
                <a:tc>
                  <a:txBody>
                    <a:bodyPr/>
                    <a:lstStyle/>
                    <a:p>
                      <a:r>
                        <a:rPr sz="1800">
                          <a:solidFill>
                            <a:srgbClr val="203640"/>
                          </a:solidFill>
                          <a:latin typeface="Hiragino Sans"/>
                          <a:ea typeface="Hiragino Sans"/>
                          <a:cs typeface="Hiragino Sans"/>
                        </a:rPr>
                        <a:t>05固有の障害がある</a:t>
                      </a:r>
                    </a:p>
                  </a:txBody>
                  <a:tcPr marL="133350" marR="133350" marT="95250" marB="76200" anchor="t">
                    <a:solidFill>
                      <a:srgbClr val="EDF2EF"/>
                    </a:solidFill>
                  </a:tcPr>
                </a:tc>
                <a:tc>
                  <a:txBody>
                    <a:bodyPr/>
                    <a:lstStyle/>
                    <a:p>
                      <a:r>
                        <a:rPr sz="1800">
                          <a:solidFill>
                            <a:srgbClr val="203640"/>
                          </a:solidFill>
                          <a:latin typeface="Hiragino Sans"/>
                          <a:ea typeface="Hiragino Sans"/>
                          <a:cs typeface="Hiragino Sans"/>
                        </a:rPr>
                        <a:t>02の正解データと通し動作が既に揃えば切替を検討</a:t>
                      </a:r>
                    </a:p>
                  </a:txBody>
                  <a:tcPr marL="133350" marR="133350" marT="95250" marB="76200" anchor="t">
                    <a:solidFill>
                      <a:srgbClr val="EDF2EF"/>
                    </a:solidFill>
                  </a:tcPr>
                </a:tc>
              </a:tr>
              <a:tr h="769620">
                <a:tc>
                  <a:txBody>
                    <a:bodyPr/>
                    <a:lstStyle/>
                    <a:p>
                      <a:r>
                        <a:rPr sz="1800">
                          <a:solidFill>
                            <a:srgbClr val="203640"/>
                          </a:solidFill>
                          <a:latin typeface="Hiragino Sans"/>
                          <a:ea typeface="Hiragino Sans"/>
                          <a:cs typeface="Hiragino Sans"/>
                        </a:rPr>
                        <a:t>OrcaRouterに共通の障害</a:t>
                      </a:r>
                    </a:p>
                  </a:txBody>
                  <a:tcPr marL="133350" marR="133350" marT="95250" marB="76200" anchor="t">
                    <a:solidFill>
                      <a:srgbClr val="FFFFFF"/>
                    </a:solidFill>
                  </a:tcPr>
                </a:tc>
                <a:tc>
                  <a:txBody>
                    <a:bodyPr/>
                    <a:lstStyle/>
                    <a:p>
                      <a:r>
                        <a:rPr sz="1800">
                          <a:solidFill>
                            <a:srgbClr val="203640"/>
                          </a:solidFill>
                          <a:latin typeface="Hiragino Sans"/>
                          <a:ea typeface="Hiragino Sans"/>
                          <a:cs typeface="Hiragino Sans"/>
                        </a:rPr>
                        <a:t>接続・利用条件を解決する。題材変更では解決しない</a:t>
                      </a:r>
                    </a:p>
                  </a:txBody>
                  <a:tcPr marL="133350" marR="133350" marT="95250" marB="76200" anchor="t">
                    <a:solidFill>
                      <a:srgbClr val="FFFFFF"/>
                    </a:solidFill>
                  </a:tcPr>
                </a:tc>
              </a:tr>
              <a:tr h="769620">
                <a:tc>
                  <a:txBody>
                    <a:bodyPr/>
                    <a:lstStyle/>
                    <a:p>
                      <a:r>
                        <a:rPr sz="1800">
                          <a:solidFill>
                            <a:srgbClr val="203640"/>
                          </a:solidFill>
                          <a:latin typeface="Hiragino Sans"/>
                          <a:ea typeface="Hiragino Sans"/>
                          <a:cs typeface="Hiragino Sans"/>
                        </a:rPr>
                        <a:t>Day 2終了で未完成</a:t>
                      </a:r>
                    </a:p>
                  </a:txBody>
                  <a:tcPr marL="133350" marR="133350" marT="95250" marB="76200" anchor="t">
                    <a:solidFill>
                      <a:srgbClr val="EDF2EF"/>
                    </a:solidFill>
                  </a:tcPr>
                </a:tc>
                <a:tc>
                  <a:txBody>
                    <a:bodyPr/>
                    <a:lstStyle/>
                    <a:p>
                      <a:r>
                        <a:rPr sz="1800">
                          <a:solidFill>
                            <a:srgbClr val="203640"/>
                          </a:solidFill>
                          <a:latin typeface="Hiragino Sans"/>
                          <a:ea typeface="Hiragino Sans"/>
                          <a:cs typeface="Hiragino Sans"/>
                        </a:rPr>
                        <a:t>候補数・連携・画面を縮小。全面的な作り直しを避ける</a:t>
                      </a:r>
                    </a:p>
                  </a:txBody>
                  <a:tcPr marL="133350" marR="133350" marT="95250" marB="76200" anchor="t">
                    <a:solidFill>
                      <a:srgbClr val="EDF2EF"/>
                    </a:solidFill>
                  </a:tcPr>
                </a:tc>
              </a:tr>
              <a:tr h="769620">
                <a:tc>
                  <a:txBody>
                    <a:bodyPr/>
                    <a:lstStyle/>
                    <a:p>
                      <a:r>
                        <a:rPr sz="1800">
                          <a:solidFill>
                            <a:srgbClr val="203640"/>
                          </a:solidFill>
                          <a:latin typeface="Hiragino Sans"/>
                          <a:ea typeface="Hiragino Sans"/>
                          <a:cs typeface="Hiragino Sans"/>
                        </a:rPr>
                        <a:t>Day 3終了で誤更新が残る</a:t>
                      </a:r>
                    </a:p>
                  </a:txBody>
                  <a:tcPr marL="133350" marR="133350" marT="95250" marB="76200" anchor="t">
                    <a:solidFill>
                      <a:srgbClr val="FFFFFF"/>
                    </a:solidFill>
                  </a:tcPr>
                </a:tc>
                <a:tc>
                  <a:txBody>
                    <a:bodyPr/>
                    <a:lstStyle/>
                    <a:p>
                      <a:r>
                        <a:rPr sz="1800">
                          <a:solidFill>
                            <a:srgbClr val="203640"/>
                          </a:solidFill>
                          <a:latin typeface="Hiragino Sans"/>
                          <a:ea typeface="Hiragino Sans"/>
                          <a:cs typeface="Hiragino Sans"/>
                        </a:rPr>
                        <a:t>対象操作を止め、原因修正と再検証を優先</a:t>
                      </a:r>
                    </a:p>
                  </a:txBody>
                  <a:tcPr marL="133350" marR="133350" marT="95250" marB="76200" anchor="t">
                    <a:solidFill>
                      <a:srgbClr val="FFFFFF"/>
                    </a:solidFill>
                  </a:tcPr>
                </a:tc>
              </a:tr>
            </a:tbl>
          </a:graphicData>
        </a:graphic>
      </p:graphicFrame>
    </p:spTree>
    <p:extLst>
      <p:ext uri="{BB962C8B-B14F-4D97-AF65-F5344CB8AC3E}">
        <p14:creationId xmlns:p14="http://schemas.microsoft.com/office/powerpoint/2010/main" val="1025102198"/>
      </p:ext>
    </p:extLst>
  </p:cSld>
</p:sld>
</file>

<file path=ppt/slides/slide24.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4" name="text-24-0">
            <a:extLst xmlns:a="http://schemas.openxmlformats.org/drawingml/2006/main">
              <a:ext uri="{FF2B5EF4-FFF2-40B4-BE49-F238E27FC236}">
                <a16:creationId xmlns:a16="http://schemas.microsoft.com/office/drawing/2014/main" id="{6D8AE148-3476-4E0B-B205-05EF174A45A0}"/>
              </a:ext>
            </a:extLst>
          </p:cNvPr>
          <p:cNvSpPr>
            <a:spLocks xmlns:a="http://schemas.openxmlformats.org/drawingml/2006/main" noGrp="1"/>
          </p:cNvSpPr>
          <p:nvPr/>
        </p:nvSpPr>
        <p:spPr>
          <a:xfrm xmlns:a="http://schemas.openxmlformats.org/drawingml/2006/main">
            <a:off x="609600" y="409575"/>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32B3A"/>
                </a:solidFill>
                <a:latin typeface="Hiragino Sans"/>
                <a:ea typeface="Hiragino Sans"/>
                <a:cs typeface="Hiragino Sans"/>
              </a:defRPr>
            </a:pPr>
            <a:r>
              <a:rPr sz="3300" b="1">
                <a:solidFill>
                  <a:srgbClr val="132B3A"/>
                </a:solidFill>
                <a:latin typeface="Hiragino Sans"/>
                <a:ea typeface="Hiragino Sans"/>
                <a:cs typeface="Hiragino Sans"/>
              </a:rPr>
              <a:t>審査で説明する4つの論点</a:t>
            </a:r>
          </a:p>
        </p:txBody>
      </p:sp>
      <p:sp>
        <p:nvSpPr>
          <p:cNvPr id="2" name="text-24-1">
            <a:extLst xmlns:a="http://schemas.openxmlformats.org/drawingml/2006/main">
              <a:ext uri="{FF2B5EF4-FFF2-40B4-BE49-F238E27FC236}">
                <a16:creationId xmlns:a16="http://schemas.microsoft.com/office/drawing/2014/main" id="{417104E9-B1B3-4609-B556-482AEB4C848D}"/>
              </a:ext>
            </a:extLst>
          </p:cNvPr>
          <p:cNvSpPr>
            <a:spLocks xmlns:a="http://schemas.openxmlformats.org/drawingml/2006/main" noGrp="1"/>
          </p:cNvSpPr>
          <p:nvPr/>
        </p:nvSpPr>
        <p:spPr>
          <a:xfrm xmlns:a="http://schemas.openxmlformats.org/drawingml/2006/main">
            <a:off x="11077575" y="6391275"/>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D6B73"/>
                </a:solidFill>
                <a:latin typeface="Hiragino Sans"/>
                <a:ea typeface="Hiragino Sans"/>
                <a:cs typeface="Hiragino Sans"/>
              </a:defRPr>
            </a:pPr>
            <a:r>
              <a:rPr sz="1275" b="0">
                <a:solidFill>
                  <a:srgbClr val="5D6B73"/>
                </a:solidFill>
                <a:latin typeface="Hiragino Sans"/>
                <a:ea typeface="Hiragino Sans"/>
                <a:cs typeface="Hiragino Sans"/>
              </a:rPr>
              <a:t>24</a:t>
            </a:r>
          </a:p>
        </p:txBody>
      </p:sp>
      <p:graphicFrame>
        <p:nvGraphicFramePr>
          <p:cNvPr id="6" name=""/>
          <p:cNvGraphicFramePr/>
          <p:nvPr/>
        </p:nvGraphicFramePr>
        <p:xfrm>
          <a:off xmlns:a="http://schemas.openxmlformats.org/drawingml/2006/main" x="609600" y="1457325"/>
          <a:ext xmlns:a="http://schemas.openxmlformats.org/drawingml/2006/main" cx="10972800" cy="4095750"/>
        </p:xfrm>
        <a:graphic xmlns:a="http://schemas.openxmlformats.org/drawingml/2006/main">
          <a:graphicData uri="http://schemas.openxmlformats.org/drawingml/2006/table">
            <a:tbl>
              <a:tblPr/>
              <a:tblGrid>
                <a:gridCol w="4048125"/>
                <a:gridCol w="6924675"/>
              </a:tblGrid>
              <a:tr h="533400">
                <a:tc>
                  <a:txBody>
                    <a:bodyPr/>
                    <a:lstStyle/>
                    <a:p>
                      <a:r>
                        <a:rPr sz="1875" b="1">
                          <a:solidFill>
                            <a:srgbClr val="FFFFFF"/>
                          </a:solidFill>
                          <a:latin typeface="Hiragino Sans"/>
                          <a:ea typeface="Hiragino Sans"/>
                          <a:cs typeface="Hiragino Sans"/>
                        </a:rPr>
                        <a:t>質問</a:t>
                      </a:r>
                    </a:p>
                  </a:txBody>
                  <a:tcPr marL="133350" marR="133350" marT="95250" marB="76200" anchor="t">
                    <a:solidFill>
                      <a:srgbClr val="132B3A"/>
                    </a:solidFill>
                  </a:tcPr>
                </a:tc>
                <a:tc>
                  <a:txBody>
                    <a:bodyPr/>
                    <a:lstStyle/>
                    <a:p>
                      <a:r>
                        <a:rPr sz="1875" b="1">
                          <a:solidFill>
                            <a:srgbClr val="FFFFFF"/>
                          </a:solidFill>
                          <a:latin typeface="Hiragino Sans"/>
                          <a:ea typeface="Hiragino Sans"/>
                          <a:cs typeface="Hiragino Sans"/>
                        </a:rPr>
                        <a:t>回答の軸</a:t>
                      </a:r>
                    </a:p>
                  </a:txBody>
                  <a:tcPr marL="133350" marR="133350" marT="95250" marB="76200" anchor="t">
                    <a:solidFill>
                      <a:srgbClr val="132B3A"/>
                    </a:solidFill>
                  </a:tcPr>
                </a:tc>
              </a:tr>
              <a:tr h="890588">
                <a:tc>
                  <a:txBody>
                    <a:bodyPr/>
                    <a:lstStyle/>
                    <a:p>
                      <a:r>
                        <a:rPr sz="1875">
                          <a:solidFill>
                            <a:srgbClr val="203640"/>
                          </a:solidFill>
                          <a:latin typeface="Hiragino Sans"/>
                          <a:ea typeface="Hiragino Sans"/>
                          <a:cs typeface="Hiragino Sans"/>
                        </a:rPr>
                        <a:t>固定ルールだけで十分では？</a:t>
                      </a:r>
                    </a:p>
                  </a:txBody>
                  <a:tcPr marL="133350" marR="133350" marT="95250" marB="76200" anchor="t">
                    <a:solidFill>
                      <a:srgbClr val="FFFFFF"/>
                    </a:solidFill>
                  </a:tcPr>
                </a:tc>
                <a:tc>
                  <a:txBody>
                    <a:bodyPr/>
                    <a:lstStyle/>
                    <a:p>
                      <a:r>
                        <a:rPr sz="1875">
                          <a:solidFill>
                            <a:srgbClr val="203640"/>
                          </a:solidFill>
                          <a:latin typeface="Hiragino Sans"/>
                          <a:ea typeface="Hiragino Sans"/>
                          <a:cs typeface="Hiragino Sans"/>
                        </a:rPr>
                        <a:t>計算と制約はコード。AIは自然文の条件理解と次の行動選択</a:t>
                      </a:r>
                    </a:p>
                  </a:txBody>
                  <a:tcPr marL="133350" marR="133350" marT="95250" marB="76200" anchor="t">
                    <a:solidFill>
                      <a:srgbClr val="FFFFFF"/>
                    </a:solidFill>
                  </a:tcPr>
                </a:tc>
              </a:tr>
              <a:tr h="890588">
                <a:tc>
                  <a:txBody>
                    <a:bodyPr/>
                    <a:lstStyle/>
                    <a:p>
                      <a:r>
                        <a:rPr sz="1875">
                          <a:solidFill>
                            <a:srgbClr val="203640"/>
                          </a:solidFill>
                          <a:latin typeface="Hiragino Sans"/>
                          <a:ea typeface="Hiragino Sans"/>
                          <a:cs typeface="Hiragino Sans"/>
                        </a:rPr>
                        <a:t>OrcaRouterの効果は？</a:t>
                      </a:r>
                    </a:p>
                  </a:txBody>
                  <a:tcPr marL="133350" marR="133350" marT="95250" marB="76200" anchor="t">
                    <a:solidFill>
                      <a:srgbClr val="EDF2EF"/>
                    </a:solidFill>
                  </a:tcPr>
                </a:tc>
                <a:tc>
                  <a:txBody>
                    <a:bodyPr/>
                    <a:lstStyle/>
                    <a:p>
                      <a:r>
                        <a:rPr sz="1875">
                          <a:solidFill>
                            <a:srgbClr val="203640"/>
                          </a:solidFill>
                          <a:latin typeface="Hiragino Sans"/>
                          <a:ea typeface="Hiragino Sans"/>
                          <a:cs typeface="Hiragino Sans"/>
                        </a:rPr>
                        <a:t>同一ケースで品質・費用・時間・切替理由を実測して説明</a:t>
                      </a:r>
                    </a:p>
                  </a:txBody>
                  <a:tcPr marL="133350" marR="133350" marT="95250" marB="76200" anchor="t">
                    <a:solidFill>
                      <a:srgbClr val="EDF2EF"/>
                    </a:solidFill>
                  </a:tcPr>
                </a:tc>
              </a:tr>
              <a:tr h="890588">
                <a:tc>
                  <a:txBody>
                    <a:bodyPr/>
                    <a:lstStyle/>
                    <a:p>
                      <a:r>
                        <a:rPr sz="1875">
                          <a:solidFill>
                            <a:srgbClr val="203640"/>
                          </a:solidFill>
                          <a:latin typeface="Hiragino Sans"/>
                          <a:ea typeface="Hiragino Sans"/>
                          <a:cs typeface="Hiragino Sans"/>
                        </a:rPr>
                        <a:t>人への引き継ぎは自律的？</a:t>
                      </a:r>
                    </a:p>
                  </a:txBody>
                  <a:tcPr marL="133350" marR="133350" marT="95250" marB="76200" anchor="t">
                    <a:solidFill>
                      <a:srgbClr val="FFFFFF"/>
                    </a:solidFill>
                  </a:tcPr>
                </a:tc>
                <a:tc>
                  <a:txBody>
                    <a:bodyPr/>
                    <a:lstStyle/>
                    <a:p>
                      <a:r>
                        <a:rPr sz="1875">
                          <a:solidFill>
                            <a:srgbClr val="203640"/>
                          </a:solidFill>
                          <a:latin typeface="Hiragino Sans"/>
                          <a:ea typeface="Hiragino Sans"/>
                          <a:cs typeface="Hiragino Sans"/>
                        </a:rPr>
                        <a:t>許可範囲で完了まで実行。範囲外の停止を完了率に混ぜない</a:t>
                      </a:r>
                    </a:p>
                  </a:txBody>
                  <a:tcPr marL="133350" marR="133350" marT="95250" marB="76200" anchor="t">
                    <a:solidFill>
                      <a:srgbClr val="FFFFFF"/>
                    </a:solidFill>
                  </a:tcPr>
                </a:tc>
              </a:tr>
              <a:tr h="890588">
                <a:tc>
                  <a:txBody>
                    <a:bodyPr/>
                    <a:lstStyle/>
                    <a:p>
                      <a:r>
                        <a:rPr sz="1875">
                          <a:solidFill>
                            <a:srgbClr val="203640"/>
                          </a:solidFill>
                          <a:latin typeface="Hiragino Sans"/>
                          <a:ea typeface="Hiragino Sans"/>
                          <a:cs typeface="Hiragino Sans"/>
                        </a:rPr>
                        <a:t>モックで実用性を言える？</a:t>
                      </a:r>
                    </a:p>
                  </a:txBody>
                  <a:tcPr marL="133350" marR="133350" marT="95250" marB="76200" anchor="t">
                    <a:solidFill>
                      <a:srgbClr val="EDF2EF"/>
                    </a:solidFill>
                  </a:tcPr>
                </a:tc>
                <a:tc>
                  <a:txBody>
                    <a:bodyPr/>
                    <a:lstStyle/>
                    <a:p>
                      <a:r>
                        <a:rPr sz="1875">
                          <a:solidFill>
                            <a:srgbClr val="203640"/>
                          </a:solidFill>
                          <a:latin typeface="Hiragino Sans"/>
                          <a:ea typeface="Hiragino Sans"/>
                          <a:cs typeface="Hiragino Sans"/>
                        </a:rPr>
                        <a:t>模擬した外部境界を明示。業務判断・更新・検査は実装する</a:t>
                      </a:r>
                    </a:p>
                  </a:txBody>
                  <a:tcPr marL="133350" marR="133350" marT="95250" marB="76200" anchor="t">
                    <a:solidFill>
                      <a:srgbClr val="EDF2EF"/>
                    </a:solidFill>
                  </a:tcPr>
                </a:tc>
              </a:tr>
            </a:tbl>
          </a:graphicData>
        </a:graphic>
      </p:graphicFrame>
    </p:spTree>
    <p:extLst>
      <p:ext uri="{BB962C8B-B14F-4D97-AF65-F5344CB8AC3E}">
        <p14:creationId xmlns:p14="http://schemas.microsoft.com/office/powerpoint/2010/main" val="2071600083"/>
      </p:ext>
    </p:extLst>
  </p:cSld>
</p:sld>
</file>

<file path=ppt/slides/slide25.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8" name="text-25-0">
            <a:extLst xmlns:a="http://schemas.openxmlformats.org/drawingml/2006/main">
              <a:ext uri="{FF2B5EF4-FFF2-40B4-BE49-F238E27FC236}">
                <a16:creationId xmlns:a16="http://schemas.microsoft.com/office/drawing/2014/main" id="{BB674CAB-2036-4D31-B932-0FDDA0A99940}"/>
              </a:ext>
            </a:extLst>
          </p:cNvPr>
          <p:cNvSpPr>
            <a:spLocks xmlns:a="http://schemas.openxmlformats.org/drawingml/2006/main" noGrp="1"/>
          </p:cNvSpPr>
          <p:nvPr/>
        </p:nvSpPr>
        <p:spPr>
          <a:xfrm xmlns:a="http://schemas.openxmlformats.org/drawingml/2006/main">
            <a:off x="609600" y="409575"/>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32B3A"/>
                </a:solidFill>
                <a:latin typeface="Hiragino Sans"/>
                <a:ea typeface="Hiragino Sans"/>
                <a:cs typeface="Hiragino Sans"/>
              </a:defRPr>
            </a:pPr>
            <a:r>
              <a:rPr sz="3300" b="1">
                <a:solidFill>
                  <a:srgbClr val="132B3A"/>
                </a:solidFill>
                <a:latin typeface="Hiragino Sans"/>
                <a:ea typeface="Hiragino Sans"/>
                <a:cs typeface="Hiragino Sans"/>
              </a:rPr>
              <a:t>本番導入・事業性は次の検証に残る</a:t>
            </a:r>
          </a:p>
        </p:txBody>
      </p:sp>
      <p:sp>
        <p:nvSpPr>
          <p:cNvPr id="2" name="text-25-1">
            <a:extLst xmlns:a="http://schemas.openxmlformats.org/drawingml/2006/main">
              <a:ext uri="{FF2B5EF4-FFF2-40B4-BE49-F238E27FC236}">
                <a16:creationId xmlns:a16="http://schemas.microsoft.com/office/drawing/2014/main" id="{D1239453-F8C2-4C34-9E5C-0565F898CB2F}"/>
              </a:ext>
            </a:extLst>
          </p:cNvPr>
          <p:cNvSpPr>
            <a:spLocks xmlns:a="http://schemas.openxmlformats.org/drawingml/2006/main" noGrp="1"/>
          </p:cNvSpPr>
          <p:nvPr/>
        </p:nvSpPr>
        <p:spPr>
          <a:xfrm xmlns:a="http://schemas.openxmlformats.org/drawingml/2006/main">
            <a:off x="11077575" y="6391275"/>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D6B73"/>
                </a:solidFill>
                <a:latin typeface="Hiragino Sans"/>
                <a:ea typeface="Hiragino Sans"/>
                <a:cs typeface="Hiragino Sans"/>
              </a:defRPr>
            </a:pPr>
            <a:r>
              <a:rPr sz="1275" b="0">
                <a:solidFill>
                  <a:srgbClr val="5D6B73"/>
                </a:solidFill>
                <a:latin typeface="Hiragino Sans"/>
                <a:ea typeface="Hiragino Sans"/>
                <a:cs typeface="Hiragino Sans"/>
              </a:rPr>
              <a:t>25</a:t>
            </a:r>
          </a:p>
        </p:txBody>
      </p:sp>
      <p:sp>
        <p:nvSpPr>
          <p:cNvPr id="3" name="text-25-2">
            <a:extLst xmlns:a="http://schemas.openxmlformats.org/drawingml/2006/main">
              <a:ext uri="{FF2B5EF4-FFF2-40B4-BE49-F238E27FC236}">
                <a16:creationId xmlns:a16="http://schemas.microsoft.com/office/drawing/2014/main" id="{6ADAF808-1D8C-4362-B8DD-6F61D9E73449}"/>
              </a:ext>
            </a:extLst>
          </p:cNvPr>
          <p:cNvSpPr>
            <a:spLocks xmlns:a="http://schemas.openxmlformats.org/drawingml/2006/main" noGrp="1"/>
          </p:cNvSpPr>
          <p:nvPr/>
        </p:nvSpPr>
        <p:spPr>
          <a:xfrm xmlns:a="http://schemas.openxmlformats.org/drawingml/2006/main">
            <a:off x="609600" y="1666875"/>
            <a:ext cx="2057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BE542A"/>
                </a:solidFill>
                <a:latin typeface="Hiragino Sans"/>
                <a:ea typeface="Hiragino Sans"/>
                <a:cs typeface="Hiragino Sans"/>
              </a:defRPr>
            </a:pPr>
            <a:r>
              <a:rPr sz="2175" b="1">
                <a:solidFill>
                  <a:srgbClr val="BE542A"/>
                </a:solidFill>
                <a:latin typeface="Hiragino Sans"/>
                <a:ea typeface="Hiragino Sans"/>
                <a:cs typeface="Hiragino Sans"/>
              </a:rPr>
              <a:t>案05</a:t>
            </a:r>
          </a:p>
        </p:txBody>
      </p:sp>
      <p:sp>
        <p:nvSpPr>
          <p:cNvPr id="4" name="text-25-3">
            <a:extLst xmlns:a="http://schemas.openxmlformats.org/drawingml/2006/main">
              <a:ext uri="{FF2B5EF4-FFF2-40B4-BE49-F238E27FC236}">
                <a16:creationId xmlns:a16="http://schemas.microsoft.com/office/drawing/2014/main" id="{6DF19A3C-6FCF-403C-BBFE-DC889955D969}"/>
              </a:ext>
            </a:extLst>
          </p:cNvPr>
          <p:cNvSpPr>
            <a:spLocks xmlns:a="http://schemas.openxmlformats.org/drawingml/2006/main" noGrp="1"/>
          </p:cNvSpPr>
          <p:nvPr/>
        </p:nvSpPr>
        <p:spPr>
          <a:xfrm xmlns:a="http://schemas.openxmlformats.org/drawingml/2006/main">
            <a:off x="2876550" y="1666875"/>
            <a:ext cx="87058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203640"/>
                </a:solidFill>
                <a:latin typeface="Hiragino Sans"/>
                <a:ea typeface="Hiragino Sans"/>
                <a:cs typeface="Hiragino Sans"/>
              </a:defRPr>
            </a:pPr>
            <a:r>
              <a:rPr sz="2025" b="0">
                <a:solidFill>
                  <a:srgbClr val="203640"/>
                </a:solidFill>
                <a:latin typeface="Hiragino Sans"/>
                <a:ea typeface="Hiragino Sans"/>
                <a:cs typeface="Hiragino Sans"/>
              </a:rPr>
              <a:t>欠勤頻度、調整時間、スタッフの負担、</a:t>
            </a:r>
          </a:p>
          <a:p xmlns:a="http://schemas.openxmlformats.org/drawingml/2006/main">
            <a:pPr>
              <a:defRPr sz="2025" b="0">
                <a:solidFill>
                  <a:srgbClr val="203640"/>
                </a:solidFill>
                <a:latin typeface="Hiragino Sans"/>
                <a:ea typeface="Hiragino Sans"/>
                <a:cs typeface="Hiragino Sans"/>
              </a:defRPr>
            </a:pPr>
            <a:r>
              <a:rPr sz="2025" b="0">
                <a:solidFill>
                  <a:srgbClr val="203640"/>
                </a:solidFill>
                <a:latin typeface="Hiragino Sans"/>
                <a:ea typeface="Hiragino Sans"/>
                <a:cs typeface="Hiragino Sans"/>
              </a:rPr>
              <a:t>連絡許可、労務ルール、既存製品との関係。</a:t>
            </a:r>
          </a:p>
        </p:txBody>
      </p:sp>
      <p:sp>
        <p:nvSpPr>
          <p:cNvPr id="5" name="text-25-4">
            <a:extLst xmlns:a="http://schemas.openxmlformats.org/drawingml/2006/main">
              <a:ext uri="{FF2B5EF4-FFF2-40B4-BE49-F238E27FC236}">
                <a16:creationId xmlns:a16="http://schemas.microsoft.com/office/drawing/2014/main" id="{0DC6D459-FB93-406D-B024-E13527BF763E}"/>
              </a:ext>
            </a:extLst>
          </p:cNvPr>
          <p:cNvSpPr>
            <a:spLocks xmlns:a="http://schemas.openxmlformats.org/drawingml/2006/main" noGrp="1"/>
          </p:cNvSpPr>
          <p:nvPr/>
        </p:nvSpPr>
        <p:spPr>
          <a:xfrm xmlns:a="http://schemas.openxmlformats.org/drawingml/2006/main">
            <a:off x="609600" y="3114675"/>
            <a:ext cx="2057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276D96"/>
                </a:solidFill>
                <a:latin typeface="Hiragino Sans"/>
                <a:ea typeface="Hiragino Sans"/>
                <a:cs typeface="Hiragino Sans"/>
              </a:defRPr>
            </a:pPr>
            <a:r>
              <a:rPr sz="2175" b="1">
                <a:solidFill>
                  <a:srgbClr val="276D96"/>
                </a:solidFill>
                <a:latin typeface="Hiragino Sans"/>
                <a:ea typeface="Hiragino Sans"/>
                <a:cs typeface="Hiragino Sans"/>
              </a:rPr>
              <a:t>案02</a:t>
            </a:r>
          </a:p>
        </p:txBody>
      </p:sp>
      <p:sp>
        <p:nvSpPr>
          <p:cNvPr id="6" name="text-25-5">
            <a:extLst xmlns:a="http://schemas.openxmlformats.org/drawingml/2006/main">
              <a:ext uri="{FF2B5EF4-FFF2-40B4-BE49-F238E27FC236}">
                <a16:creationId xmlns:a16="http://schemas.microsoft.com/office/drawing/2014/main" id="{4581D459-C1EF-4E5C-A057-A85B8E43BA3D}"/>
              </a:ext>
            </a:extLst>
          </p:cNvPr>
          <p:cNvSpPr>
            <a:spLocks xmlns:a="http://schemas.openxmlformats.org/drawingml/2006/main" noGrp="1"/>
          </p:cNvSpPr>
          <p:nvPr/>
        </p:nvSpPr>
        <p:spPr>
          <a:xfrm xmlns:a="http://schemas.openxmlformats.org/drawingml/2006/main">
            <a:off x="2876550" y="3114675"/>
            <a:ext cx="87058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203640"/>
                </a:solidFill>
                <a:latin typeface="Hiragino Sans"/>
                <a:ea typeface="Hiragino Sans"/>
                <a:cs typeface="Hiragino Sans"/>
              </a:defRPr>
            </a:pPr>
            <a:r>
              <a:rPr sz="2025" b="0">
                <a:solidFill>
                  <a:srgbClr val="203640"/>
                </a:solidFill>
                <a:latin typeface="Hiragino Sans"/>
                <a:ea typeface="Hiragino Sans"/>
                <a:cs typeface="Hiragino Sans"/>
              </a:rPr>
              <a:t>例外の頻度、証拠の所在、修正権限、</a:t>
            </a:r>
          </a:p>
          <a:p xmlns:a="http://schemas.openxmlformats.org/drawingml/2006/main">
            <a:pPr>
              <a:defRPr sz="2025" b="0">
                <a:solidFill>
                  <a:srgbClr val="203640"/>
                </a:solidFill>
                <a:latin typeface="Hiragino Sans"/>
                <a:ea typeface="Hiragino Sans"/>
                <a:cs typeface="Hiragino Sans"/>
              </a:defRPr>
            </a:pPr>
            <a:r>
              <a:rPr sz="2025" b="0">
                <a:solidFill>
                  <a:srgbClr val="203640"/>
                </a:solidFill>
                <a:latin typeface="Hiragino Sans"/>
                <a:ea typeface="Hiragino Sans"/>
                <a:cs typeface="Hiragino Sans"/>
              </a:rPr>
              <a:t>承認と既存ERPへの接続方法。</a:t>
            </a:r>
          </a:p>
        </p:txBody>
      </p:sp>
      <p:sp>
        <p:nvSpPr>
          <p:cNvPr id="7" name="text-25-6">
            <a:extLst xmlns:a="http://schemas.openxmlformats.org/drawingml/2006/main">
              <a:ext uri="{FF2B5EF4-FFF2-40B4-BE49-F238E27FC236}">
                <a16:creationId xmlns:a16="http://schemas.microsoft.com/office/drawing/2014/main" id="{67AA7152-9291-4BF4-B3E2-27073BB97BCA}"/>
              </a:ext>
            </a:extLst>
          </p:cNvPr>
          <p:cNvSpPr>
            <a:spLocks xmlns:a="http://schemas.openxmlformats.org/drawingml/2006/main" noGrp="1"/>
          </p:cNvSpPr>
          <p:nvPr/>
        </p:nvSpPr>
        <p:spPr>
          <a:xfrm xmlns:a="http://schemas.openxmlformats.org/drawingml/2006/main">
            <a:off x="609600" y="4905375"/>
            <a:ext cx="109728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32B3A"/>
                </a:solidFill>
                <a:latin typeface="Hiragino Sans"/>
                <a:ea typeface="Hiragino Sans"/>
                <a:cs typeface="Hiragino Sans"/>
              </a:defRPr>
            </a:pPr>
            <a:r>
              <a:rPr sz="2250" b="1">
                <a:solidFill>
                  <a:srgbClr val="132B3A"/>
                </a:solidFill>
                <a:latin typeface="Hiragino Sans"/>
                <a:ea typeface="Hiragino Sans"/>
                <a:cs typeface="Hiragino Sans"/>
              </a:rPr>
              <a:t>需要、価格、費用対効果、顧客獲得はいずれも未検証。</a:t>
            </a:r>
          </a:p>
          <a:p xmlns:a="http://schemas.openxmlformats.org/drawingml/2006/main">
            <a:pPr>
              <a:defRPr sz="2250" b="1">
                <a:solidFill>
                  <a:srgbClr val="132B3A"/>
                </a:solidFill>
                <a:latin typeface="Hiragino Sans"/>
                <a:ea typeface="Hiragino Sans"/>
                <a:cs typeface="Hiragino Sans"/>
              </a:defRPr>
            </a:pPr>
            <a:r>
              <a:rPr sz="2250" b="1">
                <a:solidFill>
                  <a:srgbClr val="132B3A"/>
                </a:solidFill>
                <a:latin typeface="Hiragino Sans"/>
                <a:ea typeface="Hiragino Sans"/>
                <a:cs typeface="Hiragino Sans"/>
              </a:rPr>
              <a:t>今回の採用判断は、4日間のハッカソンに対するもの。</a:t>
            </a:r>
          </a:p>
        </p:txBody>
      </p:sp>
    </p:spTree>
    <p:extLst>
      <p:ext uri="{BB962C8B-B14F-4D97-AF65-F5344CB8AC3E}">
        <p14:creationId xmlns:p14="http://schemas.microsoft.com/office/powerpoint/2010/main" val="1441459494"/>
      </p:ext>
    </p:extLst>
  </p:cSld>
</p:sld>
</file>

<file path=ppt/slides/slide26.xml><?xml version="1.0" encoding="utf-8"?>
<p:sld xmlns:p="http://schemas.openxmlformats.org/presentationml/2006/main">
  <p:cSld>
    <p:bg>
      <p:bgPr>
        <a:solidFill xmlns:a="http://schemas.openxmlformats.org/drawingml/2006/main">
          <a:srgbClr val="132B3A"/>
        </a:solidFill>
      </p:bgPr>
    </p:bg>
    <p:spTree>
      <p:nvGrpSpPr>
        <p:cNvPr id="1" name=""/>
        <p:cNvGrpSpPr/>
        <p:nvPr/>
      </p:nvGrpSpPr>
      <p:grpSpPr>
        <a:xfrm xmlns:a="http://schemas.openxmlformats.org/drawingml/2006/main"/>
      </p:grpSpPr>
      <p:sp>
        <p:nvSpPr>
          <p:cNvPr id="6" name="text-26-0">
            <a:extLst xmlns:a="http://schemas.openxmlformats.org/drawingml/2006/main">
              <a:ext uri="{FF2B5EF4-FFF2-40B4-BE49-F238E27FC236}">
                <a16:creationId xmlns:a16="http://schemas.microsoft.com/office/drawing/2014/main" id="{69F9B2E4-68DF-4787-9D3B-5CC1E4DFA0F8}"/>
              </a:ext>
            </a:extLst>
          </p:cNvPr>
          <p:cNvSpPr>
            <a:spLocks xmlns:a="http://schemas.openxmlformats.org/drawingml/2006/main" noGrp="1"/>
          </p:cNvSpPr>
          <p:nvPr/>
        </p:nvSpPr>
        <p:spPr>
          <a:xfrm xmlns:a="http://schemas.openxmlformats.org/drawingml/2006/main">
            <a:off x="609600" y="409575"/>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FFFFFF"/>
                </a:solidFill>
                <a:latin typeface="Hiragino Sans"/>
                <a:ea typeface="Hiragino Sans"/>
                <a:cs typeface="Hiragino Sans"/>
              </a:defRPr>
            </a:pPr>
            <a:r>
              <a:rPr sz="3300" b="1">
                <a:solidFill>
                  <a:srgbClr val="FFFFFF"/>
                </a:solidFill>
                <a:latin typeface="Hiragino Sans"/>
                <a:ea typeface="Hiragino Sans"/>
                <a:cs typeface="Hiragino Sans"/>
              </a:rPr>
              <a:t>採用する中核と、チームの決定事項</a:t>
            </a:r>
          </a:p>
        </p:txBody>
      </p:sp>
      <p:sp>
        <p:nvSpPr>
          <p:cNvPr id="2" name="text-26-1">
            <a:extLst xmlns:a="http://schemas.openxmlformats.org/drawingml/2006/main">
              <a:ext uri="{FF2B5EF4-FFF2-40B4-BE49-F238E27FC236}">
                <a16:creationId xmlns:a16="http://schemas.microsoft.com/office/drawing/2014/main" id="{1AD7D57F-6615-4EAE-8F7B-87427270299B}"/>
              </a:ext>
            </a:extLst>
          </p:cNvPr>
          <p:cNvSpPr>
            <a:spLocks xmlns:a="http://schemas.openxmlformats.org/drawingml/2006/main" noGrp="1"/>
          </p:cNvSpPr>
          <p:nvPr/>
        </p:nvSpPr>
        <p:spPr>
          <a:xfrm xmlns:a="http://schemas.openxmlformats.org/drawingml/2006/main">
            <a:off x="11077575" y="6391275"/>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BAC8CD"/>
                </a:solidFill>
                <a:latin typeface="Hiragino Sans"/>
                <a:ea typeface="Hiragino Sans"/>
                <a:cs typeface="Hiragino Sans"/>
              </a:defRPr>
            </a:pPr>
            <a:r>
              <a:rPr sz="1275" b="0">
                <a:solidFill>
                  <a:srgbClr val="BAC8CD"/>
                </a:solidFill>
                <a:latin typeface="Hiragino Sans"/>
                <a:ea typeface="Hiragino Sans"/>
                <a:cs typeface="Hiragino Sans"/>
              </a:rPr>
              <a:t>26</a:t>
            </a:r>
          </a:p>
        </p:txBody>
      </p:sp>
      <p:sp>
        <p:nvSpPr>
          <p:cNvPr id="3" name="text-26-2">
            <a:extLst xmlns:a="http://schemas.openxmlformats.org/drawingml/2006/main">
              <a:ext uri="{FF2B5EF4-FFF2-40B4-BE49-F238E27FC236}">
                <a16:creationId xmlns:a16="http://schemas.microsoft.com/office/drawing/2014/main" id="{DB9D9490-E984-4EBA-90C4-B5A3E5BF0ABB}"/>
              </a:ext>
            </a:extLst>
          </p:cNvPr>
          <p:cNvSpPr>
            <a:spLocks xmlns:a="http://schemas.openxmlformats.org/drawingml/2006/main" noGrp="1"/>
          </p:cNvSpPr>
          <p:nvPr/>
        </p:nvSpPr>
        <p:spPr>
          <a:xfrm xmlns:a="http://schemas.openxmlformats.org/drawingml/2006/main">
            <a:off x="609600" y="1533525"/>
            <a:ext cx="109347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50" b="1">
                <a:solidFill>
                  <a:srgbClr val="FFFFFF"/>
                </a:solidFill>
                <a:latin typeface="Hiragino Sans"/>
                <a:ea typeface="Hiragino Sans"/>
                <a:cs typeface="Hiragino Sans"/>
              </a:defRPr>
            </a:pPr>
            <a:r>
              <a:rPr sz="3150" b="1">
                <a:solidFill>
                  <a:srgbClr val="FFFFFF"/>
                </a:solidFill>
                <a:latin typeface="Hiragino Sans"/>
                <a:ea typeface="Hiragino Sans"/>
                <a:cs typeface="Hiragino Sans"/>
              </a:rPr>
              <a:t>案05：突発欠勤の代替スタッフ調整</a:t>
            </a:r>
          </a:p>
        </p:txBody>
      </p:sp>
      <p:sp>
        <p:nvSpPr>
          <p:cNvPr id="4" name="text-26-3">
            <a:extLst xmlns:a="http://schemas.openxmlformats.org/drawingml/2006/main">
              <a:ext uri="{FF2B5EF4-FFF2-40B4-BE49-F238E27FC236}">
                <a16:creationId xmlns:a16="http://schemas.microsoft.com/office/drawing/2014/main" id="{8B773F1A-C50F-49A9-B31C-D972A7C017F3}"/>
              </a:ext>
            </a:extLst>
          </p:cNvPr>
          <p:cNvSpPr>
            <a:spLocks xmlns:a="http://schemas.openxmlformats.org/drawingml/2006/main" noGrp="1"/>
          </p:cNvSpPr>
          <p:nvPr/>
        </p:nvSpPr>
        <p:spPr>
          <a:xfrm xmlns:a="http://schemas.openxmlformats.org/drawingml/2006/main">
            <a:off x="609600" y="2686050"/>
            <a:ext cx="109347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DEE7E9"/>
                </a:solidFill>
                <a:latin typeface="Hiragino Sans"/>
                <a:ea typeface="Hiragino Sans"/>
                <a:cs typeface="Hiragino Sans"/>
              </a:defRPr>
            </a:pPr>
            <a:r>
              <a:rPr sz="2550" b="0">
                <a:solidFill>
                  <a:srgbClr val="DEE7E9"/>
                </a:solidFill>
                <a:latin typeface="Hiragino Sans"/>
                <a:ea typeface="Hiragino Sans"/>
                <a:cs typeface="Hiragino Sans"/>
              </a:rPr>
              <a:t>返信を理解し、再計画し、条件を検査して更新する。</a:t>
            </a:r>
          </a:p>
          <a:p xmlns:a="http://schemas.openxmlformats.org/drawingml/2006/main">
            <a:pPr>
              <a:defRPr sz="2550" b="0">
                <a:solidFill>
                  <a:srgbClr val="DEE7E9"/>
                </a:solidFill>
                <a:latin typeface="Hiragino Sans"/>
                <a:ea typeface="Hiragino Sans"/>
                <a:cs typeface="Hiragino Sans"/>
              </a:defRPr>
            </a:pPr>
            <a:r>
              <a:rPr sz="2550" b="0">
                <a:solidFill>
                  <a:srgbClr val="DEE7E9"/>
                </a:solidFill>
                <a:latin typeface="Hiragino Sans"/>
                <a:ea typeface="Hiragino Sans"/>
                <a:cs typeface="Hiragino Sans"/>
              </a:rPr>
              <a:t>結果を確認し、範囲外では理由を添えて止まる。</a:t>
            </a:r>
          </a:p>
        </p:txBody>
      </p:sp>
      <p:sp>
        <p:nvSpPr>
          <p:cNvPr id="5" name="text-26-4">
            <a:extLst xmlns:a="http://schemas.openxmlformats.org/drawingml/2006/main">
              <a:ext uri="{FF2B5EF4-FFF2-40B4-BE49-F238E27FC236}">
                <a16:creationId xmlns:a16="http://schemas.microsoft.com/office/drawing/2014/main" id="{DF9B1C91-D5B5-492B-AD63-052AB39CB6CA}"/>
              </a:ext>
            </a:extLst>
          </p:cNvPr>
          <p:cNvSpPr>
            <a:spLocks xmlns:a="http://schemas.openxmlformats.org/drawingml/2006/main" noGrp="1"/>
          </p:cNvSpPr>
          <p:nvPr/>
        </p:nvSpPr>
        <p:spPr>
          <a:xfrm xmlns:a="http://schemas.openxmlformats.org/drawingml/2006/main">
            <a:off x="609600" y="4324350"/>
            <a:ext cx="109347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C5D5DC"/>
                </a:solidFill>
                <a:latin typeface="Hiragino Sans"/>
                <a:ea typeface="Hiragino Sans"/>
                <a:cs typeface="Hiragino Sans"/>
              </a:defRPr>
            </a:pPr>
            <a:r>
              <a:rPr sz="2100" b="0">
                <a:solidFill>
                  <a:srgbClr val="C5D5DC"/>
                </a:solidFill>
                <a:latin typeface="Hiragino Sans"/>
                <a:ea typeface="Hiragino Sans"/>
                <a:cs typeface="Hiragino Sans"/>
              </a:rPr>
              <a:t>Day 1に確定する項目</a:t>
            </a:r>
          </a:p>
          <a:p xmlns:a="http://schemas.openxmlformats.org/drawingml/2006/main">
            <a:pPr>
              <a:defRPr sz="2100" b="0">
                <a:solidFill>
                  <a:srgbClr val="C5D5DC"/>
                </a:solidFill>
                <a:latin typeface="Hiragino Sans"/>
                <a:ea typeface="Hiragino Sans"/>
                <a:cs typeface="Hiragino Sans"/>
              </a:defRPr>
            </a:pPr>
            <a:r>
              <a:rPr sz="2100" b="0">
                <a:solidFill>
                  <a:srgbClr val="C5D5DC"/>
                </a:solidFill>
                <a:latin typeface="Hiragino Sans"/>
                <a:ea typeface="Hiragino Sans"/>
                <a:cs typeface="Hiragino Sans"/>
              </a:rPr>
              <a:t>担当と稼働時間、モデルと予算、返信期限、</a:t>
            </a:r>
          </a:p>
          <a:p xmlns:a="http://schemas.openxmlformats.org/drawingml/2006/main">
            <a:pPr>
              <a:defRPr sz="2100" b="0">
                <a:solidFill>
                  <a:srgbClr val="C5D5DC"/>
                </a:solidFill>
                <a:latin typeface="Hiragino Sans"/>
                <a:ea typeface="Hiragino Sans"/>
                <a:cs typeface="Hiragino Sans"/>
              </a:defRPr>
            </a:pPr>
            <a:r>
              <a:rPr sz="2100" b="0">
                <a:solidFill>
                  <a:srgbClr val="C5D5DC"/>
                </a:solidFill>
                <a:latin typeface="Hiragino Sans"/>
                <a:ea typeface="Hiragino Sans"/>
                <a:cs typeface="Hiragino Sans"/>
              </a:rPr>
              <a:t>実装とモックの境界、評価ケース、公式条件。</a:t>
            </a:r>
          </a:p>
        </p:txBody>
      </p:sp>
    </p:spTree>
    <p:extLst>
      <p:ext uri="{BB962C8B-B14F-4D97-AF65-F5344CB8AC3E}">
        <p14:creationId xmlns:p14="http://schemas.microsoft.com/office/powerpoint/2010/main" val="1271724490"/>
      </p:ext>
    </p:extLst>
  </p:cSld>
</p:sld>
</file>

<file path=ppt/slides/slide27.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5" name="text-27-0">
            <a:extLst xmlns:a="http://schemas.openxmlformats.org/drawingml/2006/main">
              <a:ext uri="{FF2B5EF4-FFF2-40B4-BE49-F238E27FC236}">
                <a16:creationId xmlns:a16="http://schemas.microsoft.com/office/drawing/2014/main" id="{7C8D2A10-AEF9-4B3F-861C-69DB75BA0674}"/>
              </a:ext>
            </a:extLst>
          </p:cNvPr>
          <p:cNvSpPr>
            <a:spLocks xmlns:a="http://schemas.openxmlformats.org/drawingml/2006/main" noGrp="1"/>
          </p:cNvSpPr>
          <p:nvPr/>
        </p:nvSpPr>
        <p:spPr>
          <a:xfrm xmlns:a="http://schemas.openxmlformats.org/drawingml/2006/main">
            <a:off x="609600" y="409575"/>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32B3A"/>
                </a:solidFill>
                <a:latin typeface="Hiragino Sans"/>
                <a:ea typeface="Hiragino Sans"/>
                <a:cs typeface="Hiragino Sans"/>
              </a:defRPr>
            </a:pPr>
            <a:r>
              <a:rPr sz="3300" b="1">
                <a:solidFill>
                  <a:srgbClr val="132B3A"/>
                </a:solidFill>
                <a:latin typeface="Hiragino Sans"/>
                <a:ea typeface="Hiragino Sans"/>
                <a:cs typeface="Hiragino Sans"/>
              </a:rPr>
              <a:t>参照資料と前提</a:t>
            </a:r>
          </a:p>
        </p:txBody>
      </p:sp>
      <p:sp>
        <p:nvSpPr>
          <p:cNvPr id="2" name="text-27-1">
            <a:extLst xmlns:a="http://schemas.openxmlformats.org/drawingml/2006/main">
              <a:ext uri="{FF2B5EF4-FFF2-40B4-BE49-F238E27FC236}">
                <a16:creationId xmlns:a16="http://schemas.microsoft.com/office/drawing/2014/main" id="{61AE7560-0A7C-4CAF-A3BC-B0955F056CC8}"/>
              </a:ext>
            </a:extLst>
          </p:cNvPr>
          <p:cNvSpPr>
            <a:spLocks xmlns:a="http://schemas.openxmlformats.org/drawingml/2006/main" noGrp="1"/>
          </p:cNvSpPr>
          <p:nvPr/>
        </p:nvSpPr>
        <p:spPr>
          <a:xfrm xmlns:a="http://schemas.openxmlformats.org/drawingml/2006/main">
            <a:off x="11077575" y="6391275"/>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D6B73"/>
                </a:solidFill>
                <a:latin typeface="Hiragino Sans"/>
                <a:ea typeface="Hiragino Sans"/>
                <a:cs typeface="Hiragino Sans"/>
              </a:defRPr>
            </a:pPr>
            <a:r>
              <a:rPr sz="1275" b="0">
                <a:solidFill>
                  <a:srgbClr val="5D6B73"/>
                </a:solidFill>
                <a:latin typeface="Hiragino Sans"/>
                <a:ea typeface="Hiragino Sans"/>
                <a:cs typeface="Hiragino Sans"/>
              </a:rPr>
              <a:t>27</a:t>
            </a:r>
          </a:p>
        </p:txBody>
      </p:sp>
      <p:sp>
        <p:nvSpPr>
          <p:cNvPr id="3" name="text-27-2">
            <a:extLst xmlns:a="http://schemas.openxmlformats.org/drawingml/2006/main">
              <a:ext uri="{FF2B5EF4-FFF2-40B4-BE49-F238E27FC236}">
                <a16:creationId xmlns:a16="http://schemas.microsoft.com/office/drawing/2014/main" id="{FF63C886-53D4-4240-B6F9-8B7CA58D208F}"/>
              </a:ext>
            </a:extLst>
          </p:cNvPr>
          <p:cNvSpPr>
            <a:spLocks xmlns:a="http://schemas.openxmlformats.org/drawingml/2006/main" noGrp="1"/>
          </p:cNvSpPr>
          <p:nvPr/>
        </p:nvSpPr>
        <p:spPr>
          <a:xfrm xmlns:a="http://schemas.openxmlformats.org/drawingml/2006/main">
            <a:off x="609600" y="6238875"/>
            <a:ext cx="10144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D6B73"/>
                </a:solidFill>
                <a:latin typeface="Hiragino Sans"/>
                <a:ea typeface="Hiragino Sans"/>
                <a:cs typeface="Hiragino Sans"/>
              </a:defRPr>
            </a:pPr>
            <a:r>
              <a:rPr sz="1275" b="0">
                <a:solidFill>
                  <a:srgbClr val="5D6B73"/>
                </a:solidFill>
                <a:latin typeface="Hiragino Sans"/>
                <a:ea typeface="Hiragino Sans"/>
                <a:cs typeface="Hiragino Sans"/>
              </a:rPr>
              <a:t>詳細、出典リンク、未確認事項、採用記録はMarkdown版と発表者ノートに収録。</a:t>
            </a:r>
          </a:p>
        </p:txBody>
      </p:sp>
      <p:graphicFrame>
        <p:nvGraphicFramePr>
          <p:cNvPr id="8" name=""/>
          <p:cNvGraphicFramePr/>
          <p:nvPr/>
        </p:nvGraphicFramePr>
        <p:xfrm>
          <a:off xmlns:a="http://schemas.openxmlformats.org/drawingml/2006/main" x="609600" y="1457325"/>
          <a:ext xmlns:a="http://schemas.openxmlformats.org/drawingml/2006/main" cx="10972800" cy="4381500"/>
        </p:xfrm>
        <a:graphic xmlns:a="http://schemas.openxmlformats.org/drawingml/2006/main">
          <a:graphicData uri="http://schemas.openxmlformats.org/drawingml/2006/table">
            <a:tbl>
              <a:tblPr/>
              <a:tblGrid>
                <a:gridCol w="4000500"/>
                <a:gridCol w="6972300"/>
              </a:tblGrid>
              <a:tr h="533400">
                <a:tc>
                  <a:txBody>
                    <a:bodyPr/>
                    <a:lstStyle/>
                    <a:p>
                      <a:r>
                        <a:rPr sz="1800" b="1">
                          <a:solidFill>
                            <a:srgbClr val="FFFFFF"/>
                          </a:solidFill>
                          <a:latin typeface="Hiragino Sans"/>
                          <a:ea typeface="Hiragino Sans"/>
                          <a:cs typeface="Hiragino Sans"/>
                        </a:rPr>
                        <a:t>情報源</a:t>
                      </a:r>
                    </a:p>
                  </a:txBody>
                  <a:tcPr marL="133350" marR="133350" marT="95250" marB="76200" anchor="t">
                    <a:solidFill>
                      <a:srgbClr val="132B3A"/>
                    </a:solidFill>
                  </a:tcPr>
                </a:tc>
                <a:tc>
                  <a:txBody>
                    <a:bodyPr/>
                    <a:lstStyle/>
                    <a:p>
                      <a:r>
                        <a:rPr sz="1800" b="1">
                          <a:solidFill>
                            <a:srgbClr val="FFFFFF"/>
                          </a:solidFill>
                          <a:latin typeface="Hiragino Sans"/>
                          <a:ea typeface="Hiragino Sans"/>
                          <a:cs typeface="Hiragino Sans"/>
                        </a:rPr>
                        <a:t>扱い</a:t>
                      </a:r>
                    </a:p>
                  </a:txBody>
                  <a:tcPr marL="133350" marR="133350" marT="95250" marB="76200" anchor="t">
                    <a:solidFill>
                      <a:srgbClr val="132B3A"/>
                    </a:solidFill>
                  </a:tcPr>
                </a:tc>
              </a:tr>
              <a:tr h="769620">
                <a:tc>
                  <a:txBody>
                    <a:bodyPr/>
                    <a:lstStyle/>
                    <a:p>
                      <a:r>
                        <a:rPr sz="1800">
                          <a:solidFill>
                            <a:srgbClr val="203640"/>
                          </a:solidFill>
                          <a:latin typeface="Hiragino Sans"/>
                          <a:ea typeface="Hiragino Sans"/>
                          <a:cs typeface="Hiragino Sans"/>
                        </a:rPr>
                        <a:t>元企画書と共有レビュー</a:t>
                      </a:r>
                    </a:p>
                  </a:txBody>
                  <a:tcPr marL="133350" marR="133350" marT="95250" marB="76200" anchor="t">
                    <a:solidFill>
                      <a:srgbClr val="FFFFFF"/>
                    </a:solidFill>
                  </a:tcPr>
                </a:tc>
                <a:tc>
                  <a:txBody>
                    <a:bodyPr/>
                    <a:lstStyle/>
                    <a:p>
                      <a:r>
                        <a:rPr sz="1800">
                          <a:solidFill>
                            <a:srgbClr val="203640"/>
                          </a:solidFill>
                          <a:latin typeface="Hiragino Sans"/>
                          <a:ea typeface="Hiragino Sans"/>
                          <a:cs typeface="Hiragino Sans"/>
                        </a:rPr>
                        <a:t>10案の原文、7つのレビュー指摘を確認</a:t>
                      </a:r>
                    </a:p>
                  </a:txBody>
                  <a:tcPr marL="133350" marR="133350" marT="95250" marB="76200" anchor="t">
                    <a:solidFill>
                      <a:srgbClr val="FFFFFF"/>
                    </a:solidFill>
                  </a:tcPr>
                </a:tc>
              </a:tr>
              <a:tr h="769620">
                <a:tc>
                  <a:txBody>
                    <a:bodyPr/>
                    <a:lstStyle/>
                    <a:p>
                      <a:r>
                        <a:rPr sz="1800">
                          <a:solidFill>
                            <a:srgbClr val="203640"/>
                          </a:solidFill>
                          <a:latin typeface="Hiragino Sans"/>
                          <a:ea typeface="Hiragino Sans"/>
                          <a:cs typeface="Hiragino Sans"/>
                        </a:rPr>
                        <a:t>ユーザーが確認した条件</a:t>
                      </a:r>
                    </a:p>
                  </a:txBody>
                  <a:tcPr marL="133350" marR="133350" marT="95250" marB="76200" anchor="t">
                    <a:solidFill>
                      <a:srgbClr val="EDF2EF"/>
                    </a:solidFill>
                  </a:tcPr>
                </a:tc>
                <a:tc>
                  <a:txBody>
                    <a:bodyPr/>
                    <a:lstStyle/>
                    <a:p>
                      <a:r>
                        <a:rPr sz="1800">
                          <a:solidFill>
                            <a:srgbClr val="203640"/>
                          </a:solidFill>
                          <a:latin typeface="Hiragino Sans"/>
                          <a:ea typeface="Hiragino Sans"/>
                          <a:cs typeface="Hiragino Sans"/>
                        </a:rPr>
                        <a:t>4日間、詳しい人・協力先なし。人数は未確認</a:t>
                      </a:r>
                    </a:p>
                  </a:txBody>
                  <a:tcPr marL="133350" marR="133350" marT="95250" marB="76200" anchor="t">
                    <a:solidFill>
                      <a:srgbClr val="EDF2EF"/>
                    </a:solidFill>
                  </a:tcPr>
                </a:tc>
              </a:tr>
              <a:tr h="769620">
                <a:tc>
                  <a:txBody>
                    <a:bodyPr/>
                    <a:lstStyle/>
                    <a:p>
                      <a:r>
                        <a:rPr sz="1800">
                          <a:solidFill>
                            <a:srgbClr val="203640"/>
                          </a:solidFill>
                          <a:latin typeface="Hiragino Sans"/>
                          <a:ea typeface="Hiragino Sans"/>
                          <a:cs typeface="Hiragino Sans"/>
                        </a:rPr>
                        <a:t>OrcaRouter公式資料</a:t>
                      </a:r>
                    </a:p>
                  </a:txBody>
                  <a:tcPr marL="133350" marR="133350" marT="95250" marB="76200" anchor="t">
                    <a:solidFill>
                      <a:srgbClr val="FFFFFF"/>
                    </a:solidFill>
                  </a:tcPr>
                </a:tc>
                <a:tc>
                  <a:txBody>
                    <a:bodyPr/>
                    <a:lstStyle/>
                    <a:p>
                      <a:r>
                        <a:rPr sz="1800">
                          <a:solidFill>
                            <a:srgbClr val="203640"/>
                          </a:solidFill>
                          <a:latin typeface="Hiragino Sans"/>
                          <a:ea typeface="Hiragino Sans"/>
                          <a:cs typeface="Hiragino Sans"/>
                        </a:rPr>
                        <a:t>Routing DSL、Request Logs、Trust Center</a:t>
                      </a:r>
                    </a:p>
                  </a:txBody>
                  <a:tcPr marL="133350" marR="133350" marT="95250" marB="76200" anchor="t">
                    <a:solidFill>
                      <a:srgbClr val="FFFFFF"/>
                    </a:solidFill>
                  </a:tcPr>
                </a:tc>
              </a:tr>
              <a:tr h="769620">
                <a:tc>
                  <a:txBody>
                    <a:bodyPr/>
                    <a:lstStyle/>
                    <a:p>
                      <a:r>
                        <a:rPr sz="1800">
                          <a:solidFill>
                            <a:srgbClr val="203640"/>
                          </a:solidFill>
                          <a:latin typeface="Hiragino Sans"/>
                          <a:ea typeface="Hiragino Sans"/>
                          <a:cs typeface="Hiragino Sans"/>
                        </a:rPr>
                        <a:t>公開仕様と実測の区別</a:t>
                      </a:r>
                    </a:p>
                  </a:txBody>
                  <a:tcPr marL="133350" marR="133350" marT="95250" marB="76200" anchor="t">
                    <a:solidFill>
                      <a:srgbClr val="EDF2EF"/>
                    </a:solidFill>
                  </a:tcPr>
                </a:tc>
                <a:tc>
                  <a:txBody>
                    <a:bodyPr/>
                    <a:lstStyle/>
                    <a:p>
                      <a:r>
                        <a:rPr sz="1800">
                          <a:solidFill>
                            <a:srgbClr val="203640"/>
                          </a:solidFill>
                          <a:latin typeface="Hiragino Sans"/>
                          <a:ea typeface="Hiragino Sans"/>
                          <a:cs typeface="Hiragino Sans"/>
                        </a:rPr>
                        <a:t>機能の利用可否・品質・費用はDay 1以降に検証</a:t>
                      </a:r>
                    </a:p>
                  </a:txBody>
                  <a:tcPr marL="133350" marR="133350" marT="95250" marB="76200" anchor="t">
                    <a:solidFill>
                      <a:srgbClr val="EDF2EF"/>
                    </a:solidFill>
                  </a:tcPr>
                </a:tc>
              </a:tr>
              <a:tr h="769620">
                <a:tc>
                  <a:txBody>
                    <a:bodyPr/>
                    <a:lstStyle/>
                    <a:p>
                      <a:r>
                        <a:rPr sz="1800">
                          <a:solidFill>
                            <a:srgbClr val="203640"/>
                          </a:solidFill>
                          <a:latin typeface="Hiragino Sans"/>
                          <a:ea typeface="Hiragino Sans"/>
                          <a:cs typeface="Hiragino Sans"/>
                        </a:rPr>
                        <a:t>この資料の状態</a:t>
                      </a:r>
                    </a:p>
                  </a:txBody>
                  <a:tcPr marL="133350" marR="133350" marT="95250" marB="76200" anchor="t">
                    <a:solidFill>
                      <a:srgbClr val="FFFFFF"/>
                    </a:solidFill>
                  </a:tcPr>
                </a:tc>
                <a:tc>
                  <a:txBody>
                    <a:bodyPr/>
                    <a:lstStyle/>
                    <a:p>
                      <a:r>
                        <a:rPr sz="1800">
                          <a:solidFill>
                            <a:srgbClr val="203640"/>
                          </a:solidFill>
                          <a:latin typeface="Hiragino Sans"/>
                          <a:ea typeface="Hiragino Sans"/>
                          <a:cs typeface="Hiragino Sans"/>
                        </a:rPr>
                        <a:t>チームへの採用提案。実装成果や合意済みの決定ではない</a:t>
                      </a:r>
                    </a:p>
                  </a:txBody>
                  <a:tcPr marL="133350" marR="133350" marT="95250" marB="76200" anchor="t">
                    <a:solidFill>
                      <a:srgbClr val="FFFFFF"/>
                    </a:solidFill>
                  </a:tcPr>
                </a:tc>
              </a:tr>
            </a:tbl>
          </a:graphicData>
        </a:graphic>
      </p:graphicFrame>
    </p:spTree>
    <p:extLst>
      <p:ext uri="{BB962C8B-B14F-4D97-AF65-F5344CB8AC3E}">
        <p14:creationId xmlns:p14="http://schemas.microsoft.com/office/powerpoint/2010/main" val="42217550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2026-09-19T02:42:43.1170000Z</dcterms:created>
  <dcterms:modified xsi:type="dcterms:W3CDTF">2026-09-19T02:42:43.1170000Z</dcterms:modified>
</coreProperties>
</file>